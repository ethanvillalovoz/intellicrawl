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ed1394eea34727" /><Relationship Type="http://schemas.openxmlformats.org/officeDocument/2006/relationships/extended-properties" Target="/docProps/app.xml" Id="Rc92501e5eb254711" /><Relationship Type="http://schemas.openxmlformats.org/officeDocument/2006/relationships/officeDocument" Target="/ppt/presentation.xml" Id="Re564f5df23614e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3a4982e0f34bbf"/>
  </p:sldMasterIdLst>
  <p:notesMasterIdLst>
    <p:notesMasterId xmlns:r="http://schemas.openxmlformats.org/officeDocument/2006/relationships" r:id="Rff330f416e334299"/>
  </p:notesMasterIdLst>
  <p:sldIdLst>
    <p:sldId xmlns:r="http://schemas.openxmlformats.org/officeDocument/2006/relationships" id="256" r:id="R2fe461269063496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aef36940634de0" /><Relationship Type="http://schemas.openxmlformats.org/officeDocument/2006/relationships/slideMaster" Target="/ppt/slideMasters/slideMaster1.xml" Id="Rdd3a4982e0f34bbf" /><Relationship Type="http://schemas.openxmlformats.org/officeDocument/2006/relationships/notesMaster" Target="/ppt/notesMasters/notesMaster1.xml" Id="Rff330f416e334299" /><Relationship Type="http://schemas.openxmlformats.org/officeDocument/2006/relationships/presProps" Target="/ppt/presProps.xml" Id="R72b6237c32764599" /><Relationship Type="http://schemas.openxmlformats.org/officeDocument/2006/relationships/tableStyles" Target="/ppt/tableStyles.xml" Id="R32760eb43f974734" /><Relationship Type="http://schemas.openxmlformats.org/officeDocument/2006/relationships/slide" Target="/ppt/slides/slide1.xml" Id="R2fe46126906349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5adecc6f3f45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c29e4d72c747dc" /><Relationship Type="http://schemas.openxmlformats.org/officeDocument/2006/relationships/notesMaster" Target="/ppt/notesMasters/notesMaster1.xml" Id="R9f08b593b04342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2a9b17ebd64c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f477e902424ab3" /><Relationship Type="http://schemas.openxmlformats.org/officeDocument/2006/relationships/slideLayout" Target="/ppt/slideLayouts/slideLayout1.xml" Id="Rc7db94288f7b41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db94288f7b41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f173d4a844ded" /><Relationship Type="http://schemas.openxmlformats.org/officeDocument/2006/relationships/image" Target="/ppt/media/image.bin" Id="Re0342e174fc745b7" /><Relationship Type="http://schemas.openxmlformats.org/officeDocument/2006/relationships/notesSlide" Target="/ppt/notesSlides/notesSlide1.xml" Id="Rd3cf7b6dfcfe43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title">
            <a:extLst xmlns:a="http://schemas.openxmlformats.org/drawingml/2006/main">
              <a:ext uri="{FF2B5EF4-FFF2-40B4-BE49-F238E27FC236}">
                <a16:creationId xmlns:a16="http://schemas.microsoft.com/office/drawing/2014/main" id="{09FC3202-7DCF-43FE-A317-4D854873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8600"/>
            <a:ext cx="1133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1918"/>
                </a:solidFill>
              </a:defRPr>
            </a:pPr>
            <a:r>
              <a:rPr sz="2625" b="1">
                <a:solidFill>
                  <a:srgbClr val="171918"/>
                </a:solidFill>
              </a:rPr>
              <a:t>IntelliCrawl ties every comparison claim to a validated source ID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63A1782-B3B5-48AE-8BF9-9D1F71D2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5800"/>
            <a:ext cx="1123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A67"/>
                </a:solidFill>
              </a:defRPr>
            </a:pPr>
            <a:r>
              <a:rPr sz="1275" b="0">
                <a:solidFill>
                  <a:srgbClr val="656A67"/>
                </a:solidFill>
              </a:rPr>
              <a:t>The complete dated fixture passes through the same graph, evidence checks, and export models used by live research.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081D6BE1-3895-4FA6-8558-692A39CB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57275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71918"/>
            </a:solidFill>
            <a:prstDash val="solid"/>
          </a:ln>
        </p:spPr>
      </p:sp>
      <p:sp>
        <p:nvSpPr>
          <p:cNvPr id="4" name="demo-label">
            <a:extLst xmlns:a="http://schemas.openxmlformats.org/drawingml/2006/main">
              <a:ext uri="{FF2B5EF4-FFF2-40B4-BE49-F238E27FC236}">
                <a16:creationId xmlns:a16="http://schemas.microsoft.com/office/drawing/2014/main" id="{7308E943-12A2-442B-B1FF-280EC87C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382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3150"/>
                </a:solidFill>
              </a:defRPr>
            </a:pPr>
            <a:r>
              <a:rPr sz="1050" b="1">
                <a:solidFill>
                  <a:srgbClr val="9A3150"/>
                </a:solidFill>
              </a:rPr>
              <a:t>DATED DEMO REPORT</a:t>
            </a:r>
          </a:p>
        </p:txBody>
      </p:sp>
      <p:sp>
        <p:nvSpPr>
          <p:cNvPr id="5" name="terminal-frame">
            <a:extLst xmlns:a="http://schemas.openxmlformats.org/drawingml/2006/main">
              <a:ext uri="{FF2B5EF4-FFF2-40B4-BE49-F238E27FC236}">
                <a16:creationId xmlns:a16="http://schemas.microsoft.com/office/drawing/2014/main" id="{AA7C830B-CAF7-4AC5-A351-EF282FDA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04950"/>
            <a:ext cx="4933950" cy="3181350"/>
          </a:xfrm>
          <a:prstGeom xmlns:a="http://schemas.openxmlformats.org/drawingml/2006/main" prst="roundRect">
            <a:avLst>
              <a:gd name="adj" fmla="val 14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1918"/>
            </a:solidFill>
            <a:prstDash val="solid"/>
          </a:ln>
        </p:spPr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342e174fc745b7"/>
          <a:srcRect xmlns:a="http://schemas.openxmlformats.org/drawingml/2006/main" l="0" t="3995" r="0" b="39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7675" y="1533525"/>
            <a:ext cx="4876800" cy="3124200"/>
          </a:xfrm>
          <a:prstGeom xmlns:a="http://schemas.openxmlformats.org/drawingml/2006/main" prst="rect">
            <a:avLst/>
          </a:prstGeom>
        </p:spPr>
      </p:pic>
      <p:sp>
        <p:nvSpPr>
          <p:cNvPr id="7" name="demo-caption">
            <a:extLst xmlns:a="http://schemas.openxmlformats.org/drawingml/2006/main">
              <a:ext uri="{FF2B5EF4-FFF2-40B4-BE49-F238E27FC236}">
                <a16:creationId xmlns:a16="http://schemas.microsoft.com/office/drawing/2014/main" id="{4ADD6396-69D2-4D62-843E-1D1884A5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62500"/>
            <a:ext cx="4933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6A67"/>
                </a:solidFill>
              </a:defRPr>
            </a:pPr>
            <a:r>
              <a:rPr sz="1050" b="0">
                <a:solidFill>
                  <a:srgbClr val="656A67"/>
                </a:solidFill>
              </a:rPr>
              <a:t>2026-07-11 · deterministic fixture · 3 tools · 6 citations · 0 warnings</a:t>
            </a:r>
          </a:p>
        </p:txBody>
      </p:sp>
      <p:sp>
        <p:nvSpPr>
          <p:cNvPr id="8" name="trace-label">
            <a:extLst xmlns:a="http://schemas.openxmlformats.org/drawingml/2006/main">
              <a:ext uri="{FF2B5EF4-FFF2-40B4-BE49-F238E27FC236}">
                <a16:creationId xmlns:a16="http://schemas.microsoft.com/office/drawing/2014/main" id="{53816357-AD25-4E68-A7FB-DDFDB739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23825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3150"/>
                </a:solidFill>
              </a:defRPr>
            </a:pPr>
            <a:r>
              <a:rPr sz="1050" b="1">
                <a:solidFill>
                  <a:srgbClr val="9A3150"/>
                </a:solidFill>
              </a:rPr>
              <a:t>FIELD-LEVEL EVIDENCE TRACE</a:t>
            </a:r>
          </a:p>
        </p:txBody>
      </p:sp>
      <p:sp>
        <p:nvSpPr>
          <p:cNvPr id="9" name="query">
            <a:extLst xmlns:a="http://schemas.openxmlformats.org/drawingml/2006/main">
              <a:ext uri="{FF2B5EF4-FFF2-40B4-BE49-F238E27FC236}">
                <a16:creationId xmlns:a16="http://schemas.microsoft.com/office/drawing/2014/main" id="{15F552EC-93EC-4A85-8B66-E8F34456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504950"/>
            <a:ext cx="33147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4EDF3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</p:sp>
      <p:sp>
        <p:nvSpPr>
          <p:cNvPr id="10" name="query-eyebrow">
            <a:extLst xmlns:a="http://schemas.openxmlformats.org/drawingml/2006/main">
              <a:ext uri="{FF2B5EF4-FFF2-40B4-BE49-F238E27FC236}">
                <a16:creationId xmlns:a16="http://schemas.microsoft.com/office/drawing/2014/main" id="{AB52656C-C30B-4AD7-B336-54C705A8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81150"/>
            <a:ext cx="1333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E6F9E"/>
                </a:solidFill>
              </a:defRPr>
            </a:pPr>
            <a:r>
              <a:rPr sz="750" b="1">
                <a:solidFill>
                  <a:srgbClr val="2E6F9E"/>
                </a:solidFill>
              </a:rPr>
              <a:t>RESEARCH QUESTION</a:t>
            </a:r>
          </a:p>
        </p:txBody>
      </p:sp>
      <p:sp>
        <p:nvSpPr>
          <p:cNvPr id="11" name="query-text">
            <a:extLst xmlns:a="http://schemas.openxmlformats.org/drawingml/2006/main">
              <a:ext uri="{FF2B5EF4-FFF2-40B4-BE49-F238E27FC236}">
                <a16:creationId xmlns:a16="http://schemas.microsoft.com/office/drawing/2014/main" id="{067E3235-FBD7-4E7E-8445-9DEE1452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33550"/>
            <a:ext cx="3048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918"/>
                </a:solidFill>
              </a:defRPr>
            </a:pPr>
            <a:r>
              <a:rPr sz="1125" b="1">
                <a:solidFill>
                  <a:srgbClr val="171918"/>
                </a:solidFill>
              </a:rPr>
              <a:t>vector databases for production RAG</a:t>
            </a:r>
          </a:p>
        </p:txBody>
      </p:sp>
      <p:sp>
        <p:nvSpPr>
          <p:cNvPr id="12" name="query-arrow">
            <a:extLst xmlns:a="http://schemas.openxmlformats.org/drawingml/2006/main">
              <a:ext uri="{FF2B5EF4-FFF2-40B4-BE49-F238E27FC236}">
                <a16:creationId xmlns:a16="http://schemas.microsoft.com/office/drawing/2014/main" id="{FD1964EA-D85E-41F6-A001-1CE99645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76400"/>
            <a:ext cx="4572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A5E"/>
          </a:solidFill>
          <a:ln xmlns:a="http://schemas.openxmlformats.org/drawingml/2006/main" w="0">
            <a:solidFill>
              <a:srgbClr val="173A5E"/>
            </a:solidFill>
            <a:prstDash val="solid"/>
          </a:ln>
        </p:spPr>
      </p:sp>
      <p:sp>
        <p:nvSpPr>
          <p:cNvPr id="13" name="source-pool">
            <a:extLst xmlns:a="http://schemas.openxmlformats.org/drawingml/2006/main">
              <a:ext uri="{FF2B5EF4-FFF2-40B4-BE49-F238E27FC236}">
                <a16:creationId xmlns:a16="http://schemas.microsoft.com/office/drawing/2014/main" id="{817AC1E9-9207-47A4-B0CE-3CECE40B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504950"/>
            <a:ext cx="1981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3A5E"/>
            </a:solidFill>
            <a:prstDash val="solid"/>
          </a:ln>
        </p:spPr>
      </p:sp>
      <p:sp>
        <p:nvSpPr>
          <p:cNvPr id="14" name="source-count">
            <a:extLst xmlns:a="http://schemas.openxmlformats.org/drawingml/2006/main">
              <a:ext uri="{FF2B5EF4-FFF2-40B4-BE49-F238E27FC236}">
                <a16:creationId xmlns:a16="http://schemas.microsoft.com/office/drawing/2014/main" id="{6082D731-9E4E-49AB-A10D-82F17EFA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57162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A5E"/>
                </a:solidFill>
              </a:defRPr>
            </a:pPr>
            <a:r>
              <a:rPr sz="1200" b="1">
                <a:solidFill>
                  <a:srgbClr val="173A5E"/>
                </a:solidFill>
              </a:rPr>
              <a:t>6 public citations</a:t>
            </a:r>
          </a:p>
        </p:txBody>
      </p:sp>
      <p:sp>
        <p:nvSpPr>
          <p:cNvPr id="15" name="source-note">
            <a:extLst xmlns:a="http://schemas.openxmlformats.org/drawingml/2006/main">
              <a:ext uri="{FF2B5EF4-FFF2-40B4-BE49-F238E27FC236}">
                <a16:creationId xmlns:a16="http://schemas.microsoft.com/office/drawing/2014/main" id="{ABF3472B-8F8D-4E9E-99DB-3C4BDB94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75260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6A67"/>
                </a:solidFill>
              </a:defRPr>
            </a:pPr>
            <a:r>
              <a:rPr sz="825" b="0">
                <a:solidFill>
                  <a:srgbClr val="656A67"/>
                </a:solidFill>
              </a:rPr>
              <a:t>2 retained per profile</a:t>
            </a:r>
          </a:p>
        </p:txBody>
      </p:sp>
      <p:sp>
        <p:nvSpPr>
          <p:cNvPr id="16" name="profile-0">
            <a:extLst xmlns:a="http://schemas.openxmlformats.org/drawingml/2006/main">
              <a:ext uri="{FF2B5EF4-FFF2-40B4-BE49-F238E27FC236}">
                <a16:creationId xmlns:a16="http://schemas.microsoft.com/office/drawing/2014/main" id="{744695E1-3ED2-447C-BE8F-A8E2540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152650"/>
            <a:ext cx="59817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6F0EA"/>
          </a:solidFill>
          <a:ln xmlns:a="http://schemas.openxmlformats.org/drawingml/2006/main" w="9525">
            <a:solidFill>
              <a:srgbClr val="2F7752"/>
            </a:solidFill>
            <a:prstDash val="solid"/>
          </a:ln>
        </p:spPr>
      </p:sp>
      <p:sp>
        <p:nvSpPr>
          <p:cNvPr id="17" name="profile-0-name">
            <a:extLst xmlns:a="http://schemas.openxmlformats.org/drawingml/2006/main">
              <a:ext uri="{FF2B5EF4-FFF2-40B4-BE49-F238E27FC236}">
                <a16:creationId xmlns:a16="http://schemas.microsoft.com/office/drawing/2014/main" id="{5C822C4A-62F5-4B97-8640-31004947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4790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7752"/>
                </a:solidFill>
              </a:defRPr>
            </a:pPr>
            <a:r>
              <a:rPr sz="1275" b="1">
                <a:solidFill>
                  <a:srgbClr val="2F7752"/>
                </a:solidFill>
              </a:rPr>
              <a:t>Weaviate</a:t>
            </a:r>
          </a:p>
        </p:txBody>
      </p:sp>
      <p:sp>
        <p:nvSpPr>
          <p:cNvPr id="18" name="profile-0-status">
            <a:extLst xmlns:a="http://schemas.openxmlformats.org/drawingml/2006/main">
              <a:ext uri="{FF2B5EF4-FFF2-40B4-BE49-F238E27FC236}">
                <a16:creationId xmlns:a16="http://schemas.microsoft.com/office/drawing/2014/main" id="{01E3261C-2D4F-4EA1-8034-98EA47ED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76500"/>
            <a:ext cx="781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6A67"/>
                </a:solidFill>
              </a:defRPr>
            </a:pPr>
            <a:r>
              <a:rPr sz="825" b="0">
                <a:solidFill>
                  <a:srgbClr val="656A67"/>
                </a:solidFill>
              </a:rPr>
              <a:t>complete</a:t>
            </a:r>
          </a:p>
        </p:txBody>
      </p:sp>
      <p:sp>
        <p:nvSpPr>
          <p:cNvPr id="19" name="profile-0-fields">
            <a:extLst xmlns:a="http://schemas.openxmlformats.org/drawingml/2006/main">
              <a:ext uri="{FF2B5EF4-FFF2-40B4-BE49-F238E27FC236}">
                <a16:creationId xmlns:a16="http://schemas.microsoft.com/office/drawing/2014/main" id="{6067D904-E769-4CC9-B87C-CF3FDE2E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66950"/>
            <a:ext cx="3695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1918"/>
                </a:solidFill>
              </a:defRPr>
            </a:pPr>
            <a:r>
              <a:rPr sz="900" b="1">
                <a:solidFill>
                  <a:srgbClr val="171918"/>
                </a:solidFill>
              </a:rPr>
              <a:t>description · pricing · openness · API · SDKs · integrations</a:t>
            </a:r>
          </a:p>
        </p:txBody>
      </p:sp>
      <p:sp>
        <p:nvSpPr>
          <p:cNvPr id="20" name="profile-0-sources">
            <a:extLst xmlns:a="http://schemas.openxmlformats.org/drawingml/2006/main">
              <a:ext uri="{FF2B5EF4-FFF2-40B4-BE49-F238E27FC236}">
                <a16:creationId xmlns:a16="http://schemas.microsoft.com/office/drawing/2014/main" id="{68D04DA0-3193-46FE-8B0A-8FD17D5F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2257425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7752"/>
                </a:solidFill>
              </a:defRPr>
            </a:pPr>
            <a:r>
              <a:rPr sz="1050" b="1">
                <a:solidFill>
                  <a:srgbClr val="2F7752"/>
                </a:solidFill>
              </a:rPr>
              <a:t>S1  S2</a:t>
            </a:r>
          </a:p>
        </p:txBody>
      </p:sp>
      <p:sp>
        <p:nvSpPr>
          <p:cNvPr id="21" name="profile-0-evidence">
            <a:extLst xmlns:a="http://schemas.openxmlformats.org/drawingml/2006/main">
              <a:ext uri="{FF2B5EF4-FFF2-40B4-BE49-F238E27FC236}">
                <a16:creationId xmlns:a16="http://schemas.microsoft.com/office/drawing/2014/main" id="{5CB51512-BBCA-4921-8605-023A7365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86025"/>
            <a:ext cx="114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6A67"/>
                </a:solidFill>
              </a:defRPr>
            </a:pPr>
            <a:r>
              <a:rPr sz="825" b="0">
                <a:solidFill>
                  <a:srgbClr val="656A67"/>
                </a:solidFill>
              </a:rPr>
              <a:t>6/6 fields</a:t>
            </a:r>
          </a:p>
        </p:txBody>
      </p:sp>
      <p:sp>
        <p:nvSpPr>
          <p:cNvPr id="22" name="profile-0-validated">
            <a:extLst xmlns:a="http://schemas.openxmlformats.org/drawingml/2006/main">
              <a:ext uri="{FF2B5EF4-FFF2-40B4-BE49-F238E27FC236}">
                <a16:creationId xmlns:a16="http://schemas.microsoft.com/office/drawing/2014/main" id="{C217EC8B-F482-40D7-B1A3-E9D6EAE3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86025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6A67"/>
                </a:solidFill>
              </a:defRPr>
            </a:pPr>
            <a:r>
              <a:rPr sz="825" b="0">
                <a:solidFill>
                  <a:srgbClr val="656A67"/>
                </a:solidFill>
              </a:rPr>
              <a:t>IDs validated against source list</a:t>
            </a:r>
          </a:p>
        </p:txBody>
      </p:sp>
      <p:sp>
        <p:nvSpPr>
          <p:cNvPr id="23" name="profile-1">
            <a:extLst xmlns:a="http://schemas.openxmlformats.org/drawingml/2006/main">
              <a:ext uri="{FF2B5EF4-FFF2-40B4-BE49-F238E27FC236}">
                <a16:creationId xmlns:a16="http://schemas.microsoft.com/office/drawing/2014/main" id="{15C4A3AA-AC1A-4F1D-8436-119720E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857500"/>
            <a:ext cx="59817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4EDF3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</p:sp>
      <p:sp>
        <p:nvSpPr>
          <p:cNvPr id="24" name="profile-1-name">
            <a:extLst xmlns:a="http://schemas.openxmlformats.org/drawingml/2006/main">
              <a:ext uri="{FF2B5EF4-FFF2-40B4-BE49-F238E27FC236}">
                <a16:creationId xmlns:a16="http://schemas.microsoft.com/office/drawing/2014/main" id="{1695D109-A098-4328-B594-F3826284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527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E6F9E"/>
                </a:solidFill>
              </a:defRPr>
            </a:pPr>
            <a:r>
              <a:rPr sz="1275" b="1">
                <a:solidFill>
                  <a:srgbClr val="2E6F9E"/>
                </a:solidFill>
              </a:rPr>
              <a:t>Pinecone</a:t>
            </a:r>
          </a:p>
        </p:txBody>
      </p:sp>
      <p:sp>
        <p:nvSpPr>
          <p:cNvPr id="25" name="profile-1-status">
            <a:extLst xmlns:a="http://schemas.openxmlformats.org/drawingml/2006/main">
              <a:ext uri="{FF2B5EF4-FFF2-40B4-BE49-F238E27FC236}">
                <a16:creationId xmlns:a16="http://schemas.microsoft.com/office/drawing/2014/main" id="{23472B77-C132-49B3-919A-7869422A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81350"/>
            <a:ext cx="781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6A67"/>
                </a:solidFill>
              </a:defRPr>
            </a:pPr>
            <a:r>
              <a:rPr sz="825" b="0">
                <a:solidFill>
                  <a:srgbClr val="656A67"/>
                </a:solidFill>
              </a:rPr>
              <a:t>complete</a:t>
            </a:r>
          </a:p>
        </p:txBody>
      </p:sp>
      <p:sp>
        <p:nvSpPr>
          <p:cNvPr id="26" name="profile-1-fields">
            <a:extLst xmlns:a="http://schemas.openxmlformats.org/drawingml/2006/main">
              <a:ext uri="{FF2B5EF4-FFF2-40B4-BE49-F238E27FC236}">
                <a16:creationId xmlns:a16="http://schemas.microsoft.com/office/drawing/2014/main" id="{35020659-6BFD-4FE2-8BF5-8CAE67E9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71800"/>
            <a:ext cx="3695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1918"/>
                </a:solidFill>
              </a:defRPr>
            </a:pPr>
            <a:r>
              <a:rPr sz="900" b="1">
                <a:solidFill>
                  <a:srgbClr val="171918"/>
                </a:solidFill>
              </a:rPr>
              <a:t>description · pricing · openness · API · SDKs · integrations</a:t>
            </a:r>
          </a:p>
        </p:txBody>
      </p:sp>
      <p:sp>
        <p:nvSpPr>
          <p:cNvPr id="27" name="profile-1-sources">
            <a:extLst xmlns:a="http://schemas.openxmlformats.org/drawingml/2006/main">
              <a:ext uri="{FF2B5EF4-FFF2-40B4-BE49-F238E27FC236}">
                <a16:creationId xmlns:a16="http://schemas.microsoft.com/office/drawing/2014/main" id="{CF28AAE2-C657-44AB-964F-811D28B5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2962275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6F9E"/>
                </a:solidFill>
              </a:defRPr>
            </a:pPr>
            <a:r>
              <a:rPr sz="1050" b="1">
                <a:solidFill>
                  <a:srgbClr val="2E6F9E"/>
                </a:solidFill>
              </a:rPr>
              <a:t>S1  S2</a:t>
            </a:r>
          </a:p>
        </p:txBody>
      </p:sp>
      <p:sp>
        <p:nvSpPr>
          <p:cNvPr id="28" name="profile-1-evidence">
            <a:extLst xmlns:a="http://schemas.openxmlformats.org/drawingml/2006/main">
              <a:ext uri="{FF2B5EF4-FFF2-40B4-BE49-F238E27FC236}">
                <a16:creationId xmlns:a16="http://schemas.microsoft.com/office/drawing/2014/main" id="{28AE525D-4347-4846-987A-C8E84A96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90875"/>
            <a:ext cx="114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6A67"/>
                </a:solidFill>
              </a:defRPr>
            </a:pPr>
            <a:r>
              <a:rPr sz="825" b="0">
                <a:solidFill>
                  <a:srgbClr val="656A67"/>
                </a:solidFill>
              </a:rPr>
              <a:t>6/6 fields</a:t>
            </a:r>
          </a:p>
        </p:txBody>
      </p:sp>
      <p:sp>
        <p:nvSpPr>
          <p:cNvPr id="29" name="profile-1-validated">
            <a:extLst xmlns:a="http://schemas.openxmlformats.org/drawingml/2006/main">
              <a:ext uri="{FF2B5EF4-FFF2-40B4-BE49-F238E27FC236}">
                <a16:creationId xmlns:a16="http://schemas.microsoft.com/office/drawing/2014/main" id="{7433FEA3-CDB2-43EA-A106-AFD535B6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90875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6A67"/>
                </a:solidFill>
              </a:defRPr>
            </a:pPr>
            <a:r>
              <a:rPr sz="825" b="0">
                <a:solidFill>
                  <a:srgbClr val="656A67"/>
                </a:solidFill>
              </a:rPr>
              <a:t>IDs validated against source list</a:t>
            </a:r>
          </a:p>
        </p:txBody>
      </p:sp>
      <p:sp>
        <p:nvSpPr>
          <p:cNvPr id="30" name="profile-2">
            <a:extLst xmlns:a="http://schemas.openxmlformats.org/drawingml/2006/main">
              <a:ext uri="{FF2B5EF4-FFF2-40B4-BE49-F238E27FC236}">
                <a16:creationId xmlns:a16="http://schemas.microsoft.com/office/drawing/2014/main" id="{C35086DC-7494-46B3-81A3-FBEB0F51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62350"/>
            <a:ext cx="59817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E9F1"/>
          </a:solidFill>
          <a:ln xmlns:a="http://schemas.openxmlformats.org/drawingml/2006/main" w="9525">
            <a:solidFill>
              <a:srgbClr val="72527E"/>
            </a:solidFill>
            <a:prstDash val="solid"/>
          </a:ln>
        </p:spPr>
      </p:sp>
      <p:sp>
        <p:nvSpPr>
          <p:cNvPr id="31" name="profile-2-name">
            <a:extLst xmlns:a="http://schemas.openxmlformats.org/drawingml/2006/main">
              <a:ext uri="{FF2B5EF4-FFF2-40B4-BE49-F238E27FC236}">
                <a16:creationId xmlns:a16="http://schemas.microsoft.com/office/drawing/2014/main" id="{3A048DBF-A1B8-4333-A8F7-2B6AEC5E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65760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2527E"/>
                </a:solidFill>
              </a:defRPr>
            </a:pPr>
            <a:r>
              <a:rPr sz="1275" b="1">
                <a:solidFill>
                  <a:srgbClr val="72527E"/>
                </a:solidFill>
              </a:rPr>
              <a:t>Qdrant</a:t>
            </a:r>
          </a:p>
        </p:txBody>
      </p:sp>
      <p:sp>
        <p:nvSpPr>
          <p:cNvPr id="32" name="profile-2-status">
            <a:extLst xmlns:a="http://schemas.openxmlformats.org/drawingml/2006/main">
              <a:ext uri="{FF2B5EF4-FFF2-40B4-BE49-F238E27FC236}">
                <a16:creationId xmlns:a16="http://schemas.microsoft.com/office/drawing/2014/main" id="{7FE9BDA9-085C-4246-A4D7-CB726CFC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886200"/>
            <a:ext cx="781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6A67"/>
                </a:solidFill>
              </a:defRPr>
            </a:pPr>
            <a:r>
              <a:rPr sz="825" b="0">
                <a:solidFill>
                  <a:srgbClr val="656A67"/>
                </a:solidFill>
              </a:rPr>
              <a:t>complete</a:t>
            </a:r>
          </a:p>
        </p:txBody>
      </p:sp>
      <p:sp>
        <p:nvSpPr>
          <p:cNvPr id="33" name="profile-2-fields">
            <a:extLst xmlns:a="http://schemas.openxmlformats.org/drawingml/2006/main">
              <a:ext uri="{FF2B5EF4-FFF2-40B4-BE49-F238E27FC236}">
                <a16:creationId xmlns:a16="http://schemas.microsoft.com/office/drawing/2014/main" id="{38CB5E73-406D-4F60-9225-E20C1E5E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76650"/>
            <a:ext cx="3695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1918"/>
                </a:solidFill>
              </a:defRPr>
            </a:pPr>
            <a:r>
              <a:rPr sz="900" b="1">
                <a:solidFill>
                  <a:srgbClr val="171918"/>
                </a:solidFill>
              </a:rPr>
              <a:t>description · pricing · openness · API · SDKs · integrations</a:t>
            </a:r>
          </a:p>
        </p:txBody>
      </p:sp>
      <p:sp>
        <p:nvSpPr>
          <p:cNvPr id="34" name="profile-2-sources">
            <a:extLst xmlns:a="http://schemas.openxmlformats.org/drawingml/2006/main">
              <a:ext uri="{FF2B5EF4-FFF2-40B4-BE49-F238E27FC236}">
                <a16:creationId xmlns:a16="http://schemas.microsoft.com/office/drawing/2014/main" id="{8871A5EA-FCAB-4DC9-9A02-3B666C62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667125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2527E"/>
                </a:solidFill>
              </a:defRPr>
            </a:pPr>
            <a:r>
              <a:rPr sz="1050" b="1">
                <a:solidFill>
                  <a:srgbClr val="72527E"/>
                </a:solidFill>
              </a:rPr>
              <a:t>S1  S2</a:t>
            </a:r>
          </a:p>
        </p:txBody>
      </p:sp>
      <p:sp>
        <p:nvSpPr>
          <p:cNvPr id="35" name="profile-2-evidence">
            <a:extLst xmlns:a="http://schemas.openxmlformats.org/drawingml/2006/main">
              <a:ext uri="{FF2B5EF4-FFF2-40B4-BE49-F238E27FC236}">
                <a16:creationId xmlns:a16="http://schemas.microsoft.com/office/drawing/2014/main" id="{8CDF2512-EC7F-4053-9A93-D57D5F6A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95725"/>
            <a:ext cx="114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6A67"/>
                </a:solidFill>
              </a:defRPr>
            </a:pPr>
            <a:r>
              <a:rPr sz="825" b="0">
                <a:solidFill>
                  <a:srgbClr val="656A67"/>
                </a:solidFill>
              </a:rPr>
              <a:t>6/6 fields</a:t>
            </a:r>
          </a:p>
        </p:txBody>
      </p:sp>
      <p:sp>
        <p:nvSpPr>
          <p:cNvPr id="36" name="profile-2-validated">
            <a:extLst xmlns:a="http://schemas.openxmlformats.org/drawingml/2006/main">
              <a:ext uri="{FF2B5EF4-FFF2-40B4-BE49-F238E27FC236}">
                <a16:creationId xmlns:a16="http://schemas.microsoft.com/office/drawing/2014/main" id="{D2C19B1D-276B-4034-AFF7-7D04B465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95725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56A67"/>
                </a:solidFill>
              </a:defRPr>
            </a:pPr>
            <a:r>
              <a:rPr sz="825" b="0">
                <a:solidFill>
                  <a:srgbClr val="656A67"/>
                </a:solidFill>
              </a:rPr>
              <a:t>IDs validated against source list</a:t>
            </a:r>
          </a:p>
        </p:txBody>
      </p:sp>
      <p:sp>
        <p:nvSpPr>
          <p:cNvPr id="37" name="recommendation">
            <a:extLst xmlns:a="http://schemas.openxmlformats.org/drawingml/2006/main">
              <a:ext uri="{FF2B5EF4-FFF2-40B4-BE49-F238E27FC236}">
                <a16:creationId xmlns:a16="http://schemas.microsoft.com/office/drawing/2014/main" id="{DEE1EB28-4EDD-48A1-A5A0-F29B0C8E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305300"/>
            <a:ext cx="59817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1918"/>
            </a:solidFill>
            <a:prstDash val="solid"/>
          </a:ln>
        </p:spPr>
      </p:sp>
      <p:sp>
        <p:nvSpPr>
          <p:cNvPr id="38" name="recommendation-label">
            <a:extLst xmlns:a="http://schemas.openxmlformats.org/drawingml/2006/main">
              <a:ext uri="{FF2B5EF4-FFF2-40B4-BE49-F238E27FC236}">
                <a16:creationId xmlns:a16="http://schemas.microsoft.com/office/drawing/2014/main" id="{D8C68F51-E56B-45CA-9A98-94EB918A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400550"/>
            <a:ext cx="2714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A3150"/>
                </a:solidFill>
              </a:defRPr>
            </a:pPr>
            <a:r>
              <a:rPr sz="825" b="1">
                <a:solidFill>
                  <a:srgbClr val="9A3150"/>
                </a:solidFill>
              </a:rPr>
              <a:t>RECOMMENDATION AFTER VALIDATION</a:t>
            </a:r>
          </a:p>
        </p:txBody>
      </p:sp>
      <p:sp>
        <p:nvSpPr>
          <p:cNvPr id="39" name="recommendation-copy">
            <a:extLst xmlns:a="http://schemas.openxmlformats.org/drawingml/2006/main">
              <a:ext uri="{FF2B5EF4-FFF2-40B4-BE49-F238E27FC236}">
                <a16:creationId xmlns:a16="http://schemas.microsoft.com/office/drawing/2014/main" id="{FDB19C1D-11D7-4A7F-9587-156E031C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91050"/>
            <a:ext cx="556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918"/>
                </a:solidFill>
              </a:defRPr>
            </a:pPr>
            <a:r>
              <a:rPr sz="1125" b="1">
                <a:solidFill>
                  <a:srgbClr val="171918"/>
                </a:solidFill>
              </a:rPr>
              <a:t>Pinecone for managed operations; Weaviate or Qdrant for open-source deployment flexibility.</a:t>
            </a:r>
          </a:p>
        </p:txBody>
      </p:sp>
      <p:sp>
        <p:nvSpPr>
          <p:cNvPr id="40" name="boundary-rule">
            <a:extLst xmlns:a="http://schemas.openxmlformats.org/drawingml/2006/main">
              <a:ext uri="{FF2B5EF4-FFF2-40B4-BE49-F238E27FC236}">
                <a16:creationId xmlns:a16="http://schemas.microsoft.com/office/drawing/2014/main" id="{6E9A692E-1710-4BB6-A040-60F2BE45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48275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71918"/>
            </a:solidFill>
            <a:prstDash val="solid"/>
          </a:ln>
        </p:spPr>
      </p:sp>
      <p:sp>
        <p:nvSpPr>
          <p:cNvPr id="41" name="failure-head">
            <a:extLst xmlns:a="http://schemas.openxmlformats.org/drawingml/2006/main">
              <a:ext uri="{FF2B5EF4-FFF2-40B4-BE49-F238E27FC236}">
                <a16:creationId xmlns:a16="http://schemas.microsoft.com/office/drawing/2014/main" id="{E4513212-DC25-4543-8280-3AF39C15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A3150"/>
                </a:solidFill>
              </a:defRPr>
            </a:pPr>
            <a:r>
              <a:rPr sz="975" b="1">
                <a:solidFill>
                  <a:srgbClr val="9A3150"/>
                </a:solidFill>
              </a:rPr>
              <a:t>FAILURE SEMANTICS</a:t>
            </a:r>
          </a:p>
        </p:txBody>
      </p:sp>
      <p:sp>
        <p:nvSpPr>
          <p:cNvPr id="42" name="failure-copy">
            <a:extLst xmlns:a="http://schemas.openxmlformats.org/drawingml/2006/main">
              <a:ext uri="{FF2B5EF4-FFF2-40B4-BE49-F238E27FC236}">
                <a16:creationId xmlns:a16="http://schemas.microsoft.com/office/drawing/2014/main" id="{C486C46C-14DD-436F-A0D6-A6C9E216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769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1918"/>
                </a:solidFill>
              </a:defRPr>
            </a:pPr>
            <a:r>
              <a:rPr sz="1050" b="0">
                <a:solidFill>
                  <a:srgbClr val="171918"/>
                </a:solidFill>
              </a:rPr>
              <a:t>Missing fields become partial. A failed tool becomes a warning. No sourced profile means no report.</a:t>
            </a:r>
          </a:p>
        </p:txBody>
      </p:sp>
      <p:sp>
        <p:nvSpPr>
          <p:cNvPr id="43" name="divider-1">
            <a:extLst xmlns:a="http://schemas.openxmlformats.org/drawingml/2006/main">
              <a:ext uri="{FF2B5EF4-FFF2-40B4-BE49-F238E27FC236}">
                <a16:creationId xmlns:a16="http://schemas.microsoft.com/office/drawing/2014/main" id="{7957A975-916D-43EF-80CB-C762B860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42925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8CBC6"/>
            </a:solidFill>
            <a:prstDash val="solid"/>
          </a:ln>
        </p:spPr>
      </p:sp>
      <p:sp>
        <p:nvSpPr>
          <p:cNvPr id="44" name="export-head">
            <a:extLst xmlns:a="http://schemas.openxmlformats.org/drawingml/2006/main">
              <a:ext uri="{FF2B5EF4-FFF2-40B4-BE49-F238E27FC236}">
                <a16:creationId xmlns:a16="http://schemas.microsoft.com/office/drawing/2014/main" id="{34C63C74-E19C-4E0D-81D3-698B4A0B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429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A3150"/>
                </a:solidFill>
              </a:defRPr>
            </a:pPr>
            <a:r>
              <a:rPr sz="975" b="1">
                <a:solidFill>
                  <a:srgbClr val="9A3150"/>
                </a:solidFill>
              </a:rPr>
              <a:t>ONE REPORT, FOUR EXPORTS</a:t>
            </a:r>
          </a:p>
        </p:txBody>
      </p:sp>
      <p:sp>
        <p:nvSpPr>
          <p:cNvPr id="45" name="export-copy">
            <a:extLst xmlns:a="http://schemas.openxmlformats.org/drawingml/2006/main">
              <a:ext uri="{FF2B5EF4-FFF2-40B4-BE49-F238E27FC236}">
                <a16:creationId xmlns:a16="http://schemas.microsoft.com/office/drawing/2014/main" id="{00E1D18F-70F9-4549-86E7-590E9FC3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69595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A5E"/>
                </a:solidFill>
              </a:defRPr>
            </a:pPr>
            <a:r>
              <a:rPr sz="1200" b="1">
                <a:solidFill>
                  <a:srgbClr val="173A5E"/>
                </a:solidFill>
              </a:rPr>
              <a:t>Terminal table  ·  Markdown  ·  JSON  ·  CSV</a:t>
            </a:r>
          </a:p>
        </p:txBody>
      </p:sp>
      <p:sp>
        <p:nvSpPr>
          <p:cNvPr id="46" name="divider-2">
            <a:extLst xmlns:a="http://schemas.openxmlformats.org/drawingml/2006/main">
              <a:ext uri="{FF2B5EF4-FFF2-40B4-BE49-F238E27FC236}">
                <a16:creationId xmlns:a16="http://schemas.microsoft.com/office/drawing/2014/main" id="{6F829699-C667-4C7D-B0DB-781E2483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42925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8CBC6"/>
            </a:solidFill>
            <a:prstDash val="solid"/>
          </a:ln>
        </p:spPr>
      </p:sp>
      <p:sp>
        <p:nvSpPr>
          <p:cNvPr id="47" name="boundary-head">
            <a:extLst xmlns:a="http://schemas.openxmlformats.org/drawingml/2006/main">
              <a:ext uri="{FF2B5EF4-FFF2-40B4-BE49-F238E27FC236}">
                <a16:creationId xmlns:a16="http://schemas.microsoft.com/office/drawing/2014/main" id="{45C5BE2A-5E3C-4905-A5D9-9A909DAB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292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A3150"/>
                </a:solidFill>
              </a:defRPr>
            </a:pPr>
            <a:r>
              <a:rPr sz="975" b="1">
                <a:solidFill>
                  <a:srgbClr val="9A3150"/>
                </a:solidFill>
              </a:rPr>
              <a:t>NOT CLAIMED</a:t>
            </a:r>
          </a:p>
        </p:txBody>
      </p:sp>
      <p:sp>
        <p:nvSpPr>
          <p:cNvPr id="48" name="boundary-copy">
            <a:extLst xmlns:a="http://schemas.openxmlformats.org/drawingml/2006/main">
              <a:ext uri="{FF2B5EF4-FFF2-40B4-BE49-F238E27FC236}">
                <a16:creationId xmlns:a16="http://schemas.microsoft.com/office/drawing/2014/main" id="{A7E9F693-8526-4762-A2DA-C50AD5AD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6769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1918"/>
                </a:solidFill>
              </a:defRPr>
            </a:pPr>
            <a:r>
              <a:rPr sz="1050" b="0">
                <a:solidFill>
                  <a:srgbClr val="171918"/>
                </a:solidFill>
              </a:rPr>
              <a:t>Not a live crawl, current market comparison, recommendation-quality study, or factuality evaluation.</a:t>
            </a:r>
          </a:p>
        </p:txBody>
      </p:sp>
      <p:sp>
        <p:nvSpPr>
          <p:cNvPr id="49" name="sources">
            <a:extLst xmlns:a="http://schemas.openxmlformats.org/drawingml/2006/main">
              <a:ext uri="{FF2B5EF4-FFF2-40B4-BE49-F238E27FC236}">
                <a16:creationId xmlns:a16="http://schemas.microsoft.com/office/drawing/2014/main" id="{0F809741-54E2-412A-BD4C-4F0F1DD9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86525"/>
            <a:ext cx="11353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56A67"/>
                </a:solidFill>
              </a:defRPr>
            </a:pPr>
            <a:r>
              <a:rPr sz="825" b="0">
                <a:solidFill>
                  <a:srgbClr val="656A67"/>
                </a:solidFill>
              </a:rPr>
              <a:t>Sources: examples/demo-report.json · src/intellicrawl/pipeline.py · demo.py · renderers.py</a:t>
            </a:r>
          </a:p>
        </p:txBody>
      </p:sp>
    </p:spTree>
    <p:extLst>
      <p:ext uri="{BB962C8B-B14F-4D97-AF65-F5344CB8AC3E}">
        <p14:creationId xmlns:p14="http://schemas.microsoft.com/office/powerpoint/2010/main" val="3750255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2026-07-21T06:11:55.7500000Z</dcterms:created>
  <dcterms:modified xsi:type="dcterms:W3CDTF">2026-07-21T06:11:55.7500000Z</dcterms:modified>
</coreProperties>
</file>