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1d95244d0442e" /><Relationship Type="http://schemas.openxmlformats.org/officeDocument/2006/relationships/extended-properties" Target="/docProps/app.xml" Id="Rc43ddbd18afb41c6" /><Relationship Type="http://schemas.openxmlformats.org/officeDocument/2006/relationships/officeDocument" Target="/ppt/presentation.xml" Id="Rec8ed2abfda448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adfbfb50b4331"/>
  </p:sldMasterIdLst>
  <p:notesMasterIdLst>
    <p:notesMasterId xmlns:r="http://schemas.openxmlformats.org/officeDocument/2006/relationships" r:id="R33f30813e1ec4c5d"/>
  </p:notesMasterIdLst>
  <p:sldIdLst>
    <p:sldId xmlns:r="http://schemas.openxmlformats.org/officeDocument/2006/relationships" id="256" r:id="Rcd587aa0b8324e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b9fb764e64a3e" /><Relationship Type="http://schemas.openxmlformats.org/officeDocument/2006/relationships/slideMaster" Target="/ppt/slideMasters/slideMaster1.xml" Id="R0b0adfbfb50b4331" /><Relationship Type="http://schemas.openxmlformats.org/officeDocument/2006/relationships/notesMaster" Target="/ppt/notesMasters/notesMaster1.xml" Id="R33f30813e1ec4c5d" /><Relationship Type="http://schemas.openxmlformats.org/officeDocument/2006/relationships/presProps" Target="/ppt/presProps.xml" Id="R5a3996d702464c15" /><Relationship Type="http://schemas.openxmlformats.org/officeDocument/2006/relationships/tableStyles" Target="/ppt/tableStyles.xml" Id="R82df042c84c24991" /><Relationship Type="http://schemas.openxmlformats.org/officeDocument/2006/relationships/slide" Target="/ppt/slides/slide1.xml" Id="Rcd587aa0b8324e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8e8a8d919c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5786ad187415a" /><Relationship Type="http://schemas.openxmlformats.org/officeDocument/2006/relationships/notesMaster" Target="/ppt/notesMasters/notesMaster1.xml" Id="R9441c8c8aa82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85679bc584f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547c705b54ae7" /><Relationship Type="http://schemas.openxmlformats.org/officeDocument/2006/relationships/slideLayout" Target="/ppt/slideLayouts/slideLayout1.xml" Id="R9edb96dee95e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db96dee95e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ebca7c3214773" /><Relationship Type="http://schemas.openxmlformats.org/officeDocument/2006/relationships/notesSlide" Target="/ppt/notesSlides/notesSlide1.xml" Id="Rf361b407436843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title">
            <a:extLst xmlns:a="http://schemas.openxmlformats.org/drawingml/2006/main">
              <a:ext uri="{FF2B5EF4-FFF2-40B4-BE49-F238E27FC236}">
                <a16:creationId xmlns:a16="http://schemas.microsoft.com/office/drawing/2014/main" id="{1E0FACC0-FCAB-45C1-9506-BC855968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5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A"/>
                </a:solidFill>
              </a:defRPr>
            </a:pPr>
            <a:r>
              <a:rPr sz="2550" b="1">
                <a:solidFill>
                  <a:srgbClr val="191B1A"/>
                </a:solidFill>
              </a:rPr>
              <a:t>IntelliCrawl exposes the source behind every normalized field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3676A9-AF46-4194-8DEE-F20983C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6275"/>
            <a:ext cx="1135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A67"/>
                </a:solidFill>
              </a:defRPr>
            </a:pPr>
            <a:r>
              <a:rPr sz="1200" b="0">
                <a:solidFill>
                  <a:srgbClr val="656A67"/>
                </a:solidFill>
              </a:rPr>
              <a:t>The dated fixture fans one research question into three parallel profiles, then validates each field-level source tag before export.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C26C0A3-4EDB-4DBF-B529-EC7E065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382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B1A"/>
            </a:solidFill>
            <a:prstDash val="solid"/>
          </a:ln>
        </p:spPr>
      </p:sp>
      <p:sp>
        <p:nvSpPr>
          <p:cNvPr id="4" name="question-to-spine">
            <a:extLst xmlns:a="http://schemas.openxmlformats.org/drawingml/2006/main">
              <a:ext uri="{FF2B5EF4-FFF2-40B4-BE49-F238E27FC236}">
                <a16:creationId xmlns:a16="http://schemas.microsoft.com/office/drawing/2014/main" id="{0016F4BE-8C83-4A12-89DC-AA6CAB54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81175"/>
            <a:ext cx="3714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5" name="fanout-spine">
            <a:extLst xmlns:a="http://schemas.openxmlformats.org/drawingml/2006/main">
              <a:ext uri="{FF2B5EF4-FFF2-40B4-BE49-F238E27FC236}">
                <a16:creationId xmlns:a16="http://schemas.microsoft.com/office/drawing/2014/main" id="{D50E1C2D-C2DC-4BDE-BAF7-B628927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9547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3B5C"/>
            </a:solidFill>
            <a:prstDash val="solid"/>
          </a:ln>
        </p:spPr>
      </p:sp>
      <p:sp>
        <p:nvSpPr>
          <p:cNvPr id="6" name="spine-to-lane-0">
            <a:extLst xmlns:a="http://schemas.openxmlformats.org/drawingml/2006/main">
              <a:ext uri="{FF2B5EF4-FFF2-40B4-BE49-F238E27FC236}">
                <a16:creationId xmlns:a16="http://schemas.microsoft.com/office/drawing/2014/main" id="{3D2A0B8C-F638-4E61-B9C7-DA50B9D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838325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7" name="spine-to-lane-1">
            <a:extLst xmlns:a="http://schemas.openxmlformats.org/drawingml/2006/main">
              <a:ext uri="{FF2B5EF4-FFF2-40B4-BE49-F238E27FC236}">
                <a16:creationId xmlns:a16="http://schemas.microsoft.com/office/drawing/2014/main" id="{9DE3EB53-2E15-44EF-BD90-287BC3CB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71825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8" name="spine-to-lane-2">
            <a:extLst xmlns:a="http://schemas.openxmlformats.org/drawingml/2006/main">
              <a:ext uri="{FF2B5EF4-FFF2-40B4-BE49-F238E27FC236}">
                <a16:creationId xmlns:a16="http://schemas.microsoft.com/office/drawing/2014/main" id="{0DE84638-C8A0-49A6-AC91-B8400EAA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05325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9" name="lane-to-report-0">
            <a:extLst xmlns:a="http://schemas.openxmlformats.org/drawingml/2006/main">
              <a:ext uri="{FF2B5EF4-FFF2-40B4-BE49-F238E27FC236}">
                <a16:creationId xmlns:a16="http://schemas.microsoft.com/office/drawing/2014/main" id="{B76C4EB1-0E7B-4C9D-8E50-E887F384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43100"/>
            <a:ext cx="3238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10" name="lane-to-report-1">
            <a:extLst xmlns:a="http://schemas.openxmlformats.org/drawingml/2006/main">
              <a:ext uri="{FF2B5EF4-FFF2-40B4-BE49-F238E27FC236}">
                <a16:creationId xmlns:a16="http://schemas.microsoft.com/office/drawing/2014/main" id="{22E6AEFF-F4B5-4275-96B2-F4C3AA3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76600"/>
            <a:ext cx="3238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11" name="lane-to-report-2">
            <a:extLst xmlns:a="http://schemas.openxmlformats.org/drawingml/2006/main">
              <a:ext uri="{FF2B5EF4-FFF2-40B4-BE49-F238E27FC236}">
                <a16:creationId xmlns:a16="http://schemas.microsoft.com/office/drawing/2014/main" id="{2435375C-94A4-461F-95B8-36FAFE1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10100"/>
            <a:ext cx="3238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B5C"/>
          </a:solidFill>
          <a:ln xmlns:a="http://schemas.openxmlformats.org/drawingml/2006/main" w="0">
            <a:solidFill>
              <a:srgbClr val="183B5C"/>
            </a:solidFill>
            <a:prstDash val="solid"/>
          </a:ln>
        </p:spPr>
      </p:sp>
      <p:sp>
        <p:nvSpPr>
          <p:cNvPr id="12" name="report-to-exports">
            <a:extLst xmlns:a="http://schemas.openxmlformats.org/drawingml/2006/main">
              <a:ext uri="{FF2B5EF4-FFF2-40B4-BE49-F238E27FC236}">
                <a16:creationId xmlns:a16="http://schemas.microsoft.com/office/drawing/2014/main" id="{048CC96A-1355-4593-87AD-101F9B2D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1908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3451"/>
          </a:solidFill>
          <a:ln xmlns:a="http://schemas.openxmlformats.org/drawingml/2006/main" w="0">
            <a:solidFill>
              <a:srgbClr val="9C3451"/>
            </a:solidFill>
            <a:prstDash val="solid"/>
          </a:ln>
        </p:spPr>
      </p:sp>
      <p:sp>
        <p:nvSpPr>
          <p:cNvPr id="13" name="input-label">
            <a:extLst xmlns:a="http://schemas.openxmlformats.org/drawingml/2006/main">
              <a:ext uri="{FF2B5EF4-FFF2-40B4-BE49-F238E27FC236}">
                <a16:creationId xmlns:a16="http://schemas.microsoft.com/office/drawing/2014/main" id="{88214B90-E15C-4297-AA86-B76B67B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8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451"/>
                </a:solidFill>
              </a:defRPr>
            </a:pPr>
            <a:r>
              <a:rPr sz="900" b="1">
                <a:solidFill>
                  <a:srgbClr val="9C3451"/>
                </a:solidFill>
              </a:rPr>
              <a:t>ONE RESEARCH QUESTION</a:t>
            </a:r>
          </a:p>
        </p:txBody>
      </p:sp>
      <p:sp>
        <p:nvSpPr>
          <p:cNvPr id="14" name="query">
            <a:extLst xmlns:a="http://schemas.openxmlformats.org/drawingml/2006/main">
              <a:ext uri="{FF2B5EF4-FFF2-40B4-BE49-F238E27FC236}">
                <a16:creationId xmlns:a16="http://schemas.microsoft.com/office/drawing/2014/main" id="{9EB46CBA-FAEA-4D9A-9AB1-742E1034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7325"/>
            <a:ext cx="209550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E7EDF2"/>
          </a:solidFill>
          <a:ln xmlns:a="http://schemas.openxmlformats.org/drawingml/2006/main" w="11430">
            <a:solidFill>
              <a:srgbClr val="183B5C"/>
            </a:solidFill>
            <a:prstDash val="solid"/>
          </a:ln>
        </p:spPr>
      </p:sp>
      <p:sp>
        <p:nvSpPr>
          <p:cNvPr id="15" name="query-text">
            <a:extLst xmlns:a="http://schemas.openxmlformats.org/drawingml/2006/main">
              <a:ext uri="{FF2B5EF4-FFF2-40B4-BE49-F238E27FC236}">
                <a16:creationId xmlns:a16="http://schemas.microsoft.com/office/drawing/2014/main" id="{8DAADE54-A78F-4D64-953A-F759648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B5C"/>
                </a:solidFill>
              </a:defRPr>
            </a:pPr>
            <a:r>
              <a:rPr sz="1275" b="1">
                <a:solidFill>
                  <a:srgbClr val="183B5C"/>
                </a:solidFill>
              </a:rPr>
              <a:t>vector databases for production RAG</a:t>
            </a:r>
          </a:p>
        </p:txBody>
      </p:sp>
      <p:sp>
        <p:nvSpPr>
          <p:cNvPr id="16" name="query-date">
            <a:extLst xmlns:a="http://schemas.openxmlformats.org/drawingml/2006/main">
              <a:ext uri="{FF2B5EF4-FFF2-40B4-BE49-F238E27FC236}">
                <a16:creationId xmlns:a16="http://schemas.microsoft.com/office/drawing/2014/main" id="{E1CF7D9E-C95D-493C-980A-A47E9220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6A67"/>
                </a:solidFill>
              </a:defRPr>
            </a:pPr>
            <a:r>
              <a:rPr sz="825" b="0">
                <a:solidFill>
                  <a:srgbClr val="656A67"/>
                </a:solidFill>
              </a:rPr>
              <a:t>dated fixture · 2026-07-11</a:t>
            </a:r>
          </a:p>
        </p:txBody>
      </p:sp>
      <p:sp>
        <p:nvSpPr>
          <p:cNvPr id="17" name="parallel-label">
            <a:extLst xmlns:a="http://schemas.openxmlformats.org/drawingml/2006/main">
              <a:ext uri="{FF2B5EF4-FFF2-40B4-BE49-F238E27FC236}">
                <a16:creationId xmlns:a16="http://schemas.microsoft.com/office/drawing/2014/main" id="{3B2CAED1-45BD-40C4-95D9-FC7CEDF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238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451"/>
                </a:solidFill>
              </a:defRPr>
            </a:pPr>
            <a:r>
              <a:rPr sz="900" b="1">
                <a:solidFill>
                  <a:srgbClr val="9C3451"/>
                </a:solidFill>
              </a:rPr>
              <a:t>PARALLEL PROFILES WITH LOCAL SOURCE TAGS</a:t>
            </a:r>
          </a:p>
        </p:txBody>
      </p:sp>
      <p:sp>
        <p:nvSpPr>
          <p:cNvPr id="18" name="tool-0">
            <a:extLst xmlns:a="http://schemas.openxmlformats.org/drawingml/2006/main">
              <a:ext uri="{FF2B5EF4-FFF2-40B4-BE49-F238E27FC236}">
                <a16:creationId xmlns:a16="http://schemas.microsoft.com/office/drawing/2014/main" id="{7CA322E5-20A5-426D-A0D0-0CDA4B80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573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752"/>
                </a:solidFill>
              </a:defRPr>
            </a:pPr>
            <a:r>
              <a:rPr sz="1350" b="1">
                <a:solidFill>
                  <a:srgbClr val="2E7752"/>
                </a:solidFill>
              </a:rPr>
              <a:t>Weaviate</a:t>
            </a:r>
          </a:p>
        </p:txBody>
      </p:sp>
      <p:sp>
        <p:nvSpPr>
          <p:cNvPr id="19" name="status-0">
            <a:extLst xmlns:a="http://schemas.openxmlformats.org/drawingml/2006/main">
              <a:ext uri="{FF2B5EF4-FFF2-40B4-BE49-F238E27FC236}">
                <a16:creationId xmlns:a16="http://schemas.microsoft.com/office/drawing/2014/main" id="{47C0BAE7-2883-492A-B078-D5713C1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6A67"/>
                </a:solidFill>
              </a:defRPr>
            </a:pPr>
            <a:r>
              <a:rPr sz="825" b="0">
                <a:solidFill>
                  <a:srgbClr val="656A67"/>
                </a:solidFill>
              </a:rPr>
              <a:t>complete</a:t>
            </a:r>
          </a:p>
        </p:txBody>
      </p:sp>
      <p:sp>
        <p:nvSpPr>
          <p:cNvPr id="20" name="source-doc-0">
            <a:extLst xmlns:a="http://schemas.openxmlformats.org/drawingml/2006/main">
              <a:ext uri="{FF2B5EF4-FFF2-40B4-BE49-F238E27FC236}">
                <a16:creationId xmlns:a16="http://schemas.microsoft.com/office/drawing/2014/main" id="{0E680222-B6FF-43B0-B2F0-6308AAE7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335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21" name="source-doc-text-0">
            <a:extLst xmlns:a="http://schemas.openxmlformats.org/drawingml/2006/main">
              <a:ext uri="{FF2B5EF4-FFF2-40B4-BE49-F238E27FC236}">
                <a16:creationId xmlns:a16="http://schemas.microsoft.com/office/drawing/2014/main" id="{E4335EAC-318A-443D-8C56-8F53F8D7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097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S1  docs</a:t>
            </a:r>
          </a:p>
        </p:txBody>
      </p:sp>
      <p:sp>
        <p:nvSpPr>
          <p:cNvPr id="22" name="source-price-0">
            <a:extLst xmlns:a="http://schemas.openxmlformats.org/drawingml/2006/main">
              <a:ext uri="{FF2B5EF4-FFF2-40B4-BE49-F238E27FC236}">
                <a16:creationId xmlns:a16="http://schemas.microsoft.com/office/drawing/2014/main" id="{B01A9A34-8DD1-4FB8-96F0-5A56C68A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23" name="source-price-text-0">
            <a:extLst xmlns:a="http://schemas.openxmlformats.org/drawingml/2006/main">
              <a:ext uri="{FF2B5EF4-FFF2-40B4-BE49-F238E27FC236}">
                <a16:creationId xmlns:a16="http://schemas.microsoft.com/office/drawing/2014/main" id="{D1EEF16C-1FC8-4ACA-838C-803B31F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90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S2  pricing</a:t>
            </a:r>
          </a:p>
        </p:txBody>
      </p:sp>
      <p:sp>
        <p:nvSpPr>
          <p:cNvPr id="24" name="lane-rule-0">
            <a:extLst xmlns:a="http://schemas.openxmlformats.org/drawingml/2006/main">
              <a:ext uri="{FF2B5EF4-FFF2-40B4-BE49-F238E27FC236}">
                <a16:creationId xmlns:a16="http://schemas.microsoft.com/office/drawing/2014/main" id="{9905CAEE-9117-4E98-B20F-67F8433D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7752"/>
            </a:solidFill>
            <a:prstDash val="solid"/>
          </a:ln>
        </p:spPr>
      </p:sp>
      <p:sp>
        <p:nvSpPr>
          <p:cNvPr id="25" name="field-0-0">
            <a:extLst xmlns:a="http://schemas.openxmlformats.org/drawingml/2006/main">
              <a:ext uri="{FF2B5EF4-FFF2-40B4-BE49-F238E27FC236}">
                <a16:creationId xmlns:a16="http://schemas.microsoft.com/office/drawing/2014/main" id="{1C147F74-B64B-4631-A661-090C8F5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52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26" name="field-name-0-0">
            <a:extLst xmlns:a="http://schemas.openxmlformats.org/drawingml/2006/main">
              <a:ext uri="{FF2B5EF4-FFF2-40B4-BE49-F238E27FC236}">
                <a16:creationId xmlns:a16="http://schemas.microsoft.com/office/drawing/2014/main" id="{FCEB5378-BF3E-4222-828C-77D63323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7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profile</a:t>
            </a:r>
          </a:p>
        </p:txBody>
      </p:sp>
      <p:sp>
        <p:nvSpPr>
          <p:cNvPr id="27" name="field-source-0-0">
            <a:extLst xmlns:a="http://schemas.openxmlformats.org/drawingml/2006/main">
              <a:ext uri="{FF2B5EF4-FFF2-40B4-BE49-F238E27FC236}">
                <a16:creationId xmlns:a16="http://schemas.microsoft.com/office/drawing/2014/main" id="{714708BF-3146-433C-928D-8D03F90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00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S1</a:t>
            </a:r>
          </a:p>
        </p:txBody>
      </p:sp>
      <p:sp>
        <p:nvSpPr>
          <p:cNvPr id="28" name="field-0-1">
            <a:extLst xmlns:a="http://schemas.openxmlformats.org/drawingml/2006/main">
              <a:ext uri="{FF2B5EF4-FFF2-40B4-BE49-F238E27FC236}">
                <a16:creationId xmlns:a16="http://schemas.microsoft.com/office/drawing/2014/main" id="{A92E7ABA-DBFC-4C59-A663-7211DFB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29" name="field-name-0-1">
            <a:extLst xmlns:a="http://schemas.openxmlformats.org/drawingml/2006/main">
              <a:ext uri="{FF2B5EF4-FFF2-40B4-BE49-F238E27FC236}">
                <a16:creationId xmlns:a16="http://schemas.microsoft.com/office/drawing/2014/main" id="{E9FAC96E-9E6F-4FF1-B1E0-0646330B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57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price</a:t>
            </a:r>
          </a:p>
        </p:txBody>
      </p:sp>
      <p:sp>
        <p:nvSpPr>
          <p:cNvPr id="30" name="field-source-0-1">
            <a:extLst xmlns:a="http://schemas.openxmlformats.org/drawingml/2006/main">
              <a:ext uri="{FF2B5EF4-FFF2-40B4-BE49-F238E27FC236}">
                <a16:creationId xmlns:a16="http://schemas.microsoft.com/office/drawing/2014/main" id="{9CE97D37-CBD0-4D7A-9AE2-F991AEE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S2</a:t>
            </a:r>
          </a:p>
        </p:txBody>
      </p:sp>
      <p:sp>
        <p:nvSpPr>
          <p:cNvPr id="31" name="field-0-2">
            <a:extLst xmlns:a="http://schemas.openxmlformats.org/drawingml/2006/main">
              <a:ext uri="{FF2B5EF4-FFF2-40B4-BE49-F238E27FC236}">
                <a16:creationId xmlns:a16="http://schemas.microsoft.com/office/drawing/2014/main" id="{39F3502B-2308-41C7-A129-B39497CC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52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32" name="field-name-0-2">
            <a:extLst xmlns:a="http://schemas.openxmlformats.org/drawingml/2006/main">
              <a:ext uri="{FF2B5EF4-FFF2-40B4-BE49-F238E27FC236}">
                <a16:creationId xmlns:a16="http://schemas.microsoft.com/office/drawing/2014/main" id="{BC7DFBCE-1FA2-4C90-9DCA-3096F436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57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OSS</a:t>
            </a:r>
          </a:p>
        </p:txBody>
      </p:sp>
      <p:sp>
        <p:nvSpPr>
          <p:cNvPr id="33" name="field-source-0-2">
            <a:extLst xmlns:a="http://schemas.openxmlformats.org/drawingml/2006/main">
              <a:ext uri="{FF2B5EF4-FFF2-40B4-BE49-F238E27FC236}">
                <a16:creationId xmlns:a16="http://schemas.microsoft.com/office/drawing/2014/main" id="{CDCBA724-7CF1-4290-BD5C-CD48CF18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0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S1</a:t>
            </a:r>
          </a:p>
        </p:txBody>
      </p:sp>
      <p:sp>
        <p:nvSpPr>
          <p:cNvPr id="34" name="field-0-3">
            <a:extLst xmlns:a="http://schemas.openxmlformats.org/drawingml/2006/main">
              <a:ext uri="{FF2B5EF4-FFF2-40B4-BE49-F238E27FC236}">
                <a16:creationId xmlns:a16="http://schemas.microsoft.com/office/drawing/2014/main" id="{D0AC3028-F153-4EC3-B08B-BFEA8E11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35" name="field-name-0-3">
            <a:extLst xmlns:a="http://schemas.openxmlformats.org/drawingml/2006/main">
              <a:ext uri="{FF2B5EF4-FFF2-40B4-BE49-F238E27FC236}">
                <a16:creationId xmlns:a16="http://schemas.microsoft.com/office/drawing/2014/main" id="{558A9B4A-84DA-40A0-AE30-50536153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57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API</a:t>
            </a:r>
          </a:p>
        </p:txBody>
      </p:sp>
      <p:sp>
        <p:nvSpPr>
          <p:cNvPr id="36" name="field-source-0-3">
            <a:extLst xmlns:a="http://schemas.openxmlformats.org/drawingml/2006/main">
              <a:ext uri="{FF2B5EF4-FFF2-40B4-BE49-F238E27FC236}">
                <a16:creationId xmlns:a16="http://schemas.microsoft.com/office/drawing/2014/main" id="{E695A77C-D2B5-4B08-8FD5-873AD21D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S1</a:t>
            </a:r>
          </a:p>
        </p:txBody>
      </p:sp>
      <p:sp>
        <p:nvSpPr>
          <p:cNvPr id="37" name="field-0-4">
            <a:extLst xmlns:a="http://schemas.openxmlformats.org/drawingml/2006/main">
              <a:ext uri="{FF2B5EF4-FFF2-40B4-BE49-F238E27FC236}">
                <a16:creationId xmlns:a16="http://schemas.microsoft.com/office/drawing/2014/main" id="{036AEF1F-A565-4CA8-ACC5-CC7154AF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38" name="field-name-0-4">
            <a:extLst xmlns:a="http://schemas.openxmlformats.org/drawingml/2006/main">
              <a:ext uri="{FF2B5EF4-FFF2-40B4-BE49-F238E27FC236}">
                <a16:creationId xmlns:a16="http://schemas.microsoft.com/office/drawing/2014/main" id="{A5B60F9E-1901-462A-A1C1-4C31852A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57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SDKs</a:t>
            </a:r>
          </a:p>
        </p:txBody>
      </p:sp>
      <p:sp>
        <p:nvSpPr>
          <p:cNvPr id="39" name="field-source-0-4">
            <a:extLst xmlns:a="http://schemas.openxmlformats.org/drawingml/2006/main">
              <a:ext uri="{FF2B5EF4-FFF2-40B4-BE49-F238E27FC236}">
                <a16:creationId xmlns:a16="http://schemas.microsoft.com/office/drawing/2014/main" id="{D4652FAB-75F3-4F9E-BC69-3DC8B8D8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0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S1</a:t>
            </a:r>
          </a:p>
        </p:txBody>
      </p:sp>
      <p:sp>
        <p:nvSpPr>
          <p:cNvPr id="40" name="field-0-5">
            <a:extLst xmlns:a="http://schemas.openxmlformats.org/drawingml/2006/main">
              <a:ext uri="{FF2B5EF4-FFF2-40B4-BE49-F238E27FC236}">
                <a16:creationId xmlns:a16="http://schemas.microsoft.com/office/drawing/2014/main" id="{CF7AB387-CC09-420C-8CA0-45C21F79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2E7752"/>
            </a:solidFill>
            <a:prstDash val="solid"/>
          </a:ln>
        </p:spPr>
      </p:sp>
      <p:sp>
        <p:nvSpPr>
          <p:cNvPr id="41" name="field-name-0-5">
            <a:extLst xmlns:a="http://schemas.openxmlformats.org/drawingml/2006/main">
              <a:ext uri="{FF2B5EF4-FFF2-40B4-BE49-F238E27FC236}">
                <a16:creationId xmlns:a16="http://schemas.microsoft.com/office/drawing/2014/main" id="{BFEFA6D7-EA39-41F1-8D91-E63FF42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857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integr.</a:t>
            </a:r>
          </a:p>
        </p:txBody>
      </p:sp>
      <p:sp>
        <p:nvSpPr>
          <p:cNvPr id="42" name="field-source-0-5">
            <a:extLst xmlns:a="http://schemas.openxmlformats.org/drawingml/2006/main">
              <a:ext uri="{FF2B5EF4-FFF2-40B4-BE49-F238E27FC236}">
                <a16:creationId xmlns:a16="http://schemas.microsoft.com/office/drawing/2014/main" id="{D5CD281A-17D7-4472-8FBF-D374A02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0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752"/>
                </a:solidFill>
              </a:defRPr>
            </a:pPr>
            <a:r>
              <a:rPr sz="900" b="1">
                <a:solidFill>
                  <a:srgbClr val="2E7752"/>
                </a:solidFill>
              </a:rPr>
              <a:t>S1</a:t>
            </a:r>
          </a:p>
        </p:txBody>
      </p:sp>
      <p:sp>
        <p:nvSpPr>
          <p:cNvPr id="43" name="validation-0">
            <a:extLst xmlns:a="http://schemas.openxmlformats.org/drawingml/2006/main">
              <a:ext uri="{FF2B5EF4-FFF2-40B4-BE49-F238E27FC236}">
                <a16:creationId xmlns:a16="http://schemas.microsoft.com/office/drawing/2014/main" id="{E6939EDD-7971-4303-A528-51CD520D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05075"/>
            <a:ext cx="510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6A67"/>
                </a:solidFill>
              </a:defRPr>
            </a:pPr>
            <a:r>
              <a:rPr sz="788" b="0">
                <a:solidFill>
                  <a:srgbClr val="656A67"/>
                </a:solidFill>
              </a:rPr>
              <a:t>6 fields · source IDs validated against this profile’s two retained sources</a:t>
            </a:r>
          </a:p>
        </p:txBody>
      </p:sp>
      <p:sp>
        <p:nvSpPr>
          <p:cNvPr id="44" name="tool-1">
            <a:extLst xmlns:a="http://schemas.openxmlformats.org/drawingml/2006/main">
              <a:ext uri="{FF2B5EF4-FFF2-40B4-BE49-F238E27FC236}">
                <a16:creationId xmlns:a16="http://schemas.microsoft.com/office/drawing/2014/main" id="{4645637F-779F-4636-AA6B-AD1D09EE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908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E"/>
                </a:solidFill>
              </a:defRPr>
            </a:pPr>
            <a:r>
              <a:rPr sz="1350" b="1">
                <a:solidFill>
                  <a:srgbClr val="2B6F9E"/>
                </a:solidFill>
              </a:rPr>
              <a:t>Pinecone</a:t>
            </a:r>
          </a:p>
        </p:txBody>
      </p:sp>
      <p:sp>
        <p:nvSpPr>
          <p:cNvPr id="45" name="status-1">
            <a:extLst xmlns:a="http://schemas.openxmlformats.org/drawingml/2006/main">
              <a:ext uri="{FF2B5EF4-FFF2-40B4-BE49-F238E27FC236}">
                <a16:creationId xmlns:a16="http://schemas.microsoft.com/office/drawing/2014/main" id="{EA44F0DC-0BA3-435D-8865-1831799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6A67"/>
                </a:solidFill>
              </a:defRPr>
            </a:pPr>
            <a:r>
              <a:rPr sz="825" b="0">
                <a:solidFill>
                  <a:srgbClr val="656A67"/>
                </a:solidFill>
              </a:rPr>
              <a:t>complete</a:t>
            </a:r>
          </a:p>
        </p:txBody>
      </p:sp>
      <p:sp>
        <p:nvSpPr>
          <p:cNvPr id="46" name="source-doc-1">
            <a:extLst xmlns:a="http://schemas.openxmlformats.org/drawingml/2006/main">
              <a:ext uri="{FF2B5EF4-FFF2-40B4-BE49-F238E27FC236}">
                <a16:creationId xmlns:a16="http://schemas.microsoft.com/office/drawing/2014/main" id="{07331A3B-1519-4A63-B70C-F944120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670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47" name="source-doc-text-1">
            <a:extLst xmlns:a="http://schemas.openxmlformats.org/drawingml/2006/main">
              <a:ext uri="{FF2B5EF4-FFF2-40B4-BE49-F238E27FC236}">
                <a16:creationId xmlns:a16="http://schemas.microsoft.com/office/drawing/2014/main" id="{B6E37971-88F1-4C1F-AB8A-EEC0780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432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S1  docs</a:t>
            </a:r>
          </a:p>
        </p:txBody>
      </p:sp>
      <p:sp>
        <p:nvSpPr>
          <p:cNvPr id="48" name="source-price-1">
            <a:extLst xmlns:a="http://schemas.openxmlformats.org/drawingml/2006/main">
              <a:ext uri="{FF2B5EF4-FFF2-40B4-BE49-F238E27FC236}">
                <a16:creationId xmlns:a16="http://schemas.microsoft.com/office/drawing/2014/main" id="{B255DC8F-3442-4D54-94C1-78E9A81B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480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49" name="source-price-text-1">
            <a:extLst xmlns:a="http://schemas.openxmlformats.org/drawingml/2006/main">
              <a:ext uri="{FF2B5EF4-FFF2-40B4-BE49-F238E27FC236}">
                <a16:creationId xmlns:a16="http://schemas.microsoft.com/office/drawing/2014/main" id="{54CCEED2-9B07-4444-83DF-86EABFDE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242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S2  pricing</a:t>
            </a:r>
          </a:p>
        </p:txBody>
      </p:sp>
      <p:sp>
        <p:nvSpPr>
          <p:cNvPr id="50" name="lane-rule-1">
            <a:extLst xmlns:a="http://schemas.openxmlformats.org/drawingml/2006/main">
              <a:ext uri="{FF2B5EF4-FFF2-40B4-BE49-F238E27FC236}">
                <a16:creationId xmlns:a16="http://schemas.microsoft.com/office/drawing/2014/main" id="{1AF8A273-7BDC-4F96-AAF0-422BAF4A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146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6F9E"/>
            </a:solidFill>
            <a:prstDash val="solid"/>
          </a:ln>
        </p:spPr>
      </p:sp>
      <p:sp>
        <p:nvSpPr>
          <p:cNvPr id="51" name="field-1-0">
            <a:extLst xmlns:a="http://schemas.openxmlformats.org/drawingml/2006/main">
              <a:ext uri="{FF2B5EF4-FFF2-40B4-BE49-F238E27FC236}">
                <a16:creationId xmlns:a16="http://schemas.microsoft.com/office/drawing/2014/main" id="{F702C33A-E9A5-4EFE-A1EB-EDEBEA10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861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52" name="field-name-1-0">
            <a:extLst xmlns:a="http://schemas.openxmlformats.org/drawingml/2006/main">
              <a:ext uri="{FF2B5EF4-FFF2-40B4-BE49-F238E27FC236}">
                <a16:creationId xmlns:a16="http://schemas.microsoft.com/office/drawing/2014/main" id="{5C25AC96-B269-43AA-8262-E7E5091E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90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profile</a:t>
            </a:r>
          </a:p>
        </p:txBody>
      </p:sp>
      <p:sp>
        <p:nvSpPr>
          <p:cNvPr id="53" name="field-source-1-0">
            <a:extLst xmlns:a="http://schemas.openxmlformats.org/drawingml/2006/main">
              <a:ext uri="{FF2B5EF4-FFF2-40B4-BE49-F238E27FC236}">
                <a16:creationId xmlns:a16="http://schemas.microsoft.com/office/drawing/2014/main" id="{260D5C40-D7E1-4147-8EE0-40FD154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337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S1</a:t>
            </a:r>
          </a:p>
        </p:txBody>
      </p:sp>
      <p:sp>
        <p:nvSpPr>
          <p:cNvPr id="54" name="field-1-1">
            <a:extLst xmlns:a="http://schemas.openxmlformats.org/drawingml/2006/main">
              <a:ext uri="{FF2B5EF4-FFF2-40B4-BE49-F238E27FC236}">
                <a16:creationId xmlns:a16="http://schemas.microsoft.com/office/drawing/2014/main" id="{37AD4832-1961-4CCC-BBBE-B452C04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55" name="field-name-1-1">
            <a:extLst xmlns:a="http://schemas.openxmlformats.org/drawingml/2006/main">
              <a:ext uri="{FF2B5EF4-FFF2-40B4-BE49-F238E27FC236}">
                <a16:creationId xmlns:a16="http://schemas.microsoft.com/office/drawing/2014/main" id="{8EC0EDCC-6E61-4612-A178-907CEA5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90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price</a:t>
            </a:r>
          </a:p>
        </p:txBody>
      </p:sp>
      <p:sp>
        <p:nvSpPr>
          <p:cNvPr id="56" name="field-source-1-1">
            <a:extLst xmlns:a="http://schemas.openxmlformats.org/drawingml/2006/main">
              <a:ext uri="{FF2B5EF4-FFF2-40B4-BE49-F238E27FC236}">
                <a16:creationId xmlns:a16="http://schemas.microsoft.com/office/drawing/2014/main" id="{0B8A7C9E-357D-4F4F-B91E-209184A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337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S2</a:t>
            </a:r>
          </a:p>
        </p:txBody>
      </p:sp>
      <p:sp>
        <p:nvSpPr>
          <p:cNvPr id="57" name="field-1-2">
            <a:extLst xmlns:a="http://schemas.openxmlformats.org/drawingml/2006/main">
              <a:ext uri="{FF2B5EF4-FFF2-40B4-BE49-F238E27FC236}">
                <a16:creationId xmlns:a16="http://schemas.microsoft.com/office/drawing/2014/main" id="{40D8E816-D228-4E57-8912-7C6A6EE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861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58" name="field-name-1-2">
            <a:extLst xmlns:a="http://schemas.openxmlformats.org/drawingml/2006/main">
              <a:ext uri="{FF2B5EF4-FFF2-40B4-BE49-F238E27FC236}">
                <a16:creationId xmlns:a16="http://schemas.microsoft.com/office/drawing/2014/main" id="{B53AE99E-C478-45DA-90E1-CC14122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90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OSS</a:t>
            </a:r>
          </a:p>
        </p:txBody>
      </p:sp>
      <p:sp>
        <p:nvSpPr>
          <p:cNvPr id="59" name="field-source-1-2">
            <a:extLst xmlns:a="http://schemas.openxmlformats.org/drawingml/2006/main">
              <a:ext uri="{FF2B5EF4-FFF2-40B4-BE49-F238E27FC236}">
                <a16:creationId xmlns:a16="http://schemas.microsoft.com/office/drawing/2014/main" id="{131DA625-CF26-4028-B7B9-6485414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337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S1</a:t>
            </a:r>
          </a:p>
        </p:txBody>
      </p:sp>
      <p:sp>
        <p:nvSpPr>
          <p:cNvPr id="60" name="field-1-3">
            <a:extLst xmlns:a="http://schemas.openxmlformats.org/drawingml/2006/main">
              <a:ext uri="{FF2B5EF4-FFF2-40B4-BE49-F238E27FC236}">
                <a16:creationId xmlns:a16="http://schemas.microsoft.com/office/drawing/2014/main" id="{19674A3D-B612-494F-901A-92DC4E9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61" name="field-name-1-3">
            <a:extLst xmlns:a="http://schemas.openxmlformats.org/drawingml/2006/main">
              <a:ext uri="{FF2B5EF4-FFF2-40B4-BE49-F238E27FC236}">
                <a16:creationId xmlns:a16="http://schemas.microsoft.com/office/drawing/2014/main" id="{068F06F8-C66A-4EBE-AB22-A4C59FC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API</a:t>
            </a:r>
          </a:p>
        </p:txBody>
      </p:sp>
      <p:sp>
        <p:nvSpPr>
          <p:cNvPr id="62" name="field-source-1-3">
            <a:extLst xmlns:a="http://schemas.openxmlformats.org/drawingml/2006/main">
              <a:ext uri="{FF2B5EF4-FFF2-40B4-BE49-F238E27FC236}">
                <a16:creationId xmlns:a16="http://schemas.microsoft.com/office/drawing/2014/main" id="{C597BD6A-DCD7-41B0-BEFB-FE1720F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S1</a:t>
            </a:r>
          </a:p>
        </p:txBody>
      </p:sp>
      <p:sp>
        <p:nvSpPr>
          <p:cNvPr id="63" name="field-1-4">
            <a:extLst xmlns:a="http://schemas.openxmlformats.org/drawingml/2006/main">
              <a:ext uri="{FF2B5EF4-FFF2-40B4-BE49-F238E27FC236}">
                <a16:creationId xmlns:a16="http://schemas.microsoft.com/office/drawing/2014/main" id="{468497EB-7382-49EC-99E9-187D9346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861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64" name="field-name-1-4">
            <a:extLst xmlns:a="http://schemas.openxmlformats.org/drawingml/2006/main">
              <a:ext uri="{FF2B5EF4-FFF2-40B4-BE49-F238E27FC236}">
                <a16:creationId xmlns:a16="http://schemas.microsoft.com/office/drawing/2014/main" id="{5EBD75C3-45BD-4E0F-A3BD-5C5DF895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SDKs</a:t>
            </a:r>
          </a:p>
        </p:txBody>
      </p:sp>
      <p:sp>
        <p:nvSpPr>
          <p:cNvPr id="65" name="field-source-1-4">
            <a:extLst xmlns:a="http://schemas.openxmlformats.org/drawingml/2006/main">
              <a:ext uri="{FF2B5EF4-FFF2-40B4-BE49-F238E27FC236}">
                <a16:creationId xmlns:a16="http://schemas.microsoft.com/office/drawing/2014/main" id="{9018EB86-E932-4D3B-ABD2-66E76D56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337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S1</a:t>
            </a:r>
          </a:p>
        </p:txBody>
      </p:sp>
      <p:sp>
        <p:nvSpPr>
          <p:cNvPr id="66" name="field-1-5">
            <a:extLst xmlns:a="http://schemas.openxmlformats.org/drawingml/2006/main">
              <a:ext uri="{FF2B5EF4-FFF2-40B4-BE49-F238E27FC236}">
                <a16:creationId xmlns:a16="http://schemas.microsoft.com/office/drawing/2014/main" id="{29B47D80-449E-489E-9E1C-DA1EBCB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2B6F9E"/>
            </a:solidFill>
            <a:prstDash val="solid"/>
          </a:ln>
        </p:spPr>
      </p:sp>
      <p:sp>
        <p:nvSpPr>
          <p:cNvPr id="67" name="field-name-1-5">
            <a:extLst xmlns:a="http://schemas.openxmlformats.org/drawingml/2006/main">
              <a:ext uri="{FF2B5EF4-FFF2-40B4-BE49-F238E27FC236}">
                <a16:creationId xmlns:a16="http://schemas.microsoft.com/office/drawing/2014/main" id="{1336EFEB-9B3D-4758-B74F-5264389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90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integr.</a:t>
            </a:r>
          </a:p>
        </p:txBody>
      </p:sp>
      <p:sp>
        <p:nvSpPr>
          <p:cNvPr id="68" name="field-source-1-5">
            <a:extLst xmlns:a="http://schemas.openxmlformats.org/drawingml/2006/main">
              <a:ext uri="{FF2B5EF4-FFF2-40B4-BE49-F238E27FC236}">
                <a16:creationId xmlns:a16="http://schemas.microsoft.com/office/drawing/2014/main" id="{7CA509A0-53ED-4927-9125-0C18FD81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F9E"/>
                </a:solidFill>
              </a:defRPr>
            </a:pPr>
            <a:r>
              <a:rPr sz="900" b="1">
                <a:solidFill>
                  <a:srgbClr val="2B6F9E"/>
                </a:solidFill>
              </a:rPr>
              <a:t>S1</a:t>
            </a:r>
          </a:p>
        </p:txBody>
      </p:sp>
      <p:sp>
        <p:nvSpPr>
          <p:cNvPr id="69" name="validation-1">
            <a:extLst xmlns:a="http://schemas.openxmlformats.org/drawingml/2006/main">
              <a:ext uri="{FF2B5EF4-FFF2-40B4-BE49-F238E27FC236}">
                <a16:creationId xmlns:a16="http://schemas.microsoft.com/office/drawing/2014/main" id="{FA84E753-1E55-4255-844F-0FA7998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38575"/>
            <a:ext cx="510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6A67"/>
                </a:solidFill>
              </a:defRPr>
            </a:pPr>
            <a:r>
              <a:rPr sz="788" b="0">
                <a:solidFill>
                  <a:srgbClr val="656A67"/>
                </a:solidFill>
              </a:rPr>
              <a:t>6 fields · source IDs validated against this profile’s two retained sources</a:t>
            </a:r>
          </a:p>
        </p:txBody>
      </p:sp>
      <p:sp>
        <p:nvSpPr>
          <p:cNvPr id="70" name="tool-2">
            <a:extLst xmlns:a="http://schemas.openxmlformats.org/drawingml/2006/main">
              <a:ext uri="{FF2B5EF4-FFF2-40B4-BE49-F238E27FC236}">
                <a16:creationId xmlns:a16="http://schemas.microsoft.com/office/drawing/2014/main" id="{427E5F74-0CBB-4C60-8FAC-576245C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243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527E"/>
                </a:solidFill>
              </a:defRPr>
            </a:pPr>
            <a:r>
              <a:rPr sz="1350" b="1">
                <a:solidFill>
                  <a:srgbClr val="73527E"/>
                </a:solidFill>
              </a:rPr>
              <a:t>Qdrant</a:t>
            </a:r>
          </a:p>
        </p:txBody>
      </p:sp>
      <p:sp>
        <p:nvSpPr>
          <p:cNvPr id="71" name="status-2">
            <a:extLst xmlns:a="http://schemas.openxmlformats.org/drawingml/2006/main">
              <a:ext uri="{FF2B5EF4-FFF2-40B4-BE49-F238E27FC236}">
                <a16:creationId xmlns:a16="http://schemas.microsoft.com/office/drawing/2014/main" id="{F25F2DA0-E9A4-4EEB-B609-E1CDDF98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62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6A67"/>
                </a:solidFill>
              </a:defRPr>
            </a:pPr>
            <a:r>
              <a:rPr sz="825" b="0">
                <a:solidFill>
                  <a:srgbClr val="656A67"/>
                </a:solidFill>
              </a:rPr>
              <a:t>complete</a:t>
            </a:r>
          </a:p>
        </p:txBody>
      </p:sp>
      <p:sp>
        <p:nvSpPr>
          <p:cNvPr id="72" name="source-doc-2">
            <a:extLst xmlns:a="http://schemas.openxmlformats.org/drawingml/2006/main">
              <a:ext uri="{FF2B5EF4-FFF2-40B4-BE49-F238E27FC236}">
                <a16:creationId xmlns:a16="http://schemas.microsoft.com/office/drawing/2014/main" id="{E925B201-CEA6-49A6-9F82-7318E3FB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005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73" name="source-doc-text-2">
            <a:extLst xmlns:a="http://schemas.openxmlformats.org/drawingml/2006/main">
              <a:ext uri="{FF2B5EF4-FFF2-40B4-BE49-F238E27FC236}">
                <a16:creationId xmlns:a16="http://schemas.microsoft.com/office/drawing/2014/main" id="{82913ABF-B2DD-4B87-B4D6-34255E5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767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S1  docs</a:t>
            </a:r>
          </a:p>
        </p:txBody>
      </p:sp>
      <p:sp>
        <p:nvSpPr>
          <p:cNvPr id="74" name="source-price-2">
            <a:extLst xmlns:a="http://schemas.openxmlformats.org/drawingml/2006/main">
              <a:ext uri="{FF2B5EF4-FFF2-40B4-BE49-F238E27FC236}">
                <a16:creationId xmlns:a16="http://schemas.microsoft.com/office/drawing/2014/main" id="{95001C9D-D34E-4B4A-A48C-C79053D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815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75" name="source-price-text-2">
            <a:extLst xmlns:a="http://schemas.openxmlformats.org/drawingml/2006/main">
              <a:ext uri="{FF2B5EF4-FFF2-40B4-BE49-F238E27FC236}">
                <a16:creationId xmlns:a16="http://schemas.microsoft.com/office/drawing/2014/main" id="{579CD25A-BA1C-4A95-836D-78B51B45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57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S2  pricing</a:t>
            </a:r>
          </a:p>
        </p:txBody>
      </p:sp>
      <p:sp>
        <p:nvSpPr>
          <p:cNvPr id="76" name="lane-rule-2">
            <a:extLst xmlns:a="http://schemas.openxmlformats.org/drawingml/2006/main">
              <a:ext uri="{FF2B5EF4-FFF2-40B4-BE49-F238E27FC236}">
                <a16:creationId xmlns:a16="http://schemas.microsoft.com/office/drawing/2014/main" id="{2A01E583-D8FA-41BC-BF0F-D2CE981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481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3527E"/>
            </a:solidFill>
            <a:prstDash val="solid"/>
          </a:ln>
        </p:spPr>
      </p:sp>
      <p:sp>
        <p:nvSpPr>
          <p:cNvPr id="77" name="field-2-0">
            <a:extLst xmlns:a="http://schemas.openxmlformats.org/drawingml/2006/main">
              <a:ext uri="{FF2B5EF4-FFF2-40B4-BE49-F238E27FC236}">
                <a16:creationId xmlns:a16="http://schemas.microsoft.com/office/drawing/2014/main" id="{D61A8607-3ED2-4CE8-9B71-F87F52E2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419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78" name="field-name-2-0">
            <a:extLst xmlns:a="http://schemas.openxmlformats.org/drawingml/2006/main">
              <a:ext uri="{FF2B5EF4-FFF2-40B4-BE49-F238E27FC236}">
                <a16:creationId xmlns:a16="http://schemas.microsoft.com/office/drawing/2014/main" id="{9AB45977-DA3B-4583-93DE-14122AEC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profile</a:t>
            </a:r>
          </a:p>
        </p:txBody>
      </p:sp>
      <p:sp>
        <p:nvSpPr>
          <p:cNvPr id="79" name="field-source-2-0">
            <a:extLst xmlns:a="http://schemas.openxmlformats.org/drawingml/2006/main">
              <a:ext uri="{FF2B5EF4-FFF2-40B4-BE49-F238E27FC236}">
                <a16:creationId xmlns:a16="http://schemas.microsoft.com/office/drawing/2014/main" id="{965DCCAD-B13E-49B0-A314-374E1E31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67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S1</a:t>
            </a:r>
          </a:p>
        </p:txBody>
      </p:sp>
      <p:sp>
        <p:nvSpPr>
          <p:cNvPr id="80" name="field-2-1">
            <a:extLst xmlns:a="http://schemas.openxmlformats.org/drawingml/2006/main">
              <a:ext uri="{FF2B5EF4-FFF2-40B4-BE49-F238E27FC236}">
                <a16:creationId xmlns:a16="http://schemas.microsoft.com/office/drawing/2014/main" id="{7221CE16-59DF-4381-BF00-EAB8A50D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19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81" name="field-name-2-1">
            <a:extLst xmlns:a="http://schemas.openxmlformats.org/drawingml/2006/main">
              <a:ext uri="{FF2B5EF4-FFF2-40B4-BE49-F238E27FC236}">
                <a16:creationId xmlns:a16="http://schemas.microsoft.com/office/drawing/2014/main" id="{AA8F3F40-ACE9-412F-9046-C57E03A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24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price</a:t>
            </a:r>
          </a:p>
        </p:txBody>
      </p:sp>
      <p:sp>
        <p:nvSpPr>
          <p:cNvPr id="82" name="field-source-2-1">
            <a:extLst xmlns:a="http://schemas.openxmlformats.org/drawingml/2006/main">
              <a:ext uri="{FF2B5EF4-FFF2-40B4-BE49-F238E27FC236}">
                <a16:creationId xmlns:a16="http://schemas.microsoft.com/office/drawing/2014/main" id="{96BE0DFC-4E41-488D-A4E5-02E04E1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67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S2</a:t>
            </a:r>
          </a:p>
        </p:txBody>
      </p:sp>
      <p:sp>
        <p:nvSpPr>
          <p:cNvPr id="83" name="field-2-2">
            <a:extLst xmlns:a="http://schemas.openxmlformats.org/drawingml/2006/main">
              <a:ext uri="{FF2B5EF4-FFF2-40B4-BE49-F238E27FC236}">
                <a16:creationId xmlns:a16="http://schemas.microsoft.com/office/drawing/2014/main" id="{949F204A-2C1A-4BBD-9EAA-EECD1883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19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84" name="field-name-2-2">
            <a:extLst xmlns:a="http://schemas.openxmlformats.org/drawingml/2006/main">
              <a:ext uri="{FF2B5EF4-FFF2-40B4-BE49-F238E27FC236}">
                <a16:creationId xmlns:a16="http://schemas.microsoft.com/office/drawing/2014/main" id="{E7986915-DB78-4F29-863F-A26E412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24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OSS</a:t>
            </a:r>
          </a:p>
        </p:txBody>
      </p:sp>
      <p:sp>
        <p:nvSpPr>
          <p:cNvPr id="85" name="field-source-2-2">
            <a:extLst xmlns:a="http://schemas.openxmlformats.org/drawingml/2006/main">
              <a:ext uri="{FF2B5EF4-FFF2-40B4-BE49-F238E27FC236}">
                <a16:creationId xmlns:a16="http://schemas.microsoft.com/office/drawing/2014/main" id="{C80E4645-C435-4FB1-AB1F-ECADA61D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67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S1</a:t>
            </a:r>
          </a:p>
        </p:txBody>
      </p:sp>
      <p:sp>
        <p:nvSpPr>
          <p:cNvPr id="86" name="field-2-3">
            <a:extLst xmlns:a="http://schemas.openxmlformats.org/drawingml/2006/main">
              <a:ext uri="{FF2B5EF4-FFF2-40B4-BE49-F238E27FC236}">
                <a16:creationId xmlns:a16="http://schemas.microsoft.com/office/drawing/2014/main" id="{E775665E-6A79-4500-A12E-50CED8E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9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87" name="field-name-2-3">
            <a:extLst xmlns:a="http://schemas.openxmlformats.org/drawingml/2006/main">
              <a:ext uri="{FF2B5EF4-FFF2-40B4-BE49-F238E27FC236}">
                <a16:creationId xmlns:a16="http://schemas.microsoft.com/office/drawing/2014/main" id="{41E8275E-B3C7-4669-9474-4B640E5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24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API</a:t>
            </a:r>
          </a:p>
        </p:txBody>
      </p:sp>
      <p:sp>
        <p:nvSpPr>
          <p:cNvPr id="88" name="field-source-2-3">
            <a:extLst xmlns:a="http://schemas.openxmlformats.org/drawingml/2006/main">
              <a:ext uri="{FF2B5EF4-FFF2-40B4-BE49-F238E27FC236}">
                <a16:creationId xmlns:a16="http://schemas.microsoft.com/office/drawing/2014/main" id="{012F7CBB-2D02-48D5-8310-F566E30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67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S1</a:t>
            </a:r>
          </a:p>
        </p:txBody>
      </p:sp>
      <p:sp>
        <p:nvSpPr>
          <p:cNvPr id="89" name="field-2-4">
            <a:extLst xmlns:a="http://schemas.openxmlformats.org/drawingml/2006/main">
              <a:ext uri="{FF2B5EF4-FFF2-40B4-BE49-F238E27FC236}">
                <a16:creationId xmlns:a16="http://schemas.microsoft.com/office/drawing/2014/main" id="{A3DBC6C1-CF0D-4234-AF43-37606C6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9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90" name="field-name-2-4">
            <a:extLst xmlns:a="http://schemas.openxmlformats.org/drawingml/2006/main">
              <a:ext uri="{FF2B5EF4-FFF2-40B4-BE49-F238E27FC236}">
                <a16:creationId xmlns:a16="http://schemas.microsoft.com/office/drawing/2014/main" id="{6F48A599-84C4-4142-A911-5A4BD16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24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SDKs</a:t>
            </a:r>
          </a:p>
        </p:txBody>
      </p:sp>
      <p:sp>
        <p:nvSpPr>
          <p:cNvPr id="91" name="field-source-2-4">
            <a:extLst xmlns:a="http://schemas.openxmlformats.org/drawingml/2006/main">
              <a:ext uri="{FF2B5EF4-FFF2-40B4-BE49-F238E27FC236}">
                <a16:creationId xmlns:a16="http://schemas.microsoft.com/office/drawing/2014/main" id="{C71145B5-E05B-4EEB-94D4-51737F3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67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S1</a:t>
            </a:r>
          </a:p>
        </p:txBody>
      </p:sp>
      <p:sp>
        <p:nvSpPr>
          <p:cNvPr id="92" name="field-2-5">
            <a:extLst xmlns:a="http://schemas.openxmlformats.org/drawingml/2006/main">
              <a:ext uri="{FF2B5EF4-FFF2-40B4-BE49-F238E27FC236}">
                <a16:creationId xmlns:a16="http://schemas.microsoft.com/office/drawing/2014/main" id="{5B3C9689-D971-4715-AF94-3090F09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7524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9525">
            <a:solidFill>
              <a:srgbClr val="73527E"/>
            </a:solidFill>
            <a:prstDash val="solid"/>
          </a:ln>
        </p:spPr>
      </p:sp>
      <p:sp>
        <p:nvSpPr>
          <p:cNvPr id="93" name="field-name-2-5">
            <a:extLst xmlns:a="http://schemas.openxmlformats.org/drawingml/2006/main">
              <a:ext uri="{FF2B5EF4-FFF2-40B4-BE49-F238E27FC236}">
                <a16:creationId xmlns:a16="http://schemas.microsoft.com/office/drawing/2014/main" id="{8A298ECD-328A-4FA4-949A-1F1E41AE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243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1B1A"/>
                </a:solidFill>
              </a:defRPr>
            </a:pPr>
            <a:r>
              <a:rPr sz="825" b="1">
                <a:solidFill>
                  <a:srgbClr val="191B1A"/>
                </a:solidFill>
              </a:rPr>
              <a:t>integr.</a:t>
            </a:r>
          </a:p>
        </p:txBody>
      </p:sp>
      <p:sp>
        <p:nvSpPr>
          <p:cNvPr id="94" name="field-source-2-5">
            <a:extLst xmlns:a="http://schemas.openxmlformats.org/drawingml/2006/main">
              <a:ext uri="{FF2B5EF4-FFF2-40B4-BE49-F238E27FC236}">
                <a16:creationId xmlns:a16="http://schemas.microsoft.com/office/drawing/2014/main" id="{A7A9E633-8782-4ED5-82AC-76298D6F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7275"/>
            <a:ext cx="485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3527E"/>
                </a:solidFill>
              </a:defRPr>
            </a:pPr>
            <a:r>
              <a:rPr sz="900" b="1">
                <a:solidFill>
                  <a:srgbClr val="73527E"/>
                </a:solidFill>
              </a:rPr>
              <a:t>S1</a:t>
            </a:r>
          </a:p>
        </p:txBody>
      </p:sp>
      <p:sp>
        <p:nvSpPr>
          <p:cNvPr id="95" name="validation-2">
            <a:extLst xmlns:a="http://schemas.openxmlformats.org/drawingml/2006/main">
              <a:ext uri="{FF2B5EF4-FFF2-40B4-BE49-F238E27FC236}">
                <a16:creationId xmlns:a16="http://schemas.microsoft.com/office/drawing/2014/main" id="{8C9112E8-C830-4B84-A292-AEF4A4ED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72075"/>
            <a:ext cx="510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6A67"/>
                </a:solidFill>
              </a:defRPr>
            </a:pPr>
            <a:r>
              <a:rPr sz="788" b="0">
                <a:solidFill>
                  <a:srgbClr val="656A67"/>
                </a:solidFill>
              </a:rPr>
              <a:t>6 fields · source IDs validated against this profile’s two retained sources</a:t>
            </a:r>
          </a:p>
        </p:txBody>
      </p:sp>
      <p:sp>
        <p:nvSpPr>
          <p:cNvPr id="96" name="report-label">
            <a:extLst xmlns:a="http://schemas.openxmlformats.org/drawingml/2006/main">
              <a:ext uri="{FF2B5EF4-FFF2-40B4-BE49-F238E27FC236}">
                <a16:creationId xmlns:a16="http://schemas.microsoft.com/office/drawing/2014/main" id="{059C3B87-44A5-4D40-AE20-B39950A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382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451"/>
                </a:solidFill>
              </a:defRPr>
            </a:pPr>
            <a:r>
              <a:rPr sz="900" b="1">
                <a:solidFill>
                  <a:srgbClr val="9C3451"/>
                </a:solidFill>
              </a:rPr>
              <a:t>VALIDATED REPORT</a:t>
            </a:r>
          </a:p>
        </p:txBody>
      </p:sp>
      <p:sp>
        <p:nvSpPr>
          <p:cNvPr id="97" name="report">
            <a:extLst xmlns:a="http://schemas.openxmlformats.org/drawingml/2006/main">
              <a:ext uri="{FF2B5EF4-FFF2-40B4-BE49-F238E27FC236}">
                <a16:creationId xmlns:a16="http://schemas.microsoft.com/office/drawing/2014/main" id="{CCD9F2AB-A0F0-451D-8785-73C8AB1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57325"/>
            <a:ext cx="1123950" cy="3390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3B5C"/>
            </a:solidFill>
            <a:prstDash val="solid"/>
          </a:ln>
        </p:spPr>
      </p:sp>
      <p:sp>
        <p:nvSpPr>
          <p:cNvPr id="98" name="report-count">
            <a:extLst xmlns:a="http://schemas.openxmlformats.org/drawingml/2006/main">
              <a:ext uri="{FF2B5EF4-FFF2-40B4-BE49-F238E27FC236}">
                <a16:creationId xmlns:a16="http://schemas.microsoft.com/office/drawing/2014/main" id="{9299E947-4825-4E27-B62F-9789EE45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28775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3B5C"/>
                </a:solidFill>
              </a:defRPr>
            </a:pPr>
            <a:r>
              <a:rPr sz="2175" b="1">
                <a:solidFill>
                  <a:srgbClr val="183B5C"/>
                </a:solidFill>
              </a:rPr>
              <a:t>3</a:t>
            </a:r>
          </a:p>
        </p:txBody>
      </p:sp>
      <p:sp>
        <p:nvSpPr>
          <p:cNvPr id="99" name="report-profiles">
            <a:extLst xmlns:a="http://schemas.openxmlformats.org/drawingml/2006/main">
              <a:ext uri="{FF2B5EF4-FFF2-40B4-BE49-F238E27FC236}">
                <a16:creationId xmlns:a16="http://schemas.microsoft.com/office/drawing/2014/main" id="{F410D84A-9A9A-40EC-AA33-1ED8C46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1B1A"/>
                </a:solidFill>
              </a:defRPr>
            </a:pPr>
            <a:r>
              <a:rPr sz="900" b="1">
                <a:solidFill>
                  <a:srgbClr val="191B1A"/>
                </a:solidFill>
              </a:rPr>
              <a:t>complete</a:t>
            </a:r>
          </a:p>
          <a:p xmlns:a="http://schemas.openxmlformats.org/drawingml/2006/main">
            <a:pPr algn="ctr">
              <a:defRPr sz="900" b="1">
                <a:solidFill>
                  <a:srgbClr val="191B1A"/>
                </a:solidFill>
              </a:defRPr>
            </a:pPr>
            <a:r>
              <a:rPr sz="900" b="1">
                <a:solidFill>
                  <a:srgbClr val="191B1A"/>
                </a:solidFill>
              </a:rPr>
              <a:t>profiles</a:t>
            </a:r>
          </a:p>
        </p:txBody>
      </p:sp>
      <p:sp>
        <p:nvSpPr>
          <p:cNvPr id="100" name="report-rule-1">
            <a:extLst xmlns:a="http://schemas.openxmlformats.org/drawingml/2006/main">
              <a:ext uri="{FF2B5EF4-FFF2-40B4-BE49-F238E27FC236}">
                <a16:creationId xmlns:a16="http://schemas.microsoft.com/office/drawing/2014/main" id="{2B71C77D-271C-4035-B8CA-5C8317E7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6697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C7"/>
            </a:solidFill>
            <a:prstDash val="solid"/>
          </a:ln>
        </p:spPr>
      </p:sp>
      <p:sp>
        <p:nvSpPr>
          <p:cNvPr id="101" name="report-citations">
            <a:extLst xmlns:a="http://schemas.openxmlformats.org/drawingml/2006/main">
              <a:ext uri="{FF2B5EF4-FFF2-40B4-BE49-F238E27FC236}">
                <a16:creationId xmlns:a16="http://schemas.microsoft.com/office/drawing/2014/main" id="{F1A0B8F7-140E-4046-AC5E-997F86D1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B5C"/>
                </a:solidFill>
              </a:defRPr>
            </a:pPr>
            <a:r>
              <a:rPr sz="2025" b="1">
                <a:solidFill>
                  <a:srgbClr val="183B5C"/>
                </a:solidFill>
              </a:rPr>
              <a:t>6</a:t>
            </a:r>
          </a:p>
        </p:txBody>
      </p:sp>
      <p:sp>
        <p:nvSpPr>
          <p:cNvPr id="102" name="report-citation-label">
            <a:extLst xmlns:a="http://schemas.openxmlformats.org/drawingml/2006/main">
              <a:ext uri="{FF2B5EF4-FFF2-40B4-BE49-F238E27FC236}">
                <a16:creationId xmlns:a16="http://schemas.microsoft.com/office/drawing/2014/main" id="{9D2658B9-E4A6-40C2-B34D-1C9E5AB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337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1B1A"/>
                </a:solidFill>
              </a:defRPr>
            </a:pPr>
            <a:r>
              <a:rPr sz="900" b="1">
                <a:solidFill>
                  <a:srgbClr val="191B1A"/>
                </a:solidFill>
              </a:rPr>
              <a:t>public</a:t>
            </a:r>
          </a:p>
          <a:p xmlns:a="http://schemas.openxmlformats.org/drawingml/2006/main">
            <a:pPr algn="ctr">
              <a:defRPr sz="900" b="1">
                <a:solidFill>
                  <a:srgbClr val="191B1A"/>
                </a:solidFill>
              </a:defRPr>
            </a:pPr>
            <a:r>
              <a:rPr sz="900" b="1">
                <a:solidFill>
                  <a:srgbClr val="191B1A"/>
                </a:solidFill>
              </a:rPr>
              <a:t>citations</a:t>
            </a:r>
          </a:p>
        </p:txBody>
      </p:sp>
      <p:sp>
        <p:nvSpPr>
          <p:cNvPr id="103" name="report-rule-2">
            <a:extLst xmlns:a="http://schemas.openxmlformats.org/drawingml/2006/main">
              <a:ext uri="{FF2B5EF4-FFF2-40B4-BE49-F238E27FC236}">
                <a16:creationId xmlns:a16="http://schemas.microsoft.com/office/drawing/2014/main" id="{6C9322CC-B901-4570-B4AA-C177B0E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3852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BC7"/>
            </a:solidFill>
            <a:prstDash val="solid"/>
          </a:ln>
        </p:spPr>
      </p:sp>
      <p:sp>
        <p:nvSpPr>
          <p:cNvPr id="104" name="report-warnings">
            <a:extLst xmlns:a="http://schemas.openxmlformats.org/drawingml/2006/main">
              <a:ext uri="{FF2B5EF4-FFF2-40B4-BE49-F238E27FC236}">
                <a16:creationId xmlns:a16="http://schemas.microsoft.com/office/drawing/2014/main" id="{8C5F65F0-E3C9-4123-9B94-972E2BC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90925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752"/>
                </a:solidFill>
              </a:defRPr>
            </a:pPr>
            <a:r>
              <a:rPr sz="2025" b="1">
                <a:solidFill>
                  <a:srgbClr val="2E7752"/>
                </a:solidFill>
              </a:rPr>
              <a:t>0</a:t>
            </a:r>
          </a:p>
        </p:txBody>
      </p:sp>
      <p:sp>
        <p:nvSpPr>
          <p:cNvPr id="105" name="report-warning-label">
            <a:extLst xmlns:a="http://schemas.openxmlformats.org/drawingml/2006/main">
              <a:ext uri="{FF2B5EF4-FFF2-40B4-BE49-F238E27FC236}">
                <a16:creationId xmlns:a16="http://schemas.microsoft.com/office/drawing/2014/main" id="{7954332D-B979-41D6-9020-A3BA6C5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24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1B1A"/>
                </a:solidFill>
              </a:defRPr>
            </a:pPr>
            <a:r>
              <a:rPr sz="900" b="1">
                <a:solidFill>
                  <a:srgbClr val="191B1A"/>
                </a:solidFill>
              </a:rPr>
              <a:t>warnings</a:t>
            </a:r>
          </a:p>
        </p:txBody>
      </p:sp>
      <p:sp>
        <p:nvSpPr>
          <p:cNvPr id="106" name="report-note">
            <a:extLst xmlns:a="http://schemas.openxmlformats.org/drawingml/2006/main">
              <a:ext uri="{FF2B5EF4-FFF2-40B4-BE49-F238E27FC236}">
                <a16:creationId xmlns:a16="http://schemas.microsoft.com/office/drawing/2014/main" id="{2126C76B-57ED-4CF4-8078-21F56262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3624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A67"/>
                </a:solidFill>
              </a:defRPr>
            </a:pPr>
            <a:r>
              <a:rPr sz="713" b="0">
                <a:solidFill>
                  <a:srgbClr val="656A67"/>
                </a:solidFill>
              </a:rPr>
              <a:t>validated</a:t>
            </a:r>
          </a:p>
          <a:p xmlns:a="http://schemas.openxmlformats.org/drawingml/2006/main">
            <a:pPr algn="ctr">
              <a:defRPr sz="713" b="0">
                <a:solidFill>
                  <a:srgbClr val="656A67"/>
                </a:solidFill>
              </a:defRPr>
            </a:pPr>
            <a:r>
              <a:rPr sz="713" b="0">
                <a:solidFill>
                  <a:srgbClr val="656A67"/>
                </a:solidFill>
              </a:rPr>
              <a:t>recommendation</a:t>
            </a:r>
          </a:p>
        </p:txBody>
      </p:sp>
      <p:sp>
        <p:nvSpPr>
          <p:cNvPr id="107" name="exports-label">
            <a:extLst xmlns:a="http://schemas.openxmlformats.org/drawingml/2006/main">
              <a:ext uri="{FF2B5EF4-FFF2-40B4-BE49-F238E27FC236}">
                <a16:creationId xmlns:a16="http://schemas.microsoft.com/office/drawing/2014/main" id="{83539D61-D2C3-4B0D-8C30-EB0154D6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C3451"/>
                </a:solidFill>
              </a:defRPr>
            </a:pPr>
            <a:r>
              <a:rPr sz="788" b="1">
                <a:solidFill>
                  <a:srgbClr val="9C3451"/>
                </a:solidFill>
              </a:rPr>
              <a:t>FOUR VIEWS</a:t>
            </a:r>
          </a:p>
        </p:txBody>
      </p:sp>
      <p:sp>
        <p:nvSpPr>
          <p:cNvPr id="108" name="export-0">
            <a:extLst xmlns:a="http://schemas.openxmlformats.org/drawingml/2006/main">
              <a:ext uri="{FF2B5EF4-FFF2-40B4-BE49-F238E27FC236}">
                <a16:creationId xmlns:a16="http://schemas.microsoft.com/office/drawing/2014/main" id="{5E218888-807A-47C1-9646-44C06B69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28775"/>
            <a:ext cx="6286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E9D8"/>
          </a:solidFill>
          <a:ln xmlns:a="http://schemas.openxmlformats.org/drawingml/2006/main" w="9525">
            <a:solidFill>
              <a:srgbClr val="A4660A"/>
            </a:solidFill>
            <a:prstDash val="solid"/>
          </a:ln>
        </p:spPr>
      </p:sp>
      <p:sp>
        <p:nvSpPr>
          <p:cNvPr id="109" name="export-label-0">
            <a:extLst xmlns:a="http://schemas.openxmlformats.org/drawingml/2006/main">
              <a:ext uri="{FF2B5EF4-FFF2-40B4-BE49-F238E27FC236}">
                <a16:creationId xmlns:a16="http://schemas.microsoft.com/office/drawing/2014/main" id="{9CEE1344-B11A-454D-83E9-5258987B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800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4660A"/>
                </a:solidFill>
              </a:defRPr>
            </a:pPr>
            <a:r>
              <a:rPr sz="900" b="1">
                <a:solidFill>
                  <a:srgbClr val="A4660A"/>
                </a:solidFill>
              </a:rPr>
              <a:t>TBL</a:t>
            </a:r>
          </a:p>
        </p:txBody>
      </p:sp>
      <p:sp>
        <p:nvSpPr>
          <p:cNvPr id="110" name="export-1">
            <a:extLst xmlns:a="http://schemas.openxmlformats.org/drawingml/2006/main">
              <a:ext uri="{FF2B5EF4-FFF2-40B4-BE49-F238E27FC236}">
                <a16:creationId xmlns:a16="http://schemas.microsoft.com/office/drawing/2014/main" id="{653524E6-76EE-4BAE-B752-AC3B03F9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09825"/>
            <a:ext cx="6286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C7CBC7"/>
            </a:solidFill>
            <a:prstDash val="solid"/>
          </a:ln>
        </p:spPr>
      </p:sp>
      <p:sp>
        <p:nvSpPr>
          <p:cNvPr id="111" name="export-label-1">
            <a:extLst xmlns:a="http://schemas.openxmlformats.org/drawingml/2006/main">
              <a:ext uri="{FF2B5EF4-FFF2-40B4-BE49-F238E27FC236}">
                <a16:creationId xmlns:a16="http://schemas.microsoft.com/office/drawing/2014/main" id="{8CBD22BE-E4F0-4791-9C67-7D80FFC3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581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83B5C"/>
                </a:solidFill>
              </a:defRPr>
            </a:pPr>
            <a:r>
              <a:rPr sz="788" b="1">
                <a:solidFill>
                  <a:srgbClr val="183B5C"/>
                </a:solidFill>
              </a:rPr>
              <a:t>MD</a:t>
            </a:r>
          </a:p>
        </p:txBody>
      </p:sp>
      <p:sp>
        <p:nvSpPr>
          <p:cNvPr id="112" name="export-2">
            <a:extLst xmlns:a="http://schemas.openxmlformats.org/drawingml/2006/main">
              <a:ext uri="{FF2B5EF4-FFF2-40B4-BE49-F238E27FC236}">
                <a16:creationId xmlns:a16="http://schemas.microsoft.com/office/drawing/2014/main" id="{98ACC30A-A833-42F3-BB19-79EC0C2C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90875"/>
            <a:ext cx="6286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C7CBC7"/>
            </a:solidFill>
            <a:prstDash val="solid"/>
          </a:ln>
        </p:spPr>
      </p:sp>
      <p:sp>
        <p:nvSpPr>
          <p:cNvPr id="113" name="export-label-2">
            <a:extLst xmlns:a="http://schemas.openxmlformats.org/drawingml/2006/main">
              <a:ext uri="{FF2B5EF4-FFF2-40B4-BE49-F238E27FC236}">
                <a16:creationId xmlns:a16="http://schemas.microsoft.com/office/drawing/2014/main" id="{C03D0486-0D24-4CA1-8AEF-38373D5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623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83B5C"/>
                </a:solidFill>
              </a:defRPr>
            </a:pPr>
            <a:r>
              <a:rPr sz="788" b="1">
                <a:solidFill>
                  <a:srgbClr val="183B5C"/>
                </a:solidFill>
              </a:rPr>
              <a:t>JSON</a:t>
            </a:r>
          </a:p>
        </p:txBody>
      </p:sp>
      <p:sp>
        <p:nvSpPr>
          <p:cNvPr id="114" name="export-3">
            <a:extLst xmlns:a="http://schemas.openxmlformats.org/drawingml/2006/main">
              <a:ext uri="{FF2B5EF4-FFF2-40B4-BE49-F238E27FC236}">
                <a16:creationId xmlns:a16="http://schemas.microsoft.com/office/drawing/2014/main" id="{AD5CF342-E8A7-4E9C-A373-76281D30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71925"/>
            <a:ext cx="6286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C7CBC7"/>
            </a:solidFill>
            <a:prstDash val="solid"/>
          </a:ln>
        </p:spPr>
      </p:sp>
      <p:sp>
        <p:nvSpPr>
          <p:cNvPr id="115" name="export-label-3">
            <a:extLst xmlns:a="http://schemas.openxmlformats.org/drawingml/2006/main">
              <a:ext uri="{FF2B5EF4-FFF2-40B4-BE49-F238E27FC236}">
                <a16:creationId xmlns:a16="http://schemas.microsoft.com/office/drawing/2014/main" id="{50E22A1C-6673-4DA3-B5E4-75C76CA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143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83B5C"/>
                </a:solidFill>
              </a:defRPr>
            </a:pPr>
            <a:r>
              <a:rPr sz="788" b="1">
                <a:solidFill>
                  <a:srgbClr val="183B5C"/>
                </a:solidFill>
              </a:rPr>
              <a:t>CSV</a:t>
            </a:r>
          </a:p>
        </p:txBody>
      </p:sp>
      <p:sp>
        <p:nvSpPr>
          <p:cNvPr id="1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FCDAC26-3775-49D8-A720-06E7B5EA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91B1A"/>
            </a:solidFill>
            <a:prstDash val="solid"/>
          </a:ln>
        </p:spPr>
      </p:sp>
      <p:sp>
        <p:nvSpPr>
          <p:cNvPr id="117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7F59F64-265D-46E5-B14F-D04F612E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81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451"/>
                </a:solidFill>
              </a:defRPr>
            </a:pPr>
            <a:r>
              <a:rPr sz="900" b="1">
                <a:solidFill>
                  <a:srgbClr val="9C3451"/>
                </a:solidFill>
              </a:rPr>
              <a:t>FAILURE SEMANTICS</a:t>
            </a:r>
          </a:p>
        </p:txBody>
      </p:sp>
      <p:sp>
        <p:nvSpPr>
          <p:cNvPr id="118" name="failure-copy">
            <a:extLst xmlns:a="http://schemas.openxmlformats.org/drawingml/2006/main">
              <a:ext uri="{FF2B5EF4-FFF2-40B4-BE49-F238E27FC236}">
                <a16:creationId xmlns:a16="http://schemas.microsoft.com/office/drawing/2014/main" id="{E964BCD7-F030-4103-A426-C9C1B10D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43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B5C"/>
                </a:solidFill>
              </a:defRPr>
            </a:pPr>
            <a:r>
              <a:rPr sz="1050" b="1">
                <a:solidFill>
                  <a:srgbClr val="183B5C"/>
                </a:solidFill>
              </a:rPr>
              <a:t>missing field → partial profile   ·   failed provider → warning   ·   no sourced profile → no report</a:t>
            </a:r>
          </a:p>
        </p:txBody>
      </p:sp>
      <p:sp>
        <p:nvSpPr>
          <p:cNvPr id="119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A4A14432-5F83-46D2-A85F-24A8D1F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451"/>
                </a:solidFill>
              </a:defRPr>
            </a:pPr>
            <a:r>
              <a:rPr sz="900" b="1">
                <a:solidFill>
                  <a:srgbClr val="9C3451"/>
                </a:solidFill>
              </a:rPr>
              <a:t>EVIDENCE BOUNDARY</a:t>
            </a:r>
          </a:p>
        </p:txBody>
      </p:sp>
      <p:sp>
        <p:nvSpPr>
          <p:cNvPr id="120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E86A51E2-6D9C-4342-BC81-8F233E44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24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91B1A"/>
                </a:solidFill>
              </a:defRPr>
            </a:pPr>
            <a:r>
              <a:rPr sz="1013" b="0">
                <a:solidFill>
                  <a:srgbClr val="191B1A"/>
                </a:solidFill>
              </a:rPr>
              <a:t>Complete deterministic fixture—not a live crawl, current market comparison, recommendation-quality study, or factuality evaluation.</a:t>
            </a:r>
          </a:p>
        </p:txBody>
      </p:sp>
      <p:sp>
        <p:nvSpPr>
          <p:cNvPr id="121" name="sources">
            <a:extLst xmlns:a="http://schemas.openxmlformats.org/drawingml/2006/main">
              <a:ext uri="{FF2B5EF4-FFF2-40B4-BE49-F238E27FC236}">
                <a16:creationId xmlns:a16="http://schemas.microsoft.com/office/drawing/2014/main" id="{8A2AC8F3-3187-4E6D-BC10-24A5E8DF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1135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6A67"/>
                </a:solidFill>
              </a:defRPr>
            </a:pPr>
            <a:r>
              <a:rPr sz="750" b="0">
                <a:solidFill>
                  <a:srgbClr val="656A67"/>
                </a:solidFill>
              </a:rPr>
              <a:t>Sources: examples/demo-report.json · src/intellicrawl/pipeline.py · demo.py · renderers.py</a:t>
            </a:r>
          </a:p>
        </p:txBody>
      </p:sp>
    </p:spTree>
    <p:extLst>
      <p:ext uri="{BB962C8B-B14F-4D97-AF65-F5344CB8AC3E}">
        <p14:creationId xmlns:p14="http://schemas.microsoft.com/office/powerpoint/2010/main" val="1093139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2026-07-21T07:01:53.2490000Z</dcterms:created>
  <dcterms:modified xsi:type="dcterms:W3CDTF">2026-07-21T07:01:53.2490000Z</dcterms:modified>
</coreProperties>
</file>