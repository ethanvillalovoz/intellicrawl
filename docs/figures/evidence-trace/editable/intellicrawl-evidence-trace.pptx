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c1590ebacd4b61" /><Relationship Type="http://schemas.openxmlformats.org/officeDocument/2006/relationships/extended-properties" Target="/docProps/app.xml" Id="Rbf8d6c942a6a4af4" /><Relationship Type="http://schemas.openxmlformats.org/officeDocument/2006/relationships/officeDocument" Target="/ppt/presentation.xml" Id="R66ac3772410841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9051e2cdb64471"/>
  </p:sldMasterIdLst>
  <p:notesMasterIdLst>
    <p:notesMasterId xmlns:r="http://schemas.openxmlformats.org/officeDocument/2006/relationships" r:id="Rca785600a9d64195"/>
  </p:notesMasterIdLst>
  <p:sldIdLst>
    <p:sldId xmlns:r="http://schemas.openxmlformats.org/officeDocument/2006/relationships" id="256" r:id="Rc65f6466d3b345c1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98e962ff8964c02" /><Relationship Type="http://schemas.openxmlformats.org/officeDocument/2006/relationships/slideMaster" Target="/ppt/slideMasters/slideMaster1.xml" Id="R709051e2cdb64471" /><Relationship Type="http://schemas.openxmlformats.org/officeDocument/2006/relationships/notesMaster" Target="/ppt/notesMasters/notesMaster1.xml" Id="Rca785600a9d64195" /><Relationship Type="http://schemas.openxmlformats.org/officeDocument/2006/relationships/presProps" Target="/ppt/presProps.xml" Id="Rbb74b4f339c44fed" /><Relationship Type="http://schemas.openxmlformats.org/officeDocument/2006/relationships/tableStyles" Target="/ppt/tableStyles.xml" Id="R96500437eeb34eed" /><Relationship Type="http://schemas.openxmlformats.org/officeDocument/2006/relationships/slide" Target="/ppt/slides/slide1.xml" Id="Rc65f6466d3b345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2af775d06ee456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60c379d85c9540db" /><Relationship Type="http://schemas.openxmlformats.org/officeDocument/2006/relationships/notesMaster" Target="/ppt/notesMasters/notesMaster1.xml" Id="R40aa759d475c4ec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54a6f389844136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8cc4f4b7fc47429f" /><Relationship Type="http://schemas.openxmlformats.org/officeDocument/2006/relationships/slideLayout" Target="/ppt/slideLayouts/slideLayout1.xml" Id="R364b8fe773ec41c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64b8fe773ec41c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3f2061f0fb4575" /><Relationship Type="http://schemas.openxmlformats.org/officeDocument/2006/relationships/notesSlide" Target="/ppt/notesSlides/notesSlide1.xml" Id="R6d8262677b76464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0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4" name="editorial-rail">
            <a:extLst xmlns:a="http://schemas.openxmlformats.org/drawingml/2006/main">
              <a:ext uri="{FF2B5EF4-FFF2-40B4-BE49-F238E27FC236}">
                <a16:creationId xmlns:a16="http://schemas.microsoft.com/office/drawing/2014/main" id="{3EAE890B-2283-44DD-A5A7-B3BC5BE0D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00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63B35"/>
          </a:solidFill>
          <a:ln xmlns:a="http://schemas.openxmlformats.org/drawingml/2006/main" w="9525">
            <a:solidFill>
              <a:srgbClr val="263B35"/>
            </a:solidFill>
            <a:prstDash val="solid"/>
          </a:ln>
        </p:spPr>
      </p:sp>
      <p:sp>
        <p:nvSpPr>
          <p:cNvPr id="2" name="rail-accent">
            <a:extLst xmlns:a="http://schemas.openxmlformats.org/drawingml/2006/main">
              <a:ext uri="{FF2B5EF4-FFF2-40B4-BE49-F238E27FC236}">
                <a16:creationId xmlns:a16="http://schemas.microsoft.com/office/drawing/2014/main" id="{C5048EFA-EE45-47F2-880C-C1B080A3F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143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6653E"/>
          </a:solidFill>
          <a:ln xmlns:a="http://schemas.openxmlformats.org/drawingml/2006/main" w="9525">
            <a:solidFill>
              <a:srgbClr val="C6653E"/>
            </a:solidFill>
            <a:prstDash val="solid"/>
          </a:ln>
        </p:spPr>
      </p:sp>
      <p:sp>
        <p:nvSpPr>
          <p:cNvPr id="3" name="rail-kicker">
            <a:extLst xmlns:a="http://schemas.openxmlformats.org/drawingml/2006/main">
              <a:ext uri="{FF2B5EF4-FFF2-40B4-BE49-F238E27FC236}">
                <a16:creationId xmlns:a16="http://schemas.microsoft.com/office/drawing/2014/main" id="{8B74C024-3FCA-42D0-9479-0051BF000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33375"/>
            <a:ext cx="1809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C8D8D0"/>
                </a:solidFill>
              </a:defRPr>
            </a:pPr>
            <a:r>
              <a:rPr sz="788" b="1">
                <a:solidFill>
                  <a:srgbClr val="C8D8D0"/>
                </a:solidFill>
              </a:rPr>
              <a:t>SYSTEM MAP · CODE-GROUNDED</a:t>
            </a:r>
          </a:p>
        </p:txBody>
      </p:sp>
      <p:sp>
        <p:nvSpPr>
          <p:cNvPr id="4" name="rail-title">
            <a:extLst xmlns:a="http://schemas.openxmlformats.org/drawingml/2006/main">
              <a:ext uri="{FF2B5EF4-FFF2-40B4-BE49-F238E27FC236}">
                <a16:creationId xmlns:a16="http://schemas.microsoft.com/office/drawing/2014/main" id="{888755AE-3826-44AC-8478-72E28AD2D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95325"/>
            <a:ext cx="1809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>
                <a:solidFill>
                  <a:srgbClr val="FFFDF8"/>
                </a:solidFill>
              </a:defRPr>
            </a:pPr>
            <a:r>
              <a:rPr sz="2100" b="1">
                <a:solidFill>
                  <a:srgbClr val="FFFDF8"/>
                </a:solidFill>
              </a:rPr>
              <a:t>IntelliCrawl</a:t>
            </a:r>
          </a:p>
          <a:p xmlns:a="http://schemas.openxmlformats.org/drawingml/2006/main">
            <a:pPr algn="l">
              <a:defRPr sz="2100" b="1">
                <a:solidFill>
                  <a:srgbClr val="FFFDF8"/>
                </a:solidFill>
              </a:defRPr>
            </a:pPr>
            <a:r>
              <a:rPr sz="2100" b="1">
                <a:solidFill>
                  <a:srgbClr val="FFFDF8"/>
                </a:solidFill>
              </a:rPr>
              <a:t>research graph</a:t>
            </a:r>
          </a:p>
        </p:txBody>
      </p:sp>
      <p:sp>
        <p:nvSpPr>
          <p:cNvPr id="5" name="rail-copy">
            <a:extLst xmlns:a="http://schemas.openxmlformats.org/drawingml/2006/main">
              <a:ext uri="{FF2B5EF4-FFF2-40B4-BE49-F238E27FC236}">
                <a16:creationId xmlns:a16="http://schemas.microsoft.com/office/drawing/2014/main" id="{38112ACD-72B8-4264-80A8-1CC87FF6B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1771650"/>
            <a:ext cx="17526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D8E3DE"/>
                </a:solidFill>
              </a:defRPr>
            </a:pPr>
            <a:r>
              <a:rPr sz="975" b="0">
                <a:solidFill>
                  <a:srgbClr val="D8E3DE"/>
                </a:solidFill>
              </a:rPr>
              <a:t>One LangGraph owns control flow. Providers can change without changing the graph.</a:t>
            </a:r>
          </a:p>
        </p:txBody>
      </p:sp>
      <p:sp>
        <p:nvSpPr>
          <p:cNvPr id="6" name="rail-rule">
            <a:extLst xmlns:a="http://schemas.openxmlformats.org/drawingml/2006/main">
              <a:ext uri="{FF2B5EF4-FFF2-40B4-BE49-F238E27FC236}">
                <a16:creationId xmlns:a16="http://schemas.microsoft.com/office/drawing/2014/main" id="{F79F303D-7DDF-4106-A76A-A2A84B4EF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66700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8076"/>
            </a:solidFill>
            <a:prstDash val="solid"/>
          </a:ln>
        </p:spPr>
      </p:sp>
      <p:sp>
        <p:nvSpPr>
          <p:cNvPr id="7" name="rail-assemblies">
            <a:extLst xmlns:a="http://schemas.openxmlformats.org/drawingml/2006/main">
              <a:ext uri="{FF2B5EF4-FFF2-40B4-BE49-F238E27FC236}">
                <a16:creationId xmlns:a16="http://schemas.microsoft.com/office/drawing/2014/main" id="{AE3B9B4A-7DBF-4A5E-BB30-DCF12D888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287655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AFC4BA"/>
                </a:solidFill>
              </a:defRPr>
            </a:pPr>
            <a:r>
              <a:rPr sz="788" b="1">
                <a:solidFill>
                  <a:srgbClr val="AFC4BA"/>
                </a:solidFill>
              </a:rPr>
              <a:t>PROVIDER ASSEMBLIES</a:t>
            </a:r>
          </a:p>
        </p:txBody>
      </p:sp>
      <p:sp>
        <p:nvSpPr>
          <p:cNvPr id="8" name="rail-demo">
            <a:extLst xmlns:a="http://schemas.openxmlformats.org/drawingml/2006/main">
              <a:ext uri="{FF2B5EF4-FFF2-40B4-BE49-F238E27FC236}">
                <a16:creationId xmlns:a16="http://schemas.microsoft.com/office/drawing/2014/main" id="{3908851B-0D92-47F5-B0B3-1AFA92FC0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20992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A9D1AE"/>
                </a:solidFill>
              </a:defRPr>
            </a:pPr>
            <a:r>
              <a:rPr sz="750" b="1">
                <a:solidFill>
                  <a:srgbClr val="A9D1AE"/>
                </a:solidFill>
              </a:rPr>
              <a:t>DEMO</a:t>
            </a:r>
          </a:p>
        </p:txBody>
      </p:sp>
      <p:sp>
        <p:nvSpPr>
          <p:cNvPr id="9" name="rail-demo-copy">
            <a:extLst xmlns:a="http://schemas.openxmlformats.org/drawingml/2006/main">
              <a:ext uri="{FF2B5EF4-FFF2-40B4-BE49-F238E27FC236}">
                <a16:creationId xmlns:a16="http://schemas.microsoft.com/office/drawing/2014/main" id="{86CD9237-FDFA-4E34-AAEC-7CC66CDB6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181350"/>
            <a:ext cx="12192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FFDF8"/>
                </a:solidFill>
              </a:defRPr>
            </a:pPr>
            <a:r>
              <a:rPr sz="863" b="0">
                <a:solidFill>
                  <a:srgbClr val="FFFDF8"/>
                </a:solidFill>
              </a:rPr>
              <a:t>deterministic search</a:t>
            </a:r>
          </a:p>
          <a:p xmlns:a="http://schemas.openxmlformats.org/drawingml/2006/main">
            <a:pPr algn="l">
              <a:defRPr sz="863" b="0">
                <a:solidFill>
                  <a:srgbClr val="FFFDF8"/>
                </a:solidFill>
              </a:defRPr>
            </a:pPr>
            <a:r>
              <a:rPr sz="863" b="0">
                <a:solidFill>
                  <a:srgbClr val="FFFDF8"/>
                </a:solidFill>
              </a:rPr>
              <a:t>+ analysis fixtures</a:t>
            </a:r>
          </a:p>
        </p:txBody>
      </p:sp>
      <p:sp>
        <p:nvSpPr>
          <p:cNvPr id="10" name="rail-live">
            <a:extLst xmlns:a="http://schemas.openxmlformats.org/drawingml/2006/main">
              <a:ext uri="{FF2B5EF4-FFF2-40B4-BE49-F238E27FC236}">
                <a16:creationId xmlns:a16="http://schemas.microsoft.com/office/drawing/2014/main" id="{4BA49A36-3210-4CB8-8BA4-CEE9B4E86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3781425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1">
                <a:solidFill>
                  <a:srgbClr val="F2A077"/>
                </a:solidFill>
              </a:defRPr>
            </a:pPr>
            <a:r>
              <a:rPr sz="750" b="1">
                <a:solidFill>
                  <a:srgbClr val="F2A077"/>
                </a:solidFill>
              </a:rPr>
              <a:t>LIVE</a:t>
            </a:r>
          </a:p>
        </p:txBody>
      </p:sp>
      <p:sp>
        <p:nvSpPr>
          <p:cNvPr id="11" name="rail-live-copy">
            <a:extLst xmlns:a="http://schemas.openxmlformats.org/drawingml/2006/main">
              <a:ext uri="{FF2B5EF4-FFF2-40B4-BE49-F238E27FC236}">
                <a16:creationId xmlns:a16="http://schemas.microsoft.com/office/drawing/2014/main" id="{B7D02D0B-8269-4040-B667-08DF05F48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52850"/>
            <a:ext cx="1257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63" b="0">
                <a:solidFill>
                  <a:srgbClr val="FFFDF8"/>
                </a:solidFill>
              </a:defRPr>
            </a:pPr>
            <a:r>
              <a:rPr sz="863" b="0">
                <a:solidFill>
                  <a:srgbClr val="FFFDF8"/>
                </a:solidFill>
              </a:rPr>
              <a:t>Firecrawl + cache</a:t>
            </a:r>
          </a:p>
          <a:p xmlns:a="http://schemas.openxmlformats.org/drawingml/2006/main">
            <a:pPr algn="l">
              <a:defRPr sz="863" b="0">
                <a:solidFill>
                  <a:srgbClr val="FFFDF8"/>
                </a:solidFill>
              </a:defRPr>
            </a:pPr>
            <a:r>
              <a:rPr sz="863" b="0">
                <a:solidFill>
                  <a:srgbClr val="FFFDF8"/>
                </a:solidFill>
              </a:rPr>
              <a:t>OpenAI structured output</a:t>
            </a:r>
          </a:p>
        </p:txBody>
      </p:sp>
      <p:sp>
        <p:nvSpPr>
          <p:cNvPr id="12" name="rail-rule-2">
            <a:extLst xmlns:a="http://schemas.openxmlformats.org/drawingml/2006/main">
              <a:ext uri="{FF2B5EF4-FFF2-40B4-BE49-F238E27FC236}">
                <a16:creationId xmlns:a16="http://schemas.microsoft.com/office/drawing/2014/main" id="{8B58D728-569A-4CB2-B6AA-41E573331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400550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1430">
            <a:solidFill>
              <a:srgbClr val="648076"/>
            </a:solidFill>
            <a:prstDash val="solid"/>
          </a:ln>
        </p:spPr>
      </p:sp>
      <p:sp>
        <p:nvSpPr>
          <p:cNvPr id="13" name="rail-interfaces">
            <a:extLst xmlns:a="http://schemas.openxmlformats.org/drawingml/2006/main">
              <a:ext uri="{FF2B5EF4-FFF2-40B4-BE49-F238E27FC236}">
                <a16:creationId xmlns:a16="http://schemas.microsoft.com/office/drawing/2014/main" id="{27D4F76E-4D48-4BAC-B874-7C048EF6A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6101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88" b="1">
                <a:solidFill>
                  <a:srgbClr val="AFC4BA"/>
                </a:solidFill>
              </a:defRPr>
            </a:pPr>
            <a:r>
              <a:rPr sz="788" b="1">
                <a:solidFill>
                  <a:srgbClr val="AFC4BA"/>
                </a:solidFill>
              </a:rPr>
              <a:t>REPLACEABLE PORTS</a:t>
            </a:r>
          </a:p>
        </p:txBody>
      </p:sp>
      <p:sp>
        <p:nvSpPr>
          <p:cNvPr id="14" name="rail-search">
            <a:extLst xmlns:a="http://schemas.openxmlformats.org/drawingml/2006/main">
              <a:ext uri="{FF2B5EF4-FFF2-40B4-BE49-F238E27FC236}">
                <a16:creationId xmlns:a16="http://schemas.microsoft.com/office/drawing/2014/main" id="{54AF017C-6C0B-4BAF-B259-91827C051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495300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DF8"/>
                </a:solidFill>
              </a:defRPr>
            </a:pPr>
            <a:r>
              <a:rPr sz="900" b="1">
                <a:solidFill>
                  <a:srgbClr val="FFFDF8"/>
                </a:solidFill>
              </a:rPr>
              <a:t>SearchProvider</a:t>
            </a:r>
          </a:p>
        </p:txBody>
      </p:sp>
      <p:sp>
        <p:nvSpPr>
          <p:cNvPr id="15" name="rail-source">
            <a:extLst xmlns:a="http://schemas.openxmlformats.org/drawingml/2006/main">
              <a:ext uri="{FF2B5EF4-FFF2-40B4-BE49-F238E27FC236}">
                <a16:creationId xmlns:a16="http://schemas.microsoft.com/office/drawing/2014/main" id="{CDAC75F6-D20A-4F36-AE85-5AE53143C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191125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8D8D0"/>
                </a:solidFill>
              </a:defRPr>
            </a:pPr>
            <a:r>
              <a:rPr sz="750" b="0">
                <a:solidFill>
                  <a:srgbClr val="C8D8D0"/>
                </a:solidFill>
              </a:rPr>
              <a:t>→ SourceDocument[]</a:t>
            </a:r>
          </a:p>
        </p:txBody>
      </p:sp>
      <p:sp>
        <p:nvSpPr>
          <p:cNvPr id="16" name="rail-analysis">
            <a:extLst xmlns:a="http://schemas.openxmlformats.org/drawingml/2006/main">
              <a:ext uri="{FF2B5EF4-FFF2-40B4-BE49-F238E27FC236}">
                <a16:creationId xmlns:a16="http://schemas.microsoft.com/office/drawing/2014/main" id="{EC269638-9C3A-4A84-B6D4-0E54159D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50545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>
                <a:solidFill>
                  <a:srgbClr val="FFFDF8"/>
                </a:solidFill>
              </a:defRPr>
            </a:pPr>
            <a:r>
              <a:rPr sz="900" b="1">
                <a:solidFill>
                  <a:srgbClr val="FFFDF8"/>
                </a:solidFill>
              </a:rPr>
              <a:t>AnalysisProvider</a:t>
            </a:r>
          </a:p>
        </p:txBody>
      </p:sp>
      <p:sp>
        <p:nvSpPr>
          <p:cNvPr id="17" name="rail-schema">
            <a:extLst xmlns:a="http://schemas.openxmlformats.org/drawingml/2006/main">
              <a:ext uri="{FF2B5EF4-FFF2-40B4-BE49-F238E27FC236}">
                <a16:creationId xmlns:a16="http://schemas.microsoft.com/office/drawing/2014/main" id="{BD0CEC5F-9192-4358-980A-ED796389D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5743575"/>
            <a:ext cx="142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C8D8D0"/>
                </a:solidFill>
              </a:defRPr>
            </a:pPr>
            <a:r>
              <a:rPr sz="750" b="0">
                <a:solidFill>
                  <a:srgbClr val="C8D8D0"/>
                </a:solidFill>
              </a:rPr>
              <a:t>→ typed schemas</a:t>
            </a:r>
          </a:p>
        </p:txBody>
      </p:sp>
      <p:sp>
        <p:nvSpPr>
          <p:cNvPr id="18" name="rail-foot">
            <a:extLst xmlns:a="http://schemas.openxmlformats.org/drawingml/2006/main">
              <a:ext uri="{FF2B5EF4-FFF2-40B4-BE49-F238E27FC236}">
                <a16:creationId xmlns:a16="http://schemas.microsoft.com/office/drawing/2014/main" id="{27EA839D-E1AA-483C-BD10-9B32EA6E0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" y="6381750"/>
            <a:ext cx="1752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0">
                <a:solidFill>
                  <a:srgbClr val="9FB5AA"/>
                </a:solidFill>
              </a:defRPr>
            </a:pPr>
            <a:r>
              <a:rPr sz="713" b="0">
                <a:solidFill>
                  <a:srgbClr val="9FB5AA"/>
                </a:solidFill>
              </a:rPr>
              <a:t>Public web content remains untrusted input.</a:t>
            </a:r>
          </a:p>
        </p:txBody>
      </p:sp>
      <p:sp>
        <p:nvSpPr>
          <p:cNvPr id="19" name="discover-research">
            <a:extLst xmlns:a="http://schemas.openxmlformats.org/drawingml/2006/main">
              <a:ext uri="{FF2B5EF4-FFF2-40B4-BE49-F238E27FC236}">
                <a16:creationId xmlns:a16="http://schemas.microsoft.com/office/drawing/2014/main" id="{D704B8A2-C8A9-4FE3-ADBC-AF115A7FE2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1914525"/>
            <a:ext cx="8667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52725D"/>
          </a:solidFill>
          <a:ln xmlns:a="http://schemas.openxmlformats.org/drawingml/2006/main" w="0">
            <a:solidFill>
              <a:srgbClr val="52725D"/>
            </a:solidFill>
            <a:prstDash val="solid"/>
          </a:ln>
        </p:spPr>
      </p:sp>
      <p:sp>
        <p:nvSpPr>
          <p:cNvPr id="20" name="research-recommend">
            <a:extLst xmlns:a="http://schemas.openxmlformats.org/drawingml/2006/main">
              <a:ext uri="{FF2B5EF4-FFF2-40B4-BE49-F238E27FC236}">
                <a16:creationId xmlns:a16="http://schemas.microsoft.com/office/drawing/2014/main" id="{4616D20B-CA2B-44A1-BC05-88983533F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914525"/>
            <a:ext cx="79057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C6653E"/>
          </a:solidFill>
          <a:ln xmlns:a="http://schemas.openxmlformats.org/drawingml/2006/main" w="0">
            <a:solidFill>
              <a:srgbClr val="C6653E"/>
            </a:solidFill>
            <a:prstDash val="solid"/>
          </a:ln>
        </p:spPr>
      </p:sp>
      <p:sp>
        <p:nvSpPr>
          <p:cNvPr id="21" name="recommend-report">
            <a:extLst xmlns:a="http://schemas.openxmlformats.org/drawingml/2006/main">
              <a:ext uri="{FF2B5EF4-FFF2-40B4-BE49-F238E27FC236}">
                <a16:creationId xmlns:a16="http://schemas.microsoft.com/office/drawing/2014/main" id="{420A8459-5BDC-44F3-A1F6-BF25B6FE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1914525"/>
            <a:ext cx="581025" cy="1143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6D536F"/>
          </a:solidFill>
          <a:ln xmlns:a="http://schemas.openxmlformats.org/drawingml/2006/main" w="0">
            <a:solidFill>
              <a:srgbClr val="6D536F"/>
            </a:solidFill>
            <a:prstDash val="solid"/>
          </a:ln>
        </p:spPr>
      </p:sp>
      <p:sp>
        <p:nvSpPr>
          <p:cNvPr id="22" name="port-search-a">
            <a:extLst xmlns:a="http://schemas.openxmlformats.org/drawingml/2006/main">
              <a:ext uri="{FF2B5EF4-FFF2-40B4-BE49-F238E27FC236}">
                <a16:creationId xmlns:a16="http://schemas.microsoft.com/office/drawing/2014/main" id="{31DD95DF-6971-445D-8B40-DF16181A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048250"/>
            <a:ext cx="666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52725D"/>
            </a:solidFill>
            <a:prstDash val="solid"/>
          </a:ln>
        </p:spPr>
      </p:sp>
      <p:sp>
        <p:nvSpPr>
          <p:cNvPr id="23" name="port-search-b">
            <a:extLst xmlns:a="http://schemas.openxmlformats.org/drawingml/2006/main">
              <a:ext uri="{FF2B5EF4-FFF2-40B4-BE49-F238E27FC236}">
                <a16:creationId xmlns:a16="http://schemas.microsoft.com/office/drawing/2014/main" id="{02C59DBB-BA73-4049-BAE1-A797143DA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52625"/>
            <a:ext cx="0" cy="3095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52725D"/>
            </a:solidFill>
            <a:prstDash val="solid"/>
          </a:ln>
        </p:spPr>
      </p:sp>
      <p:sp>
        <p:nvSpPr>
          <p:cNvPr id="24" name="port-search-c">
            <a:extLst xmlns:a="http://schemas.openxmlformats.org/drawingml/2006/main">
              <a:ext uri="{FF2B5EF4-FFF2-40B4-BE49-F238E27FC236}">
                <a16:creationId xmlns:a16="http://schemas.microsoft.com/office/drawing/2014/main" id="{68E6320B-0BA3-4C31-927C-15CFB82C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952625"/>
            <a:ext cx="4476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52725D"/>
            </a:solidFill>
            <a:prstDash val="solid"/>
          </a:ln>
        </p:spPr>
      </p:sp>
      <p:sp>
        <p:nvSpPr>
          <p:cNvPr id="25" name="port-analysis-a">
            <a:extLst xmlns:a="http://schemas.openxmlformats.org/drawingml/2006/main">
              <a:ext uri="{FF2B5EF4-FFF2-40B4-BE49-F238E27FC236}">
                <a16:creationId xmlns:a16="http://schemas.microsoft.com/office/drawing/2014/main" id="{17968206-1026-4789-BDFD-56B758484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619750"/>
            <a:ext cx="952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6653E"/>
            </a:solidFill>
            <a:prstDash val="solid"/>
          </a:ln>
        </p:spPr>
      </p:sp>
      <p:sp>
        <p:nvSpPr>
          <p:cNvPr id="26" name="port-analysis-b">
            <a:extLst xmlns:a="http://schemas.openxmlformats.org/drawingml/2006/main">
              <a:ext uri="{FF2B5EF4-FFF2-40B4-BE49-F238E27FC236}">
                <a16:creationId xmlns:a16="http://schemas.microsoft.com/office/drawing/2014/main" id="{AED36863-DCA5-4C1C-AC69-4833073A1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43000"/>
            <a:ext cx="0" cy="4476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6653E"/>
            </a:solidFill>
            <a:prstDash val="solid"/>
          </a:ln>
        </p:spPr>
      </p:sp>
      <p:sp>
        <p:nvSpPr>
          <p:cNvPr id="27" name="port-analysis-c">
            <a:extLst xmlns:a="http://schemas.openxmlformats.org/drawingml/2006/main">
              <a:ext uri="{FF2B5EF4-FFF2-40B4-BE49-F238E27FC236}">
                <a16:creationId xmlns:a16="http://schemas.microsoft.com/office/drawing/2014/main" id="{AC44FA31-07CC-4B16-A530-EC912B99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143000"/>
            <a:ext cx="35623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6653E"/>
            </a:solidFill>
            <a:prstDash val="solid"/>
          </a:ln>
        </p:spPr>
      </p:sp>
      <p:sp>
        <p:nvSpPr>
          <p:cNvPr id="28" name="port-analysis-d">
            <a:extLst xmlns:a="http://schemas.openxmlformats.org/drawingml/2006/main">
              <a:ext uri="{FF2B5EF4-FFF2-40B4-BE49-F238E27FC236}">
                <a16:creationId xmlns:a16="http://schemas.microsoft.com/office/drawing/2014/main" id="{62BA6CBA-4332-4251-9CB3-EA63B255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143000"/>
            <a:ext cx="0" cy="4572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6653E"/>
            </a:solidFill>
            <a:prstDash val="solid"/>
          </a:ln>
        </p:spPr>
      </p:sp>
      <p:sp>
        <p:nvSpPr>
          <p:cNvPr id="29" name="research-fan-stem">
            <a:extLst xmlns:a="http://schemas.openxmlformats.org/drawingml/2006/main">
              <a:ext uri="{FF2B5EF4-FFF2-40B4-BE49-F238E27FC236}">
                <a16:creationId xmlns:a16="http://schemas.microsoft.com/office/drawing/2014/main" id="{3AD52359-810C-4EAD-B62E-2376716E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2867025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6653E"/>
            </a:solidFill>
            <a:prstDash val="solid"/>
          </a:ln>
        </p:spPr>
      </p:sp>
      <p:sp>
        <p:nvSpPr>
          <p:cNvPr id="30" name="research-fan-bus">
            <a:extLst xmlns:a="http://schemas.openxmlformats.org/drawingml/2006/main">
              <a:ext uri="{FF2B5EF4-FFF2-40B4-BE49-F238E27FC236}">
                <a16:creationId xmlns:a16="http://schemas.microsoft.com/office/drawing/2014/main" id="{FE2B19B0-F298-4401-9D63-F987CD5B39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6653E"/>
            </a:solidFill>
            <a:prstDash val="solid"/>
          </a:ln>
        </p:spPr>
      </p:sp>
      <p:sp>
        <p:nvSpPr>
          <p:cNvPr id="31" name="research-fan-a">
            <a:extLst xmlns:a="http://schemas.openxmlformats.org/drawingml/2006/main">
              <a:ext uri="{FF2B5EF4-FFF2-40B4-BE49-F238E27FC236}">
                <a16:creationId xmlns:a16="http://schemas.microsoft.com/office/drawing/2014/main" id="{D604D4F6-A0BE-4ADD-982C-5836D5489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347662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6653E"/>
            </a:solidFill>
            <a:prstDash val="solid"/>
          </a:ln>
        </p:spPr>
      </p:sp>
      <p:sp>
        <p:nvSpPr>
          <p:cNvPr id="32" name="research-fan-b">
            <a:extLst xmlns:a="http://schemas.openxmlformats.org/drawingml/2006/main">
              <a:ext uri="{FF2B5EF4-FFF2-40B4-BE49-F238E27FC236}">
                <a16:creationId xmlns:a16="http://schemas.microsoft.com/office/drawing/2014/main" id="{7C7D120F-CB83-4F1C-AAFB-6F806EB03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347662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6653E"/>
            </a:solidFill>
            <a:prstDash val="solid"/>
          </a:ln>
        </p:spPr>
      </p:sp>
      <p:sp>
        <p:nvSpPr>
          <p:cNvPr id="33" name="research-fan-c">
            <a:extLst xmlns:a="http://schemas.openxmlformats.org/drawingml/2006/main">
              <a:ext uri="{FF2B5EF4-FFF2-40B4-BE49-F238E27FC236}">
                <a16:creationId xmlns:a16="http://schemas.microsoft.com/office/drawing/2014/main" id="{6D09C502-C9CC-45C8-9D61-D30C07D3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476625"/>
            <a:ext cx="0" cy="33337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6193">
            <a:solidFill>
              <a:srgbClr val="C6653E"/>
            </a:solidFill>
            <a:prstDash val="solid"/>
          </a:ln>
        </p:spPr>
      </p:sp>
      <p:sp>
        <p:nvSpPr>
          <p:cNvPr id="34" name="tool-a-report">
            <a:extLst xmlns:a="http://schemas.openxmlformats.org/drawingml/2006/main">
              <a:ext uri="{FF2B5EF4-FFF2-40B4-BE49-F238E27FC236}">
                <a16:creationId xmlns:a16="http://schemas.microsoft.com/office/drawing/2014/main" id="{C57C6A71-D4BD-4972-8034-5B6FFF37A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5148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653E"/>
            </a:solidFill>
            <a:prstDash val="solid"/>
          </a:ln>
        </p:spPr>
      </p:sp>
      <p:sp>
        <p:nvSpPr>
          <p:cNvPr id="35" name="tool-b-report">
            <a:extLst xmlns:a="http://schemas.openxmlformats.org/drawingml/2006/main">
              <a:ext uri="{FF2B5EF4-FFF2-40B4-BE49-F238E27FC236}">
                <a16:creationId xmlns:a16="http://schemas.microsoft.com/office/drawing/2014/main" id="{37E9C19D-E6F2-4BBB-B477-E933D4EA8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14850"/>
            <a:ext cx="0" cy="6477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653E"/>
            </a:solidFill>
            <a:prstDash val="solid"/>
          </a:ln>
        </p:spPr>
      </p:sp>
      <p:sp>
        <p:nvSpPr>
          <p:cNvPr id="36" name="tool-c-report">
            <a:extLst xmlns:a="http://schemas.openxmlformats.org/drawingml/2006/main">
              <a:ext uri="{FF2B5EF4-FFF2-40B4-BE49-F238E27FC236}">
                <a16:creationId xmlns:a16="http://schemas.microsoft.com/office/drawing/2014/main" id="{B0DF8526-BD77-4C90-9FA6-F34311C8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514850"/>
            <a:ext cx="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653E"/>
            </a:solidFill>
            <a:prstDash val="solid"/>
          </a:ln>
        </p:spPr>
      </p:sp>
      <p:sp>
        <p:nvSpPr>
          <p:cNvPr id="37" name="tool-report-bus">
            <a:extLst xmlns:a="http://schemas.openxmlformats.org/drawingml/2006/main">
              <a:ext uri="{FF2B5EF4-FFF2-40B4-BE49-F238E27FC236}">
                <a16:creationId xmlns:a16="http://schemas.microsoft.com/office/drawing/2014/main" id="{9A9D3983-1EBC-4AD8-8C95-EC5949083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4857750"/>
            <a:ext cx="255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6653E"/>
            </a:solidFill>
            <a:prstDash val="solid"/>
          </a:ln>
        </p:spPr>
      </p:sp>
      <p:sp>
        <p:nvSpPr>
          <p:cNvPr id="38" name="report-renderers">
            <a:extLst xmlns:a="http://schemas.openxmlformats.org/drawingml/2006/main">
              <a:ext uri="{FF2B5EF4-FFF2-40B4-BE49-F238E27FC236}">
                <a16:creationId xmlns:a16="http://schemas.microsoft.com/office/drawing/2014/main" id="{C8B69344-FF88-49C1-8AE3-1B255C4B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77575" y="4286250"/>
            <a:ext cx="95250" cy="36195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47A1B"/>
          </a:solidFill>
          <a:ln xmlns:a="http://schemas.openxmlformats.org/drawingml/2006/main" w="0">
            <a:solidFill>
              <a:srgbClr val="B47A1B"/>
            </a:solidFill>
            <a:prstDash val="solid"/>
          </a:ln>
        </p:spPr>
      </p:sp>
      <p:sp>
        <p:nvSpPr>
          <p:cNvPr id="39" name="map-label">
            <a:extLst xmlns:a="http://schemas.openxmlformats.org/drawingml/2006/main">
              <a:ext uri="{FF2B5EF4-FFF2-40B4-BE49-F238E27FC236}">
                <a16:creationId xmlns:a16="http://schemas.microsoft.com/office/drawing/2014/main" id="{B258B445-C865-48AD-91D9-9F1FF401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04800"/>
            <a:ext cx="5905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>
                <a:solidFill>
                  <a:srgbClr val="9E3F2F"/>
                </a:solidFill>
              </a:defRPr>
            </a:pPr>
            <a:r>
              <a:rPr sz="825" b="1">
                <a:solidFill>
                  <a:srgbClr val="9E3F2F"/>
                </a:solidFill>
              </a:rPr>
              <a:t>DISCOVER → PROFILE IN PARALLEL → SYNTHESIZE</a:t>
            </a:r>
          </a:p>
        </p:txBody>
      </p:sp>
      <p:sp>
        <p:nvSpPr>
          <p:cNvPr id="40" name="map-note">
            <a:extLst xmlns:a="http://schemas.openxmlformats.org/drawingml/2006/main">
              <a:ext uri="{FF2B5EF4-FFF2-40B4-BE49-F238E27FC236}">
                <a16:creationId xmlns:a16="http://schemas.microsoft.com/office/drawing/2014/main" id="{6010102C-C2E4-4A01-AB93-179BC2C75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58102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>
                <a:solidFill>
                  <a:srgbClr val="6B665F"/>
                </a:solidFill>
              </a:defRPr>
            </a:pPr>
            <a:r>
              <a:rPr sz="1125" b="0">
                <a:solidFill>
                  <a:srgbClr val="6B665F"/>
                </a:solidFill>
              </a:rPr>
              <a:t>The node graph is stable across demo and live modes.</a:t>
            </a:r>
          </a:p>
        </p:txBody>
      </p:sp>
      <p:sp>
        <p:nvSpPr>
          <p:cNvPr id="41" name="graph-type">
            <a:extLst xmlns:a="http://schemas.openxmlformats.org/drawingml/2006/main">
              <a:ext uri="{FF2B5EF4-FFF2-40B4-BE49-F238E27FC236}">
                <a16:creationId xmlns:a16="http://schemas.microsoft.com/office/drawing/2014/main" id="{78E1D4AF-3CCC-40A6-81C7-FA3A32B6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71475"/>
            <a:ext cx="2228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863" b="1">
                <a:solidFill>
                  <a:srgbClr val="52725D"/>
                </a:solidFill>
              </a:defRPr>
            </a:pPr>
            <a:r>
              <a:rPr sz="863" b="1">
                <a:solidFill>
                  <a:srgbClr val="52725D"/>
                </a:solidFill>
              </a:rPr>
              <a:t>ResearchPipeline / LangGraph</a:t>
            </a:r>
          </a:p>
        </p:txBody>
      </p:sp>
      <p:sp>
        <p:nvSpPr>
          <p:cNvPr id="42" name="discover-circle">
            <a:extLst xmlns:a="http://schemas.openxmlformats.org/drawingml/2006/main">
              <a:ext uri="{FF2B5EF4-FFF2-40B4-BE49-F238E27FC236}">
                <a16:creationId xmlns:a16="http://schemas.microsoft.com/office/drawing/2014/main" id="{95E9E978-7F83-4E22-B4D0-BC01A25C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5175" y="1181100"/>
            <a:ext cx="1581150" cy="15811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DE8DC"/>
          </a:solidFill>
          <a:ln xmlns:a="http://schemas.openxmlformats.org/drawingml/2006/main" w="16193">
            <a:solidFill>
              <a:srgbClr val="52725D"/>
            </a:solidFill>
            <a:prstDash val="solid"/>
          </a:ln>
        </p:spPr>
      </p:sp>
      <p:sp>
        <p:nvSpPr>
          <p:cNvPr id="43" name="discover-step">
            <a:extLst xmlns:a="http://schemas.openxmlformats.org/drawingml/2006/main">
              <a:ext uri="{FF2B5EF4-FFF2-40B4-BE49-F238E27FC236}">
                <a16:creationId xmlns:a16="http://schemas.microsoft.com/office/drawing/2014/main" id="{5B58CC69-31FF-4E3C-B115-115B5730B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3144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2725D"/>
          </a:solidFill>
          <a:ln xmlns:a="http://schemas.openxmlformats.org/drawingml/2006/main" w="0">
            <a:solidFill>
              <a:srgbClr val="52725D"/>
            </a:solidFill>
            <a:prstDash val="solid"/>
          </a:ln>
        </p:spPr>
      </p:sp>
      <p:sp>
        <p:nvSpPr>
          <p:cNvPr id="44" name="discover-step-text">
            <a:extLst xmlns:a="http://schemas.openxmlformats.org/drawingml/2006/main">
              <a:ext uri="{FF2B5EF4-FFF2-40B4-BE49-F238E27FC236}">
                <a16:creationId xmlns:a16="http://schemas.microsoft.com/office/drawing/2014/main" id="{35B63E1A-52B3-45C7-9639-7C2E632E5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8525" y="1371600"/>
            <a:ext cx="2762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DF8"/>
                </a:solidFill>
              </a:defRPr>
            </a:pPr>
            <a:r>
              <a:rPr sz="750" b="1">
                <a:solidFill>
                  <a:srgbClr val="FFFDF8"/>
                </a:solidFill>
              </a:rPr>
              <a:t>1</a:t>
            </a:r>
          </a:p>
        </p:txBody>
      </p:sp>
      <p:sp>
        <p:nvSpPr>
          <p:cNvPr id="45" name="discover-title">
            <a:extLst xmlns:a="http://schemas.openxmlformats.org/drawingml/2006/main">
              <a:ext uri="{FF2B5EF4-FFF2-40B4-BE49-F238E27FC236}">
                <a16:creationId xmlns:a16="http://schemas.microsoft.com/office/drawing/2014/main" id="{5FF9CB34-E371-4F78-BF8A-B71D6D808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1743075"/>
            <a:ext cx="11049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2725D"/>
                </a:solidFill>
              </a:defRPr>
            </a:pPr>
            <a:r>
              <a:rPr sz="1125" b="1">
                <a:solidFill>
                  <a:srgbClr val="52725D"/>
                </a:solidFill>
              </a:rPr>
              <a:t>Discover</a:t>
            </a:r>
          </a:p>
        </p:txBody>
      </p:sp>
      <p:sp>
        <p:nvSpPr>
          <p:cNvPr id="46" name="discover-body">
            <a:extLst xmlns:a="http://schemas.openxmlformats.org/drawingml/2006/main">
              <a:ext uri="{FF2B5EF4-FFF2-40B4-BE49-F238E27FC236}">
                <a16:creationId xmlns:a16="http://schemas.microsoft.com/office/drawing/2014/main" id="{D3EDBF2D-2A61-44AD-932D-D5329D3C0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3775" y="2095500"/>
            <a:ext cx="1123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normalize query</a:t>
            </a:r>
          </a:p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search comparison docs</a:t>
            </a:r>
          </a:p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deduplicate 1–6 tools</a:t>
            </a:r>
          </a:p>
        </p:txBody>
      </p:sp>
      <p:sp>
        <p:nvSpPr>
          <p:cNvPr id="47" name="research-circle">
            <a:extLst xmlns:a="http://schemas.openxmlformats.org/drawingml/2006/main">
              <a:ext uri="{FF2B5EF4-FFF2-40B4-BE49-F238E27FC236}">
                <a16:creationId xmlns:a16="http://schemas.microsoft.com/office/drawing/2014/main" id="{73CB9764-4CEE-4FE5-8CB1-CA0B542A4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00725" y="1066800"/>
            <a:ext cx="1809750" cy="18097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1DDD1"/>
          </a:solidFill>
          <a:ln xmlns:a="http://schemas.openxmlformats.org/drawingml/2006/main" w="16193">
            <a:solidFill>
              <a:srgbClr val="C6653E"/>
            </a:solidFill>
            <a:prstDash val="solid"/>
          </a:ln>
        </p:spPr>
      </p:sp>
      <p:sp>
        <p:nvSpPr>
          <p:cNvPr id="48" name="research-step">
            <a:extLst xmlns:a="http://schemas.openxmlformats.org/drawingml/2006/main">
              <a:ext uri="{FF2B5EF4-FFF2-40B4-BE49-F238E27FC236}">
                <a16:creationId xmlns:a16="http://schemas.microsoft.com/office/drawing/2014/main" id="{7FC7FBA6-4A01-41C2-8217-9D1F8DA3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2001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6653E"/>
          </a:solidFill>
          <a:ln xmlns:a="http://schemas.openxmlformats.org/drawingml/2006/main" w="0">
            <a:solidFill>
              <a:srgbClr val="C6653E"/>
            </a:solidFill>
            <a:prstDash val="solid"/>
          </a:ln>
        </p:spPr>
      </p:sp>
      <p:sp>
        <p:nvSpPr>
          <p:cNvPr id="49" name="research-step-text">
            <a:extLst xmlns:a="http://schemas.openxmlformats.org/drawingml/2006/main">
              <a:ext uri="{FF2B5EF4-FFF2-40B4-BE49-F238E27FC236}">
                <a16:creationId xmlns:a16="http://schemas.microsoft.com/office/drawing/2014/main" id="{77F5FAE0-80CD-4FE1-A26F-853C56D03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34075" y="1257300"/>
            <a:ext cx="2762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DF8"/>
                </a:solidFill>
              </a:defRPr>
            </a:pPr>
            <a:r>
              <a:rPr sz="750" b="1">
                <a:solidFill>
                  <a:srgbClr val="FFFDF8"/>
                </a:solidFill>
              </a:rPr>
              <a:t>2</a:t>
            </a:r>
          </a:p>
        </p:txBody>
      </p:sp>
      <p:sp>
        <p:nvSpPr>
          <p:cNvPr id="50" name="research-title">
            <a:extLst xmlns:a="http://schemas.openxmlformats.org/drawingml/2006/main">
              <a:ext uri="{FF2B5EF4-FFF2-40B4-BE49-F238E27FC236}">
                <a16:creationId xmlns:a16="http://schemas.microsoft.com/office/drawing/2014/main" id="{3AAD2F59-65C1-4DE7-840D-5F4D25AFF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1743075"/>
            <a:ext cx="1333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C6653E"/>
                </a:solidFill>
              </a:defRPr>
            </a:pPr>
            <a:r>
              <a:rPr sz="1125" b="1">
                <a:solidFill>
                  <a:srgbClr val="C6653E"/>
                </a:solidFill>
              </a:rPr>
              <a:t>Research</a:t>
            </a:r>
          </a:p>
        </p:txBody>
      </p:sp>
      <p:sp>
        <p:nvSpPr>
          <p:cNvPr id="51" name="research-body">
            <a:extLst xmlns:a="http://schemas.openxmlformats.org/drawingml/2006/main">
              <a:ext uri="{FF2B5EF4-FFF2-40B4-BE49-F238E27FC236}">
                <a16:creationId xmlns:a16="http://schemas.microsoft.com/office/drawing/2014/main" id="{930F7966-706C-4F0B-8E4C-253A52794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29325" y="2095500"/>
            <a:ext cx="13525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asyncio.gather</a:t>
            </a:r>
          </a:p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bounded per-tool work</a:t>
            </a:r>
          </a:p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search + analyze</a:t>
            </a:r>
          </a:p>
        </p:txBody>
      </p:sp>
      <p:sp>
        <p:nvSpPr>
          <p:cNvPr id="52" name="recommend-circle">
            <a:extLst xmlns:a="http://schemas.openxmlformats.org/drawingml/2006/main">
              <a:ext uri="{FF2B5EF4-FFF2-40B4-BE49-F238E27FC236}">
                <a16:creationId xmlns:a16="http://schemas.microsoft.com/office/drawing/2014/main" id="{A205DDD0-8A68-42B6-8FB8-9EE9EE25D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48675" y="1219200"/>
            <a:ext cx="1504950" cy="1504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E0EB"/>
          </a:solidFill>
          <a:ln xmlns:a="http://schemas.openxmlformats.org/drawingml/2006/main" w="16193">
            <a:solidFill>
              <a:srgbClr val="6D536F"/>
            </a:solidFill>
            <a:prstDash val="solid"/>
          </a:ln>
        </p:spPr>
      </p:sp>
      <p:sp>
        <p:nvSpPr>
          <p:cNvPr id="53" name="recommend-step">
            <a:extLst xmlns:a="http://schemas.openxmlformats.org/drawingml/2006/main">
              <a:ext uri="{FF2B5EF4-FFF2-40B4-BE49-F238E27FC236}">
                <a16:creationId xmlns:a16="http://schemas.microsoft.com/office/drawing/2014/main" id="{80915262-16E1-4117-B293-3E9FD1DE5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352550"/>
            <a:ext cx="276225" cy="276225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D536F"/>
          </a:solidFill>
          <a:ln xmlns:a="http://schemas.openxmlformats.org/drawingml/2006/main" w="0">
            <a:solidFill>
              <a:srgbClr val="6D536F"/>
            </a:solidFill>
            <a:prstDash val="solid"/>
          </a:ln>
        </p:spPr>
      </p:sp>
      <p:sp>
        <p:nvSpPr>
          <p:cNvPr id="54" name="recommend-step-text">
            <a:extLst xmlns:a="http://schemas.openxmlformats.org/drawingml/2006/main">
              <a:ext uri="{FF2B5EF4-FFF2-40B4-BE49-F238E27FC236}">
                <a16:creationId xmlns:a16="http://schemas.microsoft.com/office/drawing/2014/main" id="{7742FB5D-C4E1-4917-8EF9-FA154753B0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82025" y="1409700"/>
            <a:ext cx="276225" cy="161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>
                <a:solidFill>
                  <a:srgbClr val="FFFDF8"/>
                </a:solidFill>
              </a:defRPr>
            </a:pPr>
            <a:r>
              <a:rPr sz="750" b="1">
                <a:solidFill>
                  <a:srgbClr val="FFFDF8"/>
                </a:solidFill>
              </a:rPr>
              <a:t>3</a:t>
            </a:r>
          </a:p>
        </p:txBody>
      </p:sp>
      <p:sp>
        <p:nvSpPr>
          <p:cNvPr id="55" name="recommend-title">
            <a:extLst xmlns:a="http://schemas.openxmlformats.org/drawingml/2006/main">
              <a:ext uri="{FF2B5EF4-FFF2-40B4-BE49-F238E27FC236}">
                <a16:creationId xmlns:a16="http://schemas.microsoft.com/office/drawing/2014/main" id="{AD376469-67E6-4596-981D-DD60D5DBD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743075"/>
            <a:ext cx="10287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56" name="recommend-body">
            <a:extLst xmlns:a="http://schemas.openxmlformats.org/drawingml/2006/main">
              <a:ext uri="{FF2B5EF4-FFF2-40B4-BE49-F238E27FC236}">
                <a16:creationId xmlns:a16="http://schemas.microsoft.com/office/drawing/2014/main" id="{84E23C81-9CA1-4F75-819E-79A91BBCFC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2095500"/>
            <a:ext cx="1047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validated ToolReport[]</a:t>
            </a:r>
          </a:p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neutral fallback</a:t>
            </a:r>
          </a:p>
          <a:p xmlns:a="http://schemas.openxmlformats.org/drawingml/2006/main">
            <a:pPr algn="ctr">
              <a:defRPr sz="788" b="0">
                <a:solidFill>
                  <a:srgbClr val="6B665F"/>
                </a:solidFill>
              </a:defRPr>
            </a:pPr>
            <a:r>
              <a:rPr sz="788" b="0">
                <a:solidFill>
                  <a:srgbClr val="6B665F"/>
                </a:solidFill>
              </a:rPr>
              <a:t>on provider failure</a:t>
            </a:r>
          </a:p>
        </p:txBody>
      </p:sp>
      <p:sp>
        <p:nvSpPr>
          <p:cNvPr id="57" name="recommend-title-fix">
            <a:extLst xmlns:a="http://schemas.openxmlformats.org/drawingml/2006/main">
              <a:ext uri="{FF2B5EF4-FFF2-40B4-BE49-F238E27FC236}">
                <a16:creationId xmlns:a16="http://schemas.microsoft.com/office/drawing/2014/main" id="{4FD308D2-598B-4AFA-809C-231D6DB2D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58225" y="180022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75" b="1">
                <a:solidFill>
                  <a:srgbClr val="6D536F"/>
                </a:solidFill>
              </a:defRPr>
            </a:pPr>
            <a:r>
              <a:rPr sz="975" b="1">
                <a:solidFill>
                  <a:srgbClr val="6D536F"/>
                </a:solidFill>
              </a:rPr>
              <a:t>Recommend</a:t>
            </a:r>
          </a:p>
        </p:txBody>
      </p:sp>
      <p:sp>
        <p:nvSpPr>
          <p:cNvPr id="58" name="fanout-label">
            <a:extLst xmlns:a="http://schemas.openxmlformats.org/drawingml/2006/main">
              <a:ext uri="{FF2B5EF4-FFF2-40B4-BE49-F238E27FC236}">
                <a16:creationId xmlns:a16="http://schemas.microsoft.com/office/drawing/2014/main" id="{7989EEEC-EE37-4A57-AC2E-6FFECC913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14325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88" b="1">
                <a:solidFill>
                  <a:srgbClr val="C6653E"/>
                </a:solidFill>
              </a:defRPr>
            </a:pPr>
            <a:r>
              <a:rPr sz="788" b="1">
                <a:solidFill>
                  <a:srgbClr val="C6653E"/>
                </a:solidFill>
              </a:rPr>
              <a:t>parallel tool workers</a:t>
            </a:r>
          </a:p>
        </p:txBody>
      </p:sp>
      <p:sp>
        <p:nvSpPr>
          <p:cNvPr id="59" name="tool-0">
            <a:extLst xmlns:a="http://schemas.openxmlformats.org/drawingml/2006/main">
              <a:ext uri="{FF2B5EF4-FFF2-40B4-BE49-F238E27FC236}">
                <a16:creationId xmlns:a16="http://schemas.microsoft.com/office/drawing/2014/main" id="{46B3DF49-540E-4B05-B8C8-86E517CED8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3810000"/>
            <a:ext cx="80010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383">
            <a:solidFill>
              <a:srgbClr val="C6653E"/>
            </a:solidFill>
            <a:prstDash val="solid"/>
          </a:ln>
        </p:spPr>
      </p:sp>
      <p:sp>
        <p:nvSpPr>
          <p:cNvPr id="60" name="tool-0-title">
            <a:extLst xmlns:a="http://schemas.openxmlformats.org/drawingml/2006/main">
              <a:ext uri="{FF2B5EF4-FFF2-40B4-BE49-F238E27FC236}">
                <a16:creationId xmlns:a16="http://schemas.microsoft.com/office/drawing/2014/main" id="{194EA016-28BA-41D8-823A-5778B5EA4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9814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4211D"/>
                </a:solidFill>
              </a:defRPr>
            </a:pPr>
            <a:r>
              <a:rPr sz="863" b="1">
                <a:solidFill>
                  <a:srgbClr val="24211D"/>
                </a:solidFill>
              </a:rPr>
              <a:t>tool A</a:t>
            </a:r>
          </a:p>
        </p:txBody>
      </p:sp>
      <p:sp>
        <p:nvSpPr>
          <p:cNvPr id="61" name="tool-0-copy">
            <a:extLst xmlns:a="http://schemas.openxmlformats.org/drawingml/2006/main">
              <a:ext uri="{FF2B5EF4-FFF2-40B4-BE49-F238E27FC236}">
                <a16:creationId xmlns:a16="http://schemas.microsoft.com/office/drawing/2014/main" id="{FDA68FB3-1131-4E89-9E86-D301D78F8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41910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search</a:t>
            </a:r>
          </a:p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+ analyze</a:t>
            </a:r>
          </a:p>
        </p:txBody>
      </p:sp>
      <p:sp>
        <p:nvSpPr>
          <p:cNvPr id="62" name="tool-1">
            <a:extLst xmlns:a="http://schemas.openxmlformats.org/drawingml/2006/main">
              <a:ext uri="{FF2B5EF4-FFF2-40B4-BE49-F238E27FC236}">
                <a16:creationId xmlns:a16="http://schemas.microsoft.com/office/drawing/2014/main" id="{B659195A-ED33-4CB8-84C9-71DF8F493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810000"/>
            <a:ext cx="80010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383">
            <a:solidFill>
              <a:srgbClr val="C6653E"/>
            </a:solidFill>
            <a:prstDash val="solid"/>
          </a:ln>
        </p:spPr>
      </p:sp>
      <p:sp>
        <p:nvSpPr>
          <p:cNvPr id="63" name="tool-1-title">
            <a:extLst xmlns:a="http://schemas.openxmlformats.org/drawingml/2006/main">
              <a:ext uri="{FF2B5EF4-FFF2-40B4-BE49-F238E27FC236}">
                <a16:creationId xmlns:a16="http://schemas.microsoft.com/office/drawing/2014/main" id="{3435F7E0-F58F-4F0C-891E-CD4B1B70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814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4211D"/>
                </a:solidFill>
              </a:defRPr>
            </a:pPr>
            <a:r>
              <a:rPr sz="863" b="1">
                <a:solidFill>
                  <a:srgbClr val="24211D"/>
                </a:solidFill>
              </a:rPr>
              <a:t>tool B</a:t>
            </a:r>
          </a:p>
        </p:txBody>
      </p:sp>
      <p:sp>
        <p:nvSpPr>
          <p:cNvPr id="64" name="tool-1-copy">
            <a:extLst xmlns:a="http://schemas.openxmlformats.org/drawingml/2006/main">
              <a:ext uri="{FF2B5EF4-FFF2-40B4-BE49-F238E27FC236}">
                <a16:creationId xmlns:a16="http://schemas.microsoft.com/office/drawing/2014/main" id="{415EB914-A69A-45FE-A1CA-34DBCC382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1910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search</a:t>
            </a:r>
          </a:p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+ analyze</a:t>
            </a:r>
          </a:p>
        </p:txBody>
      </p:sp>
      <p:sp>
        <p:nvSpPr>
          <p:cNvPr id="65" name="tool-2">
            <a:extLst xmlns:a="http://schemas.openxmlformats.org/drawingml/2006/main">
              <a:ext uri="{FF2B5EF4-FFF2-40B4-BE49-F238E27FC236}">
                <a16:creationId xmlns:a16="http://schemas.microsoft.com/office/drawing/2014/main" id="{0ED1036D-B660-44D0-93B2-8F4693C0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81900" y="3810000"/>
            <a:ext cx="800100" cy="704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2383">
            <a:solidFill>
              <a:srgbClr val="C6653E"/>
            </a:solidFill>
            <a:prstDash val="solid"/>
          </a:ln>
        </p:spPr>
      </p:sp>
      <p:sp>
        <p:nvSpPr>
          <p:cNvPr id="66" name="tool-2-title">
            <a:extLst xmlns:a="http://schemas.openxmlformats.org/drawingml/2006/main">
              <a:ext uri="{FF2B5EF4-FFF2-40B4-BE49-F238E27FC236}">
                <a16:creationId xmlns:a16="http://schemas.microsoft.com/office/drawing/2014/main" id="{69940375-97BB-4C47-A13B-7C23674F2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3981450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24211D"/>
                </a:solidFill>
              </a:defRPr>
            </a:pPr>
            <a:r>
              <a:rPr sz="863" b="1">
                <a:solidFill>
                  <a:srgbClr val="24211D"/>
                </a:solidFill>
              </a:rPr>
              <a:t>tool N</a:t>
            </a:r>
          </a:p>
        </p:txBody>
      </p:sp>
      <p:sp>
        <p:nvSpPr>
          <p:cNvPr id="67" name="tool-2-copy">
            <a:extLst xmlns:a="http://schemas.openxmlformats.org/drawingml/2006/main">
              <a:ext uri="{FF2B5EF4-FFF2-40B4-BE49-F238E27FC236}">
                <a16:creationId xmlns:a16="http://schemas.microsoft.com/office/drawing/2014/main" id="{A9360F6E-DE66-46DE-9E56-84C0A13D7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419100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search</a:t>
            </a:r>
          </a:p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+ analyze</a:t>
            </a:r>
          </a:p>
        </p:txBody>
      </p:sp>
      <p:sp>
        <p:nvSpPr>
          <p:cNvPr id="68" name="tool-report">
            <a:extLst xmlns:a="http://schemas.openxmlformats.org/drawingml/2006/main">
              <a:ext uri="{FF2B5EF4-FFF2-40B4-BE49-F238E27FC236}">
                <a16:creationId xmlns:a16="http://schemas.microsoft.com/office/drawing/2014/main" id="{5776A80B-EE85-4201-BB17-8AA828A27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5162550"/>
            <a:ext cx="1409700" cy="514350"/>
          </a:xfrm>
          <a:prstGeom xmlns:a="http://schemas.openxmlformats.org/drawingml/2006/main" prst="roundRect">
            <a:avLst>
              <a:gd name="adj" fmla="val 2592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6D536F"/>
            </a:solidFill>
            <a:prstDash val="solid"/>
          </a:ln>
        </p:spPr>
      </p:sp>
      <p:sp>
        <p:nvSpPr>
          <p:cNvPr id="69" name="tool-report-title">
            <a:extLst xmlns:a="http://schemas.openxmlformats.org/drawingml/2006/main">
              <a:ext uri="{FF2B5EF4-FFF2-40B4-BE49-F238E27FC236}">
                <a16:creationId xmlns:a16="http://schemas.microsoft.com/office/drawing/2014/main" id="{B6F20F6D-B0B5-4A20-94B8-F2F6925E9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5257800"/>
            <a:ext cx="1104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938" b="1">
                <a:solidFill>
                  <a:srgbClr val="6D536F"/>
                </a:solidFill>
              </a:defRPr>
            </a:pPr>
            <a:r>
              <a:rPr sz="938" b="1">
                <a:solidFill>
                  <a:srgbClr val="6D536F"/>
                </a:solidFill>
              </a:rPr>
              <a:t>ToolReport[]</a:t>
            </a:r>
          </a:p>
        </p:txBody>
      </p:sp>
      <p:sp>
        <p:nvSpPr>
          <p:cNvPr id="70" name="tool-report-copy">
            <a:extLst xmlns:a="http://schemas.openxmlformats.org/drawingml/2006/main">
              <a:ext uri="{FF2B5EF4-FFF2-40B4-BE49-F238E27FC236}">
                <a16:creationId xmlns:a16="http://schemas.microsoft.com/office/drawing/2014/main" id="{40F95BC2-39E1-4829-8481-DBED4BCF1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48300"/>
            <a:ext cx="12192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53" b="0">
                <a:solidFill>
                  <a:srgbClr val="6B665F"/>
                </a:solidFill>
              </a:defRPr>
            </a:pPr>
            <a:r>
              <a:rPr sz="653" b="0">
                <a:solidFill>
                  <a:srgbClr val="6B665F"/>
                </a:solidFill>
              </a:rPr>
              <a:t>unknown IDs rejected</a:t>
            </a:r>
          </a:p>
        </p:txBody>
      </p:sp>
      <p:sp>
        <p:nvSpPr>
          <p:cNvPr id="71" name="public-url-note">
            <a:extLst xmlns:a="http://schemas.openxmlformats.org/drawingml/2006/main">
              <a:ext uri="{FF2B5EF4-FFF2-40B4-BE49-F238E27FC236}">
                <a16:creationId xmlns:a16="http://schemas.microsoft.com/office/drawing/2014/main" id="{2AA53233-E986-4EB8-90E9-F0FCC392A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695825"/>
            <a:ext cx="1695450" cy="590550"/>
          </a:xfrm>
          <a:prstGeom xmlns:a="http://schemas.openxmlformats.org/drawingml/2006/main" prst="roundRect">
            <a:avLst>
              <a:gd name="adj" fmla="val 11290"/>
            </a:avLst>
          </a:prstGeom>
          <a:solidFill xmlns:a="http://schemas.openxmlformats.org/drawingml/2006/main">
            <a:srgbClr val="E6E0D5"/>
          </a:solidFill>
          <a:ln xmlns:a="http://schemas.openxmlformats.org/drawingml/2006/main" w="9525">
            <a:solidFill>
              <a:srgbClr val="B9B0A2"/>
            </a:solidFill>
            <a:prstDash val="solid"/>
          </a:ln>
        </p:spPr>
      </p:sp>
      <p:sp>
        <p:nvSpPr>
          <p:cNvPr id="72" name="public-url-head">
            <a:extLst xmlns:a="http://schemas.openxmlformats.org/drawingml/2006/main">
              <a:ext uri="{FF2B5EF4-FFF2-40B4-BE49-F238E27FC236}">
                <a16:creationId xmlns:a16="http://schemas.microsoft.com/office/drawing/2014/main" id="{FF832F79-8D2D-46B0-9629-132C68DCE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10125"/>
            <a:ext cx="142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52725D"/>
                </a:solidFill>
              </a:defRPr>
            </a:pPr>
            <a:r>
              <a:rPr sz="713" b="1">
                <a:solidFill>
                  <a:srgbClr val="52725D"/>
                </a:solidFill>
              </a:rPr>
              <a:t>PUBLIC URL GATE</a:t>
            </a:r>
          </a:p>
        </p:txBody>
      </p:sp>
      <p:sp>
        <p:nvSpPr>
          <p:cNvPr id="73" name="public-url-copy">
            <a:extLst xmlns:a="http://schemas.openxmlformats.org/drawingml/2006/main">
              <a:ext uri="{FF2B5EF4-FFF2-40B4-BE49-F238E27FC236}">
                <a16:creationId xmlns:a16="http://schemas.microsoft.com/office/drawing/2014/main" id="{F4CF988C-5E6F-429D-8B5B-FDA154CB8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010150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6B665F"/>
                </a:solidFill>
              </a:defRPr>
            </a:pPr>
            <a:r>
              <a:rPr sz="698" b="0">
                <a:solidFill>
                  <a:srgbClr val="6B665F"/>
                </a:solidFill>
              </a:rPr>
              <a:t>reject local, private, reserved, or credentialed targets</a:t>
            </a:r>
          </a:p>
        </p:txBody>
      </p:sp>
      <p:sp>
        <p:nvSpPr>
          <p:cNvPr id="74" name="partial-note">
            <a:extLst xmlns:a="http://schemas.openxmlformats.org/drawingml/2006/main">
              <a:ext uri="{FF2B5EF4-FFF2-40B4-BE49-F238E27FC236}">
                <a16:creationId xmlns:a16="http://schemas.microsoft.com/office/drawing/2014/main" id="{0FEE5E33-4AB3-46DB-AEE5-1E81EBF5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5095875"/>
            <a:ext cx="1952625" cy="609600"/>
          </a:xfrm>
          <a:prstGeom xmlns:a="http://schemas.openxmlformats.org/drawingml/2006/main" prst="roundRect">
            <a:avLst>
              <a:gd name="adj" fmla="val 10938"/>
            </a:avLst>
          </a:prstGeom>
          <a:solidFill xmlns:a="http://schemas.openxmlformats.org/drawingml/2006/main">
            <a:srgbClr val="F1DDD1"/>
          </a:solidFill>
          <a:ln xmlns:a="http://schemas.openxmlformats.org/drawingml/2006/main" w="9525">
            <a:solidFill>
              <a:srgbClr val="C6653E"/>
            </a:solidFill>
            <a:prstDash val="solid"/>
          </a:ln>
        </p:spPr>
      </p:sp>
      <p:sp>
        <p:nvSpPr>
          <p:cNvPr id="75" name="partial-head">
            <a:extLst xmlns:a="http://schemas.openxmlformats.org/drawingml/2006/main">
              <a:ext uri="{FF2B5EF4-FFF2-40B4-BE49-F238E27FC236}">
                <a16:creationId xmlns:a16="http://schemas.microsoft.com/office/drawing/2014/main" id="{5021699A-EA0F-4874-BFEC-0B01B9F63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219700"/>
            <a:ext cx="16764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13" b="1">
                <a:solidFill>
                  <a:srgbClr val="C6653E"/>
                </a:solidFill>
              </a:defRPr>
            </a:pPr>
            <a:r>
              <a:rPr sz="713" b="1">
                <a:solidFill>
                  <a:srgbClr val="C6653E"/>
                </a:solidFill>
              </a:rPr>
              <a:t>DEGRADED RUN</a:t>
            </a:r>
          </a:p>
        </p:txBody>
      </p:sp>
      <p:sp>
        <p:nvSpPr>
          <p:cNvPr id="76" name="partial-copy">
            <a:extLst xmlns:a="http://schemas.openxmlformats.org/drawingml/2006/main">
              <a:ext uri="{FF2B5EF4-FFF2-40B4-BE49-F238E27FC236}">
                <a16:creationId xmlns:a16="http://schemas.microsoft.com/office/drawing/2014/main" id="{C1114DBC-60EE-46DF-9FB6-E42E16993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419725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8" b="0">
                <a:solidFill>
                  <a:srgbClr val="6B665F"/>
                </a:solidFill>
              </a:defRPr>
            </a:pPr>
            <a:r>
              <a:rPr sz="698" b="0">
                <a:solidFill>
                  <a:srgbClr val="6B665F"/>
                </a:solidFill>
              </a:rPr>
              <a:t>failed tools become warnings; sourced profiles continue</a:t>
            </a:r>
          </a:p>
        </p:txBody>
      </p:sp>
      <p:sp>
        <p:nvSpPr>
          <p:cNvPr id="77" name="research-report">
            <a:extLst xmlns:a="http://schemas.openxmlformats.org/drawingml/2006/main">
              <a:ext uri="{FF2B5EF4-FFF2-40B4-BE49-F238E27FC236}">
                <a16:creationId xmlns:a16="http://schemas.microsoft.com/office/drawing/2014/main" id="{D829A7B3-11F5-493B-8260-38294E1D8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25125" y="1381125"/>
            <a:ext cx="1200150" cy="1476375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5E6BE"/>
          </a:solidFill>
          <a:ln xmlns:a="http://schemas.openxmlformats.org/drawingml/2006/main" w="16193">
            <a:solidFill>
              <a:srgbClr val="B47A1B"/>
            </a:solidFill>
            <a:prstDash val="solid"/>
          </a:ln>
        </p:spPr>
      </p:sp>
      <p:sp>
        <p:nvSpPr>
          <p:cNvPr id="78" name="report-type">
            <a:extLst xmlns:a="http://schemas.openxmlformats.org/drawingml/2006/main">
              <a:ext uri="{FF2B5EF4-FFF2-40B4-BE49-F238E27FC236}">
                <a16:creationId xmlns:a16="http://schemas.microsoft.com/office/drawing/2014/main" id="{2EE9A487-D492-4F19-B453-17F4751ED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8475" y="1533525"/>
            <a:ext cx="9334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B47A1B"/>
                </a:solidFill>
              </a:defRPr>
            </a:pPr>
            <a:r>
              <a:rPr sz="713" b="1">
                <a:solidFill>
                  <a:srgbClr val="B47A1B"/>
                </a:solidFill>
              </a:rPr>
              <a:t>STRICT OUTPUT</a:t>
            </a:r>
          </a:p>
        </p:txBody>
      </p:sp>
      <p:sp>
        <p:nvSpPr>
          <p:cNvPr id="79" name="report-title">
            <a:extLst xmlns:a="http://schemas.openxmlformats.org/drawingml/2006/main">
              <a:ext uri="{FF2B5EF4-FFF2-40B4-BE49-F238E27FC236}">
                <a16:creationId xmlns:a16="http://schemas.microsoft.com/office/drawing/2014/main" id="{EE3E3D9F-388E-4D69-A942-9A0AA8178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1809750"/>
            <a:ext cx="1066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63" b="1">
                <a:solidFill>
                  <a:srgbClr val="24211D"/>
                </a:solidFill>
              </a:defRPr>
            </a:pPr>
            <a:r>
              <a:rPr sz="1163" b="1">
                <a:solidFill>
                  <a:srgbClr val="24211D"/>
                </a:solidFill>
              </a:rPr>
              <a:t>Research</a:t>
            </a:r>
          </a:p>
          <a:p xmlns:a="http://schemas.openxmlformats.org/drawingml/2006/main">
            <a:pPr algn="ctr">
              <a:defRPr sz="1163" b="1">
                <a:solidFill>
                  <a:srgbClr val="24211D"/>
                </a:solidFill>
              </a:defRPr>
            </a:pPr>
            <a:r>
              <a:rPr sz="1163" b="1">
                <a:solidFill>
                  <a:srgbClr val="24211D"/>
                </a:solidFill>
              </a:rPr>
              <a:t>Report</a:t>
            </a:r>
          </a:p>
        </p:txBody>
      </p:sp>
      <p:sp>
        <p:nvSpPr>
          <p:cNvPr id="80" name="report-copy">
            <a:extLst xmlns:a="http://schemas.openxmlformats.org/drawingml/2006/main">
              <a:ext uri="{FF2B5EF4-FFF2-40B4-BE49-F238E27FC236}">
                <a16:creationId xmlns:a16="http://schemas.microsoft.com/office/drawing/2014/main" id="{6BB1B3D3-CC62-44AF-9B20-E5F21F54A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39425" y="2466975"/>
            <a:ext cx="9715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citations serialized</a:t>
            </a:r>
          </a:p>
          <a:p xmlns:a="http://schemas.openxmlformats.org/drawingml/2006/main">
            <a:pPr algn="ctr">
              <a:defRPr sz="713" b="0">
                <a:solidFill>
                  <a:srgbClr val="6B665F"/>
                </a:solidFill>
              </a:defRPr>
            </a:pPr>
            <a:r>
              <a:rPr sz="713" b="0">
                <a:solidFill>
                  <a:srgbClr val="6B665F"/>
                </a:solidFill>
              </a:rPr>
              <a:t>scraped bodies excluded</a:t>
            </a:r>
          </a:p>
        </p:txBody>
      </p:sp>
      <p:sp>
        <p:nvSpPr>
          <p:cNvPr id="81" name="renderers-label">
            <a:extLst xmlns:a="http://schemas.openxmlformats.org/drawingml/2006/main">
              <a:ext uri="{FF2B5EF4-FFF2-40B4-BE49-F238E27FC236}">
                <a16:creationId xmlns:a16="http://schemas.microsoft.com/office/drawing/2014/main" id="{BD2F75F8-F2AE-4176-8B7D-618F6EBF8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4524375"/>
            <a:ext cx="10668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13" b="1">
                <a:solidFill>
                  <a:srgbClr val="B47A1B"/>
                </a:solidFill>
              </a:defRPr>
            </a:pPr>
            <a:r>
              <a:rPr sz="713" b="1">
                <a:solidFill>
                  <a:srgbClr val="B47A1B"/>
                </a:solidFill>
              </a:rPr>
              <a:t>RENDER AS</a:t>
            </a:r>
          </a:p>
        </p:txBody>
      </p:sp>
      <p:sp>
        <p:nvSpPr>
          <p:cNvPr id="82" name="renderer-0">
            <a:extLst xmlns:a="http://schemas.openxmlformats.org/drawingml/2006/main">
              <a:ext uri="{FF2B5EF4-FFF2-40B4-BE49-F238E27FC236}">
                <a16:creationId xmlns:a16="http://schemas.microsoft.com/office/drawing/2014/main" id="{5BCF304B-8860-492C-810E-E14DC2358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7625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B47A1B"/>
            </a:solidFill>
            <a:prstDash val="solid"/>
          </a:ln>
        </p:spPr>
      </p:sp>
      <p:sp>
        <p:nvSpPr>
          <p:cNvPr id="83" name="renderer-0-text">
            <a:extLst xmlns:a="http://schemas.openxmlformats.org/drawingml/2006/main">
              <a:ext uri="{FF2B5EF4-FFF2-40B4-BE49-F238E27FC236}">
                <a16:creationId xmlns:a16="http://schemas.microsoft.com/office/drawing/2014/main" id="{5DDACF32-15AE-4AE6-87B3-98579848B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48482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4211D"/>
                </a:solidFill>
              </a:defRPr>
            </a:pPr>
            <a:r>
              <a:rPr sz="735" b="1">
                <a:solidFill>
                  <a:srgbClr val="24211D"/>
                </a:solidFill>
              </a:rPr>
              <a:t>terminal</a:t>
            </a:r>
          </a:p>
        </p:txBody>
      </p:sp>
      <p:sp>
        <p:nvSpPr>
          <p:cNvPr id="84" name="renderer-1">
            <a:extLst xmlns:a="http://schemas.openxmlformats.org/drawingml/2006/main">
              <a:ext uri="{FF2B5EF4-FFF2-40B4-BE49-F238E27FC236}">
                <a16:creationId xmlns:a16="http://schemas.microsoft.com/office/drawing/2014/main" id="{13C23375-729E-46A5-BC63-B479004BB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7625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B47A1B"/>
            </a:solidFill>
            <a:prstDash val="solid"/>
          </a:ln>
        </p:spPr>
      </p:sp>
      <p:sp>
        <p:nvSpPr>
          <p:cNvPr id="85" name="renderer-1-text">
            <a:extLst xmlns:a="http://schemas.openxmlformats.org/drawingml/2006/main">
              <a:ext uri="{FF2B5EF4-FFF2-40B4-BE49-F238E27FC236}">
                <a16:creationId xmlns:a16="http://schemas.microsoft.com/office/drawing/2014/main" id="{DB23B7FB-5F0C-4018-B25A-2EB005AE41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48482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4211D"/>
                </a:solidFill>
              </a:defRPr>
            </a:pPr>
            <a:r>
              <a:rPr sz="735" b="1">
                <a:solidFill>
                  <a:srgbClr val="24211D"/>
                </a:solidFill>
              </a:rPr>
              <a:t>Markdown</a:t>
            </a:r>
          </a:p>
        </p:txBody>
      </p:sp>
      <p:sp>
        <p:nvSpPr>
          <p:cNvPr id="86" name="renderer-2">
            <a:extLst xmlns:a="http://schemas.openxmlformats.org/drawingml/2006/main">
              <a:ext uri="{FF2B5EF4-FFF2-40B4-BE49-F238E27FC236}">
                <a16:creationId xmlns:a16="http://schemas.microsoft.com/office/drawing/2014/main" id="{B41A3292-912F-4B26-9B33-D0785FBA2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51816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B47A1B"/>
            </a:solidFill>
            <a:prstDash val="solid"/>
          </a:ln>
        </p:spPr>
      </p:sp>
      <p:sp>
        <p:nvSpPr>
          <p:cNvPr id="87" name="renderer-2-text">
            <a:extLst xmlns:a="http://schemas.openxmlformats.org/drawingml/2006/main">
              <a:ext uri="{FF2B5EF4-FFF2-40B4-BE49-F238E27FC236}">
                <a16:creationId xmlns:a16="http://schemas.microsoft.com/office/drawing/2014/main" id="{91F02E81-809E-4ADC-9822-DF1663648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53650" y="52673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4211D"/>
                </a:solidFill>
              </a:defRPr>
            </a:pPr>
            <a:r>
              <a:rPr sz="735" b="1">
                <a:solidFill>
                  <a:srgbClr val="24211D"/>
                </a:solidFill>
              </a:rPr>
              <a:t>JSON</a:t>
            </a:r>
          </a:p>
        </p:txBody>
      </p:sp>
      <p:sp>
        <p:nvSpPr>
          <p:cNvPr id="88" name="renderer-3">
            <a:extLst xmlns:a="http://schemas.openxmlformats.org/drawingml/2006/main">
              <a:ext uri="{FF2B5EF4-FFF2-40B4-BE49-F238E27FC236}">
                <a16:creationId xmlns:a16="http://schemas.microsoft.com/office/drawing/2014/main" id="{CCF6687E-5DB7-4C22-B237-AC5AF66AA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5181600"/>
            <a:ext cx="7810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DF8"/>
          </a:solidFill>
          <a:ln xmlns:a="http://schemas.openxmlformats.org/drawingml/2006/main" w="10478">
            <a:solidFill>
              <a:srgbClr val="B47A1B"/>
            </a:solidFill>
            <a:prstDash val="solid"/>
          </a:ln>
        </p:spPr>
      </p:sp>
      <p:sp>
        <p:nvSpPr>
          <p:cNvPr id="89" name="renderer-3-text">
            <a:extLst xmlns:a="http://schemas.openxmlformats.org/drawingml/2006/main">
              <a:ext uri="{FF2B5EF4-FFF2-40B4-BE49-F238E27FC236}">
                <a16:creationId xmlns:a16="http://schemas.microsoft.com/office/drawing/2014/main" id="{6DBAA0BB-659E-4396-A51D-5624B7E3D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10900" y="5267325"/>
            <a:ext cx="666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35" b="1">
                <a:solidFill>
                  <a:srgbClr val="24211D"/>
                </a:solidFill>
              </a:defRPr>
            </a:pPr>
            <a:r>
              <a:rPr sz="735" b="1">
                <a:solidFill>
                  <a:srgbClr val="24211D"/>
                </a:solidFill>
              </a:rPr>
              <a:t>CSV</a:t>
            </a:r>
          </a:p>
        </p:txBody>
      </p:sp>
      <p:sp>
        <p:nvSpPr>
          <p:cNvPr id="90" name="safe-write">
            <a:extLst xmlns:a="http://schemas.openxmlformats.org/drawingml/2006/main">
              <a:ext uri="{FF2B5EF4-FFF2-40B4-BE49-F238E27FC236}">
                <a16:creationId xmlns:a16="http://schemas.microsoft.com/office/drawing/2014/main" id="{2381FB30-EA97-4F4A-9F91-ADBE3EC32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676900"/>
            <a:ext cx="1524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63" b="1">
                <a:solidFill>
                  <a:srgbClr val="52725D"/>
                </a:solidFill>
              </a:defRPr>
            </a:pPr>
            <a:r>
              <a:rPr sz="863" b="1">
                <a:solidFill>
                  <a:srgbClr val="52725D"/>
                </a:solidFill>
              </a:rPr>
              <a:t>write → replace</a:t>
            </a:r>
          </a:p>
        </p:txBody>
      </p:sp>
      <p:sp>
        <p:nvSpPr>
          <p:cNvPr id="91" name="safe-write-copy">
            <a:extLst xmlns:a="http://schemas.openxmlformats.org/drawingml/2006/main">
              <a:ext uri="{FF2B5EF4-FFF2-40B4-BE49-F238E27FC236}">
                <a16:creationId xmlns:a16="http://schemas.microsoft.com/office/drawing/2014/main" id="{21962091-4585-45E5-A4DE-06637E12A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5905500"/>
            <a:ext cx="152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690" b="0">
                <a:solidFill>
                  <a:srgbClr val="6B665F"/>
                </a:solidFill>
              </a:defRPr>
            </a:pPr>
            <a:r>
              <a:rPr sz="690" b="0">
                <a:solidFill>
                  <a:srgbClr val="6B665F"/>
                </a:solidFill>
              </a:rPr>
              <a:t>atomic output boundary</a:t>
            </a:r>
          </a:p>
        </p:txBody>
      </p:sp>
      <p:sp>
        <p:nvSpPr>
          <p:cNvPr id="92" name="caption">
            <a:extLst xmlns:a="http://schemas.openxmlformats.org/drawingml/2006/main">
              <a:ext uri="{FF2B5EF4-FFF2-40B4-BE49-F238E27FC236}">
                <a16:creationId xmlns:a16="http://schemas.microsoft.com/office/drawing/2014/main" id="{BD649E52-B280-448E-ACB6-B7DFF1F8B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191250"/>
            <a:ext cx="857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0">
                <a:solidFill>
                  <a:srgbClr val="24211D"/>
                </a:solidFill>
              </a:defRPr>
            </a:pPr>
            <a:r>
              <a:rPr sz="975" b="0">
                <a:solidFill>
                  <a:srgbClr val="24211D"/>
                </a:solidFill>
              </a:rPr>
              <a:t>Provider implementations plug into a single typed state machine; validation and degraded-run behavior remain inside the graph rather than the UI.</a:t>
            </a:r>
          </a:p>
        </p:txBody>
      </p:sp>
      <p:sp>
        <p:nvSpPr>
          <p:cNvPr id="93" name="sources">
            <a:extLst xmlns:a="http://schemas.openxmlformats.org/drawingml/2006/main">
              <a:ext uri="{FF2B5EF4-FFF2-40B4-BE49-F238E27FC236}">
                <a16:creationId xmlns:a16="http://schemas.microsoft.com/office/drawing/2014/main" id="{BACF6673-34E2-47B6-8AF8-B7EA0CA7E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6610350"/>
            <a:ext cx="857250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90" b="0">
                <a:solidFill>
                  <a:srgbClr val="6B665F"/>
                </a:solidFill>
              </a:defRPr>
            </a:pPr>
            <a:r>
              <a:rPr sz="690" b="0">
                <a:solidFill>
                  <a:srgbClr val="6B665F"/>
                </a:solidFill>
              </a:rPr>
              <a:t>pipeline.py · contracts.py · demo.py · live.py · providers.py · models.py · renderers.py</a:t>
            </a:r>
          </a:p>
        </p:txBody>
      </p:sp>
    </p:spTree>
    <p:extLst>
      <p:ext uri="{BB962C8B-B14F-4D97-AF65-F5344CB8AC3E}">
        <p14:creationId xmlns:p14="http://schemas.microsoft.com/office/powerpoint/2010/main" val="34552969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2026-07-21T08:17:32.4140000Z</dcterms:created>
  <dcterms:modified xsi:type="dcterms:W3CDTF">2026-07-21T08:17:32.4140000Z</dcterms:modified>
</coreProperties>
</file>