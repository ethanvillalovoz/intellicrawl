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87ffb29ba54fbb" /><Relationship Type="http://schemas.openxmlformats.org/officeDocument/2006/relationships/extended-properties" Target="/docProps/app.xml" Id="R6c2608dadfd84a24" /><Relationship Type="http://schemas.openxmlformats.org/officeDocument/2006/relationships/officeDocument" Target="/ppt/presentation.xml" Id="Rf973d48c09a94b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8a7ad03daf4a75"/>
  </p:sldMasterIdLst>
  <p:notesMasterIdLst>
    <p:notesMasterId xmlns:r="http://schemas.openxmlformats.org/officeDocument/2006/relationships" r:id="Rba8c3fdb0a964fa2"/>
  </p:notesMasterIdLst>
  <p:sldIdLst>
    <p:sldId xmlns:r="http://schemas.openxmlformats.org/officeDocument/2006/relationships" id="256" r:id="Rcc3edeaed6b8438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c8647bf0b149bd" /><Relationship Type="http://schemas.openxmlformats.org/officeDocument/2006/relationships/slideMaster" Target="/ppt/slideMasters/slideMaster1.xml" Id="Rc28a7ad03daf4a75" /><Relationship Type="http://schemas.openxmlformats.org/officeDocument/2006/relationships/notesMaster" Target="/ppt/notesMasters/notesMaster1.xml" Id="Rba8c3fdb0a964fa2" /><Relationship Type="http://schemas.openxmlformats.org/officeDocument/2006/relationships/presProps" Target="/ppt/presProps.xml" Id="Rc4f2857ee9b445a3" /><Relationship Type="http://schemas.openxmlformats.org/officeDocument/2006/relationships/tableStyles" Target="/ppt/tableStyles.xml" Id="R326386cfd4e74c2d" /><Relationship Type="http://schemas.openxmlformats.org/officeDocument/2006/relationships/slide" Target="/ppt/slides/slide1.xml" Id="Rcc3edeaed6b843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5da23650ee49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f752bae786418e" /><Relationship Type="http://schemas.openxmlformats.org/officeDocument/2006/relationships/notesMaster" Target="/ppt/notesMasters/notesMaster1.xml" Id="R61ed1f351ec840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824d9d15849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2ff4eaff0741fd" /><Relationship Type="http://schemas.openxmlformats.org/officeDocument/2006/relationships/slideLayout" Target="/ppt/slideLayouts/slideLayout1.xml" Id="R54f6e25696df4d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f6e25696df4d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0afde45b04ce0" /><Relationship Type="http://schemas.openxmlformats.org/officeDocument/2006/relationships/notesSlide" Target="/ppt/notesSlides/notesSlide1.xml" Id="R46fdc157bd3b43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title">
            <a:extLst xmlns:a="http://schemas.openxmlformats.org/drawingml/2006/main">
              <a:ext uri="{FF2B5EF4-FFF2-40B4-BE49-F238E27FC236}">
                <a16:creationId xmlns:a16="http://schemas.microsoft.com/office/drawing/2014/main" id="{0B35D5EE-4BFC-4D02-BD22-22270C9A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8600"/>
            <a:ext cx="904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C2430"/>
                </a:solidFill>
              </a:defRPr>
            </a:pPr>
            <a:r>
              <a:rPr sz="2025" b="1">
                <a:solidFill>
                  <a:srgbClr val="1C2430"/>
                </a:solidFill>
              </a:rPr>
              <a:t>IntelliCrawl: replaceable providers, one typed research graph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D85B4D-91EA-4C32-8474-C1BCF1A5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9125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Demo and live assemblies enter the same code-grounded LangGraph; validation remains inside the execution path.</a:t>
            </a:r>
          </a:p>
        </p:txBody>
      </p:sp>
      <p:sp>
        <p:nvSpPr>
          <p:cNvPr id="3" name="graph-type">
            <a:extLst xmlns:a="http://schemas.openxmlformats.org/drawingml/2006/main">
              <a:ext uri="{FF2B5EF4-FFF2-40B4-BE49-F238E27FC236}">
                <a16:creationId xmlns:a16="http://schemas.microsoft.com/office/drawing/2014/main" id="{4E0927B8-2605-4D43-B376-FEC97F8D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"/>
            <a:ext cx="2247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88" b="1">
                <a:solidFill>
                  <a:srgbClr val="397EA5"/>
                </a:solidFill>
              </a:defRPr>
            </a:pPr>
            <a:r>
              <a:rPr sz="788" b="1">
                <a:solidFill>
                  <a:srgbClr val="397EA5"/>
                </a:solidFill>
              </a:rPr>
              <a:t>ResearchPipeline / LangGraph</a:t>
            </a:r>
          </a:p>
        </p:txBody>
      </p:sp>
      <p:sp>
        <p:nvSpPr>
          <p:cNvPr id="4" name="editorial-rail">
            <a:extLst xmlns:a="http://schemas.openxmlformats.org/drawingml/2006/main">
              <a:ext uri="{FF2B5EF4-FFF2-40B4-BE49-F238E27FC236}">
                <a16:creationId xmlns:a16="http://schemas.microsoft.com/office/drawing/2014/main" id="{0A96221A-C1D6-458A-A785-074C7708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066800"/>
            <a:ext cx="2152650" cy="4914900"/>
          </a:xfrm>
          <a:prstGeom xmlns:a="http://schemas.openxmlformats.org/drawingml/2006/main" prst="roundRect">
            <a:avLst>
              <a:gd name="adj" fmla="val 4425"/>
            </a:avLst>
          </a:prstGeom>
          <a:solidFill xmlns:a="http://schemas.openxmlformats.org/drawingml/2006/main">
            <a:srgbClr val="F3F4F5"/>
          </a:solidFill>
          <a:ln xmlns:a="http://schemas.openxmlformats.org/drawingml/2006/main" w="9525">
            <a:solidFill>
              <a:srgbClr val="C9CED6"/>
            </a:solidFill>
            <a:prstDash val="solid"/>
          </a:ln>
        </p:spPr>
      </p:sp>
      <p:sp>
        <p:nvSpPr>
          <p:cNvPr id="5" name="rail-accent">
            <a:extLst xmlns:a="http://schemas.openxmlformats.org/drawingml/2006/main">
              <a:ext uri="{FF2B5EF4-FFF2-40B4-BE49-F238E27FC236}">
                <a16:creationId xmlns:a16="http://schemas.microsoft.com/office/drawing/2014/main" id="{758DDAB9-517C-493E-9DA7-C6779A79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066800"/>
            <a:ext cx="5715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6" name="rail-kicker">
            <a:extLst xmlns:a="http://schemas.openxmlformats.org/drawingml/2006/main">
              <a:ext uri="{FF2B5EF4-FFF2-40B4-BE49-F238E27FC236}">
                <a16:creationId xmlns:a16="http://schemas.microsoft.com/office/drawing/2014/main" id="{C56A2925-D9E7-4164-99AA-6A2D8615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05A2A"/>
                </a:solidFill>
              </a:defRPr>
            </a:pPr>
            <a:r>
              <a:rPr sz="788" b="1">
                <a:solidFill>
                  <a:srgbClr val="D05A2A"/>
                </a:solidFill>
              </a:rPr>
              <a:t>REPLACEABLE INPUTS</a:t>
            </a:r>
          </a:p>
        </p:txBody>
      </p:sp>
      <p:sp>
        <p:nvSpPr>
          <p:cNvPr id="7" name="rail-title">
            <a:extLst xmlns:a="http://schemas.openxmlformats.org/drawingml/2006/main">
              <a:ext uri="{FF2B5EF4-FFF2-40B4-BE49-F238E27FC236}">
                <a16:creationId xmlns:a16="http://schemas.microsoft.com/office/drawing/2014/main" id="{4CA6B870-F2A6-4D3F-8CCE-6C9E8DF0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144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430"/>
                </a:solidFill>
              </a:defRPr>
            </a:pPr>
            <a:r>
              <a:rPr sz="1275" b="1">
                <a:solidFill>
                  <a:srgbClr val="1C2430"/>
                </a:solidFill>
              </a:rPr>
              <a:t>Provider boundary</a:t>
            </a:r>
          </a:p>
        </p:txBody>
      </p:sp>
      <p:sp>
        <p:nvSpPr>
          <p:cNvPr id="8" name="rail-copy">
            <a:extLst xmlns:a="http://schemas.openxmlformats.org/drawingml/2006/main">
              <a:ext uri="{FF2B5EF4-FFF2-40B4-BE49-F238E27FC236}">
                <a16:creationId xmlns:a16="http://schemas.microsoft.com/office/drawing/2014/main" id="{8D921B38-CBE8-47B2-A52C-91CCA89B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67085"/>
                </a:solidFill>
              </a:defRPr>
            </a:pPr>
            <a:r>
              <a:rPr sz="863" b="0">
                <a:solidFill>
                  <a:srgbClr val="667085"/>
                </a:solidFill>
              </a:rPr>
              <a:t>Implementations change; graph state and output contracts do not.</a:t>
            </a:r>
          </a:p>
        </p:txBody>
      </p:sp>
      <p:sp>
        <p:nvSpPr>
          <p:cNvPr id="9" name="rail-rule">
            <a:extLst xmlns:a="http://schemas.openxmlformats.org/drawingml/2006/main">
              <a:ext uri="{FF2B5EF4-FFF2-40B4-BE49-F238E27FC236}">
                <a16:creationId xmlns:a16="http://schemas.microsoft.com/office/drawing/2014/main" id="{EE228B12-C131-4475-BC71-044AFE89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695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9CED6"/>
            </a:solidFill>
            <a:prstDash val="solid"/>
          </a:ln>
        </p:spPr>
      </p:sp>
      <p:sp>
        <p:nvSpPr>
          <p:cNvPr id="10" name="rail-assemblies">
            <a:extLst xmlns:a="http://schemas.openxmlformats.org/drawingml/2006/main">
              <a:ext uri="{FF2B5EF4-FFF2-40B4-BE49-F238E27FC236}">
                <a16:creationId xmlns:a16="http://schemas.microsoft.com/office/drawing/2014/main" id="{D76EB637-D768-4B45-8FF4-F67539F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2225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</a:defRPr>
            </a:pPr>
            <a:r>
              <a:rPr sz="788" b="1">
                <a:solidFill>
                  <a:srgbClr val="667085"/>
                </a:solidFill>
              </a:rPr>
              <a:t>ASSEMBLIES</a:t>
            </a:r>
          </a:p>
        </p:txBody>
      </p:sp>
      <p:sp>
        <p:nvSpPr>
          <p:cNvPr id="11" name="rail-demo">
            <a:extLst xmlns:a="http://schemas.openxmlformats.org/drawingml/2006/main">
              <a:ext uri="{FF2B5EF4-FFF2-40B4-BE49-F238E27FC236}">
                <a16:creationId xmlns:a16="http://schemas.microsoft.com/office/drawing/2014/main" id="{7CA8C776-1360-42DC-A040-071312AE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97EA5"/>
                </a:solidFill>
              </a:defRPr>
            </a:pPr>
            <a:r>
              <a:rPr sz="713" b="1">
                <a:solidFill>
                  <a:srgbClr val="397EA5"/>
                </a:solidFill>
              </a:rPr>
              <a:t>DEMO</a:t>
            </a:r>
          </a:p>
        </p:txBody>
      </p:sp>
      <p:sp>
        <p:nvSpPr>
          <p:cNvPr id="12" name="rail-demo-copy">
            <a:extLst xmlns:a="http://schemas.openxmlformats.org/drawingml/2006/main">
              <a:ext uri="{FF2B5EF4-FFF2-40B4-BE49-F238E27FC236}">
                <a16:creationId xmlns:a16="http://schemas.microsoft.com/office/drawing/2014/main" id="{7627E05E-177B-4727-B5D4-87A2D6B1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C2430"/>
                </a:solidFill>
              </a:defRPr>
            </a:pPr>
            <a:r>
              <a:rPr sz="788" b="0">
                <a:solidFill>
                  <a:srgbClr val="1C2430"/>
                </a:solidFill>
              </a:rPr>
              <a:t>deterministic search</a:t>
            </a:r>
          </a:p>
          <a:p xmlns:a="http://schemas.openxmlformats.org/drawingml/2006/main">
            <a:pPr algn="l">
              <a:defRPr sz="788" b="0">
                <a:solidFill>
                  <a:srgbClr val="1C2430"/>
                </a:solidFill>
              </a:defRPr>
            </a:pPr>
            <a:r>
              <a:rPr sz="788" b="0">
                <a:solidFill>
                  <a:srgbClr val="1C2430"/>
                </a:solidFill>
              </a:rPr>
              <a:t>+ analysis fixtures</a:t>
            </a:r>
          </a:p>
        </p:txBody>
      </p:sp>
      <p:sp>
        <p:nvSpPr>
          <p:cNvPr id="13" name="rail-live">
            <a:extLst xmlns:a="http://schemas.openxmlformats.org/drawingml/2006/main">
              <a:ext uri="{FF2B5EF4-FFF2-40B4-BE49-F238E27FC236}">
                <a16:creationId xmlns:a16="http://schemas.microsoft.com/office/drawing/2014/main" id="{5A247251-BABD-4140-86BF-963BFA63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D05A2A"/>
                </a:solidFill>
              </a:defRPr>
            </a:pPr>
            <a:r>
              <a:rPr sz="713" b="1">
                <a:solidFill>
                  <a:srgbClr val="D05A2A"/>
                </a:solidFill>
              </a:rPr>
              <a:t>LIVE</a:t>
            </a:r>
          </a:p>
        </p:txBody>
      </p:sp>
      <p:sp>
        <p:nvSpPr>
          <p:cNvPr id="14" name="rail-live-copy">
            <a:extLst xmlns:a="http://schemas.openxmlformats.org/drawingml/2006/main">
              <a:ext uri="{FF2B5EF4-FFF2-40B4-BE49-F238E27FC236}">
                <a16:creationId xmlns:a16="http://schemas.microsoft.com/office/drawing/2014/main" id="{8794E44B-F769-4303-B3ED-5733DD52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C2430"/>
                </a:solidFill>
              </a:defRPr>
            </a:pPr>
            <a:r>
              <a:rPr sz="788" b="0">
                <a:solidFill>
                  <a:srgbClr val="1C2430"/>
                </a:solidFill>
              </a:rPr>
              <a:t>Firecrawl + cache</a:t>
            </a:r>
          </a:p>
          <a:p xmlns:a="http://schemas.openxmlformats.org/drawingml/2006/main">
            <a:pPr algn="l">
              <a:defRPr sz="788" b="0">
                <a:solidFill>
                  <a:srgbClr val="1C2430"/>
                </a:solidFill>
              </a:defRPr>
            </a:pPr>
            <a:r>
              <a:rPr sz="788" b="0">
                <a:solidFill>
                  <a:srgbClr val="1C2430"/>
                </a:solidFill>
              </a:rPr>
              <a:t>OpenAI structured output</a:t>
            </a:r>
          </a:p>
        </p:txBody>
      </p:sp>
      <p:sp>
        <p:nvSpPr>
          <p:cNvPr id="15" name="rail-rule-2">
            <a:extLst xmlns:a="http://schemas.openxmlformats.org/drawingml/2006/main">
              <a:ext uri="{FF2B5EF4-FFF2-40B4-BE49-F238E27FC236}">
                <a16:creationId xmlns:a16="http://schemas.microsoft.com/office/drawing/2014/main" id="{A21B816F-F9FF-4383-81E8-9DA96097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1695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9CED6"/>
            </a:solidFill>
            <a:prstDash val="solid"/>
          </a:ln>
        </p:spPr>
      </p:sp>
      <p:sp>
        <p:nvSpPr>
          <p:cNvPr id="16" name="rail-interfaces">
            <a:extLst xmlns:a="http://schemas.openxmlformats.org/drawingml/2006/main">
              <a:ext uri="{FF2B5EF4-FFF2-40B4-BE49-F238E27FC236}">
                <a16:creationId xmlns:a16="http://schemas.microsoft.com/office/drawing/2014/main" id="{B76102D5-E951-4309-AABD-A2EEFC02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767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</a:defRPr>
            </a:pPr>
            <a:r>
              <a:rPr sz="788" b="1">
                <a:solidFill>
                  <a:srgbClr val="667085"/>
                </a:solidFill>
              </a:rPr>
              <a:t>PORTS</a:t>
            </a:r>
          </a:p>
        </p:txBody>
      </p:sp>
      <p:sp>
        <p:nvSpPr>
          <p:cNvPr id="17" name="rail-search">
            <a:extLst xmlns:a="http://schemas.openxmlformats.org/drawingml/2006/main">
              <a:ext uri="{FF2B5EF4-FFF2-40B4-BE49-F238E27FC236}">
                <a16:creationId xmlns:a16="http://schemas.microsoft.com/office/drawing/2014/main" id="{5B0301BC-3ADD-4ECC-AFE4-EF7D4787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33875"/>
            <a:ext cx="1466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C2430"/>
                </a:solidFill>
              </a:defRPr>
            </a:pPr>
            <a:r>
              <a:rPr sz="863" b="1">
                <a:solidFill>
                  <a:srgbClr val="1C2430"/>
                </a:solidFill>
              </a:rPr>
              <a:t>SearchProvider</a:t>
            </a:r>
          </a:p>
        </p:txBody>
      </p:sp>
      <p:sp>
        <p:nvSpPr>
          <p:cNvPr id="18" name="rail-source">
            <a:extLst xmlns:a="http://schemas.openxmlformats.org/drawingml/2006/main">
              <a:ext uri="{FF2B5EF4-FFF2-40B4-BE49-F238E27FC236}">
                <a16:creationId xmlns:a16="http://schemas.microsoft.com/office/drawing/2014/main" id="{8CCA0B5F-74B0-41E5-B8B0-96929CD5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397EA5"/>
                </a:solidFill>
              </a:defRPr>
            </a:pPr>
            <a:r>
              <a:rPr sz="713" b="0">
                <a:solidFill>
                  <a:srgbClr val="397EA5"/>
                </a:solidFill>
              </a:rPr>
              <a:t>→ SourceDocument[]</a:t>
            </a:r>
          </a:p>
        </p:txBody>
      </p:sp>
      <p:sp>
        <p:nvSpPr>
          <p:cNvPr id="19" name="rail-analysis">
            <a:extLst xmlns:a="http://schemas.openxmlformats.org/drawingml/2006/main">
              <a:ext uri="{FF2B5EF4-FFF2-40B4-BE49-F238E27FC236}">
                <a16:creationId xmlns:a16="http://schemas.microsoft.com/office/drawing/2014/main" id="{A943B109-BE4D-414A-8719-03A84596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C2430"/>
                </a:solidFill>
              </a:defRPr>
            </a:pPr>
            <a:r>
              <a:rPr sz="863" b="1">
                <a:solidFill>
                  <a:srgbClr val="1C2430"/>
                </a:solidFill>
              </a:rPr>
              <a:t>AnalysisProvider</a:t>
            </a:r>
          </a:p>
        </p:txBody>
      </p:sp>
      <p:sp>
        <p:nvSpPr>
          <p:cNvPr id="20" name="rail-schema">
            <a:extLst xmlns:a="http://schemas.openxmlformats.org/drawingml/2006/main">
              <a:ext uri="{FF2B5EF4-FFF2-40B4-BE49-F238E27FC236}">
                <a16:creationId xmlns:a16="http://schemas.microsoft.com/office/drawing/2014/main" id="{97692019-A330-4FD9-AC09-EED9D4E4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3397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D05A2A"/>
                </a:solidFill>
              </a:defRPr>
            </a:pPr>
            <a:r>
              <a:rPr sz="713" b="0">
                <a:solidFill>
                  <a:srgbClr val="D05A2A"/>
                </a:solidFill>
              </a:rPr>
              <a:t>→ typed schemas</a:t>
            </a:r>
          </a:p>
        </p:txBody>
      </p:sp>
      <p:sp>
        <p:nvSpPr>
          <p:cNvPr id="21" name="rail-foot">
            <a:extLst xmlns:a="http://schemas.openxmlformats.org/drawingml/2006/main">
              <a:ext uri="{FF2B5EF4-FFF2-40B4-BE49-F238E27FC236}">
                <a16:creationId xmlns:a16="http://schemas.microsoft.com/office/drawing/2014/main" id="{72B8FB90-AE4F-4720-A100-6A726E07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67085"/>
                </a:solidFill>
              </a:defRPr>
            </a:pPr>
            <a:r>
              <a:rPr sz="698" b="0">
                <a:solidFill>
                  <a:srgbClr val="667085"/>
                </a:solidFill>
              </a:rPr>
              <a:t>Public-web content remains untrusted input.</a:t>
            </a:r>
          </a:p>
        </p:txBody>
      </p:sp>
      <p:sp>
        <p:nvSpPr>
          <p:cNvPr id="22" name="discover-research">
            <a:extLst xmlns:a="http://schemas.openxmlformats.org/drawingml/2006/main">
              <a:ext uri="{FF2B5EF4-FFF2-40B4-BE49-F238E27FC236}">
                <a16:creationId xmlns:a16="http://schemas.microsoft.com/office/drawing/2014/main" id="{9976D371-5C05-41A2-9BEF-9C8FFD33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914525"/>
            <a:ext cx="8667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97EA5"/>
          </a:solidFill>
          <a:ln xmlns:a="http://schemas.openxmlformats.org/drawingml/2006/main" w="0">
            <a:solidFill>
              <a:srgbClr val="397EA5"/>
            </a:solidFill>
            <a:prstDash val="solid"/>
          </a:ln>
        </p:spPr>
      </p:sp>
      <p:sp>
        <p:nvSpPr>
          <p:cNvPr id="23" name="research-recommend">
            <a:extLst xmlns:a="http://schemas.openxmlformats.org/drawingml/2006/main">
              <a:ext uri="{FF2B5EF4-FFF2-40B4-BE49-F238E27FC236}">
                <a16:creationId xmlns:a16="http://schemas.microsoft.com/office/drawing/2014/main" id="{E4D8D007-3A72-4F1F-B696-AA593094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914525"/>
            <a:ext cx="7905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D05A2A"/>
            </a:solidFill>
            <a:prstDash val="solid"/>
          </a:ln>
        </p:spPr>
      </p:sp>
      <p:sp>
        <p:nvSpPr>
          <p:cNvPr id="24" name="recommend-report">
            <a:extLst xmlns:a="http://schemas.openxmlformats.org/drawingml/2006/main">
              <a:ext uri="{FF2B5EF4-FFF2-40B4-BE49-F238E27FC236}">
                <a16:creationId xmlns:a16="http://schemas.microsoft.com/office/drawing/2014/main" id="{C4D319ED-AC83-4DE1-9E24-5E302DE9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14525"/>
            <a:ext cx="5810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84C"/>
          </a:solidFill>
          <a:ln xmlns:a="http://schemas.openxmlformats.org/drawingml/2006/main" w="0">
            <a:solidFill>
              <a:srgbClr val="24384C"/>
            </a:solidFill>
            <a:prstDash val="solid"/>
          </a:ln>
        </p:spPr>
      </p:sp>
      <p:sp>
        <p:nvSpPr>
          <p:cNvPr id="25" name="port-search-a">
            <a:extLst xmlns:a="http://schemas.openxmlformats.org/drawingml/2006/main">
              <a:ext uri="{FF2B5EF4-FFF2-40B4-BE49-F238E27FC236}">
                <a16:creationId xmlns:a16="http://schemas.microsoft.com/office/drawing/2014/main" id="{07921FA8-C8DD-4386-9391-095CC201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386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97EA5"/>
            </a:solidFill>
            <a:prstDash val="solid"/>
          </a:ln>
        </p:spPr>
      </p:sp>
      <p:sp>
        <p:nvSpPr>
          <p:cNvPr id="26" name="port-search-b">
            <a:extLst xmlns:a="http://schemas.openxmlformats.org/drawingml/2006/main">
              <a:ext uri="{FF2B5EF4-FFF2-40B4-BE49-F238E27FC236}">
                <a16:creationId xmlns:a16="http://schemas.microsoft.com/office/drawing/2014/main" id="{1102E2EA-4B80-481C-BD4A-CA76F706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52625"/>
            <a:ext cx="0" cy="2486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97EA5"/>
            </a:solidFill>
            <a:prstDash val="solid"/>
          </a:ln>
        </p:spPr>
      </p:sp>
      <p:sp>
        <p:nvSpPr>
          <p:cNvPr id="27" name="port-search-c">
            <a:extLst xmlns:a="http://schemas.openxmlformats.org/drawingml/2006/main">
              <a:ext uri="{FF2B5EF4-FFF2-40B4-BE49-F238E27FC236}">
                <a16:creationId xmlns:a16="http://schemas.microsoft.com/office/drawing/2014/main" id="{63EC019A-7155-4639-ADC4-61AECAC2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52625"/>
            <a:ext cx="447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97EA5"/>
            </a:solidFill>
            <a:prstDash val="solid"/>
          </a:ln>
        </p:spPr>
      </p:sp>
      <p:sp>
        <p:nvSpPr>
          <p:cNvPr id="28" name="port-analysis-a">
            <a:extLst xmlns:a="http://schemas.openxmlformats.org/drawingml/2006/main">
              <a:ext uri="{FF2B5EF4-FFF2-40B4-BE49-F238E27FC236}">
                <a16:creationId xmlns:a16="http://schemas.microsoft.com/office/drawing/2014/main" id="{4D5F3F53-2B8B-40CC-9DE1-3EA46708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00625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D05A2A"/>
            </a:solidFill>
            <a:prstDash val="solid"/>
          </a:ln>
        </p:spPr>
      </p:sp>
      <p:sp>
        <p:nvSpPr>
          <p:cNvPr id="29" name="port-analysis-b">
            <a:extLst xmlns:a="http://schemas.openxmlformats.org/drawingml/2006/main">
              <a:ext uri="{FF2B5EF4-FFF2-40B4-BE49-F238E27FC236}">
                <a16:creationId xmlns:a16="http://schemas.microsoft.com/office/drawing/2014/main" id="{CEF7B853-C434-4BB0-8E70-D2A3B90C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43000"/>
            <a:ext cx="0" cy="385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D05A2A"/>
            </a:solidFill>
            <a:prstDash val="solid"/>
          </a:ln>
        </p:spPr>
      </p:sp>
      <p:sp>
        <p:nvSpPr>
          <p:cNvPr id="30" name="port-analysis-c">
            <a:extLst xmlns:a="http://schemas.openxmlformats.org/drawingml/2006/main">
              <a:ext uri="{FF2B5EF4-FFF2-40B4-BE49-F238E27FC236}">
                <a16:creationId xmlns:a16="http://schemas.microsoft.com/office/drawing/2014/main" id="{3CDCAF7B-77D2-4C87-8404-2B123F90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43000"/>
            <a:ext cx="3562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D05A2A"/>
            </a:solidFill>
            <a:prstDash val="solid"/>
          </a:ln>
        </p:spPr>
      </p:sp>
      <p:sp>
        <p:nvSpPr>
          <p:cNvPr id="31" name="port-analysis-d">
            <a:extLst xmlns:a="http://schemas.openxmlformats.org/drawingml/2006/main">
              <a:ext uri="{FF2B5EF4-FFF2-40B4-BE49-F238E27FC236}">
                <a16:creationId xmlns:a16="http://schemas.microsoft.com/office/drawing/2014/main" id="{7858BD48-E1CF-4902-ABEC-1A95705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1430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D05A2A"/>
            </a:solidFill>
            <a:prstDash val="solid"/>
          </a:ln>
        </p:spPr>
      </p:sp>
      <p:sp>
        <p:nvSpPr>
          <p:cNvPr id="32" name="research-fan-stem">
            <a:extLst xmlns:a="http://schemas.openxmlformats.org/drawingml/2006/main">
              <a:ext uri="{FF2B5EF4-FFF2-40B4-BE49-F238E27FC236}">
                <a16:creationId xmlns:a16="http://schemas.microsoft.com/office/drawing/2014/main" id="{13DD8B05-FFFB-40A1-A8E5-E0F8844C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67025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33" name="research-fan-bus">
            <a:extLst xmlns:a="http://schemas.openxmlformats.org/drawingml/2006/main">
              <a:ext uri="{FF2B5EF4-FFF2-40B4-BE49-F238E27FC236}">
                <a16:creationId xmlns:a16="http://schemas.microsoft.com/office/drawing/2014/main" id="{F939C901-6AD8-46EE-B227-E9D72802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34" name="research-fan-a">
            <a:extLst xmlns:a="http://schemas.openxmlformats.org/drawingml/2006/main">
              <a:ext uri="{FF2B5EF4-FFF2-40B4-BE49-F238E27FC236}">
                <a16:creationId xmlns:a16="http://schemas.microsoft.com/office/drawing/2014/main" id="{59449A6C-C348-4246-943A-C2E644C2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35" name="research-fan-b">
            <a:extLst xmlns:a="http://schemas.openxmlformats.org/drawingml/2006/main">
              <a:ext uri="{FF2B5EF4-FFF2-40B4-BE49-F238E27FC236}">
                <a16:creationId xmlns:a16="http://schemas.microsoft.com/office/drawing/2014/main" id="{8E311A9B-8178-48A6-A727-F4092329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36" name="research-fan-c">
            <a:extLst xmlns:a="http://schemas.openxmlformats.org/drawingml/2006/main">
              <a:ext uri="{FF2B5EF4-FFF2-40B4-BE49-F238E27FC236}">
                <a16:creationId xmlns:a16="http://schemas.microsoft.com/office/drawing/2014/main" id="{3F114B9F-542B-4DEB-ACDF-8D94D086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37" name="tool-a-report">
            <a:extLst xmlns:a="http://schemas.openxmlformats.org/drawingml/2006/main">
              <a:ext uri="{FF2B5EF4-FFF2-40B4-BE49-F238E27FC236}">
                <a16:creationId xmlns:a16="http://schemas.microsoft.com/office/drawing/2014/main" id="{915C7FBC-B287-4C8D-8300-DAE9ECDD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148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05A2A"/>
            </a:solidFill>
            <a:prstDash val="solid"/>
          </a:ln>
        </p:spPr>
      </p:sp>
      <p:sp>
        <p:nvSpPr>
          <p:cNvPr id="38" name="tool-b-report">
            <a:extLst xmlns:a="http://schemas.openxmlformats.org/drawingml/2006/main">
              <a:ext uri="{FF2B5EF4-FFF2-40B4-BE49-F238E27FC236}">
                <a16:creationId xmlns:a16="http://schemas.microsoft.com/office/drawing/2014/main" id="{28B9715B-F498-4889-A827-1C9C24F3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14850"/>
            <a:ext cx="0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05A2A"/>
            </a:solidFill>
            <a:prstDash val="solid"/>
          </a:ln>
        </p:spPr>
      </p:sp>
      <p:sp>
        <p:nvSpPr>
          <p:cNvPr id="39" name="tool-c-report">
            <a:extLst xmlns:a="http://schemas.openxmlformats.org/drawingml/2006/main">
              <a:ext uri="{FF2B5EF4-FFF2-40B4-BE49-F238E27FC236}">
                <a16:creationId xmlns:a16="http://schemas.microsoft.com/office/drawing/2014/main" id="{7A098649-0934-4F96-9778-EBAA352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148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05A2A"/>
            </a:solidFill>
            <a:prstDash val="solid"/>
          </a:ln>
        </p:spPr>
      </p:sp>
      <p:sp>
        <p:nvSpPr>
          <p:cNvPr id="40" name="tool-report-bus">
            <a:extLst xmlns:a="http://schemas.openxmlformats.org/drawingml/2006/main">
              <a:ext uri="{FF2B5EF4-FFF2-40B4-BE49-F238E27FC236}">
                <a16:creationId xmlns:a16="http://schemas.microsoft.com/office/drawing/2014/main" id="{98D3263F-CE9B-404E-A123-19E0318F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57750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05A2A"/>
            </a:solidFill>
            <a:prstDash val="solid"/>
          </a:ln>
        </p:spPr>
      </p:sp>
      <p:sp>
        <p:nvSpPr>
          <p:cNvPr id="41" name="report-renderers">
            <a:extLst xmlns:a="http://schemas.openxmlformats.org/drawingml/2006/main">
              <a:ext uri="{FF2B5EF4-FFF2-40B4-BE49-F238E27FC236}">
                <a16:creationId xmlns:a16="http://schemas.microsoft.com/office/drawing/2014/main" id="{DA64A598-94C8-4C7B-8429-19660B98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286250"/>
            <a:ext cx="95250" cy="3619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D05A2A"/>
            </a:solidFill>
            <a:prstDash val="solid"/>
          </a:ln>
        </p:spPr>
      </p:sp>
      <p:sp>
        <p:nvSpPr>
          <p:cNvPr id="42" name="map-label">
            <a:extLst xmlns:a="http://schemas.openxmlformats.org/drawingml/2006/main">
              <a:ext uri="{FF2B5EF4-FFF2-40B4-BE49-F238E27FC236}">
                <a16:creationId xmlns:a16="http://schemas.microsoft.com/office/drawing/2014/main" id="{A8CE9C1F-A9B5-45E5-B87B-DF989CF4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9715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63F24"/>
                </a:solidFill>
              </a:defRPr>
            </a:pPr>
            <a:r>
              <a:rPr sz="788" b="1">
                <a:solidFill>
                  <a:srgbClr val="A63F24"/>
                </a:solidFill>
              </a:rPr>
              <a:t>DISCOVER → PROFILE IN PARALLEL → SYNTHESIZE</a:t>
            </a:r>
          </a:p>
        </p:txBody>
      </p:sp>
      <p:sp>
        <p:nvSpPr>
          <p:cNvPr id="43" name="discover-circle">
            <a:extLst xmlns:a="http://schemas.openxmlformats.org/drawingml/2006/main">
              <a:ext uri="{FF2B5EF4-FFF2-40B4-BE49-F238E27FC236}">
                <a16:creationId xmlns:a16="http://schemas.microsoft.com/office/drawing/2014/main" id="{FEE1210B-E990-4AE4-805C-E4397CD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181100"/>
            <a:ext cx="1581150" cy="1581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F6"/>
          </a:solidFill>
          <a:ln xmlns:a="http://schemas.openxmlformats.org/drawingml/2006/main" w="16193">
            <a:solidFill>
              <a:srgbClr val="397EA5"/>
            </a:solidFill>
            <a:prstDash val="solid"/>
          </a:ln>
        </p:spPr>
      </p:sp>
      <p:sp>
        <p:nvSpPr>
          <p:cNvPr id="44" name="discover-step">
            <a:extLst xmlns:a="http://schemas.openxmlformats.org/drawingml/2006/main">
              <a:ext uri="{FF2B5EF4-FFF2-40B4-BE49-F238E27FC236}">
                <a16:creationId xmlns:a16="http://schemas.microsoft.com/office/drawing/2014/main" id="{D01DF026-CC95-40CA-B6A4-32F3A03D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3144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7EA5"/>
          </a:solidFill>
          <a:ln xmlns:a="http://schemas.openxmlformats.org/drawingml/2006/main" w="0">
            <a:solidFill>
              <a:srgbClr val="397EA5"/>
            </a:solidFill>
            <a:prstDash val="solid"/>
          </a:ln>
        </p:spPr>
      </p:sp>
      <p:sp>
        <p:nvSpPr>
          <p:cNvPr id="45" name="discover-step-text">
            <a:extLst xmlns:a="http://schemas.openxmlformats.org/drawingml/2006/main">
              <a:ext uri="{FF2B5EF4-FFF2-40B4-BE49-F238E27FC236}">
                <a16:creationId xmlns:a16="http://schemas.microsoft.com/office/drawing/2014/main" id="{12C5B9EF-B566-464E-8675-A9CB9C51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3716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6" name="discover-title">
            <a:extLst xmlns:a="http://schemas.openxmlformats.org/drawingml/2006/main">
              <a:ext uri="{FF2B5EF4-FFF2-40B4-BE49-F238E27FC236}">
                <a16:creationId xmlns:a16="http://schemas.microsoft.com/office/drawing/2014/main" id="{7BAF3AE2-0394-4184-BB9D-29C9D5F0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43075"/>
            <a:ext cx="1104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7EA5"/>
                </a:solidFill>
              </a:defRPr>
            </a:pPr>
            <a:r>
              <a:rPr sz="1125" b="1">
                <a:solidFill>
                  <a:srgbClr val="397EA5"/>
                </a:solidFill>
              </a:rPr>
              <a:t>Discover</a:t>
            </a:r>
          </a:p>
        </p:txBody>
      </p:sp>
      <p:sp>
        <p:nvSpPr>
          <p:cNvPr id="47" name="discover-body">
            <a:extLst xmlns:a="http://schemas.openxmlformats.org/drawingml/2006/main">
              <a:ext uri="{FF2B5EF4-FFF2-40B4-BE49-F238E27FC236}">
                <a16:creationId xmlns:a16="http://schemas.microsoft.com/office/drawing/2014/main" id="{917D6F50-36DD-4669-ABED-9A0E0789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normalize query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search comparison docs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deduplicate 1–6 tools</a:t>
            </a:r>
          </a:p>
        </p:txBody>
      </p:sp>
      <p:sp>
        <p:nvSpPr>
          <p:cNvPr id="48" name="research-circle">
            <a:extLst xmlns:a="http://schemas.openxmlformats.org/drawingml/2006/main">
              <a:ext uri="{FF2B5EF4-FFF2-40B4-BE49-F238E27FC236}">
                <a16:creationId xmlns:a16="http://schemas.microsoft.com/office/drawing/2014/main" id="{36ECE169-6565-4193-BDFF-0B621D4B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06680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9E1"/>
          </a:solidFill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49" name="research-step">
            <a:extLst xmlns:a="http://schemas.openxmlformats.org/drawingml/2006/main">
              <a:ext uri="{FF2B5EF4-FFF2-40B4-BE49-F238E27FC236}">
                <a16:creationId xmlns:a16="http://schemas.microsoft.com/office/drawing/2014/main" id="{58EB5E6C-2B0C-4E9D-A078-06FB291C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2001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D05A2A"/>
            </a:solidFill>
            <a:prstDash val="solid"/>
          </a:ln>
        </p:spPr>
      </p:sp>
      <p:sp>
        <p:nvSpPr>
          <p:cNvPr id="50" name="research-step-text">
            <a:extLst xmlns:a="http://schemas.openxmlformats.org/drawingml/2006/main">
              <a:ext uri="{FF2B5EF4-FFF2-40B4-BE49-F238E27FC236}">
                <a16:creationId xmlns:a16="http://schemas.microsoft.com/office/drawing/2014/main" id="{B72EDDC3-9B36-4239-9390-9EE3900F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2573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1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14F4A1BD-571D-4C4E-BEB3-DB54BB4B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4307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05A2A"/>
                </a:solidFill>
              </a:defRPr>
            </a:pPr>
            <a:r>
              <a:rPr sz="1125" b="1">
                <a:solidFill>
                  <a:srgbClr val="D05A2A"/>
                </a:solidFill>
              </a:rPr>
              <a:t>Research</a:t>
            </a:r>
          </a:p>
        </p:txBody>
      </p:sp>
      <p:sp>
        <p:nvSpPr>
          <p:cNvPr id="52" name="research-body">
            <a:extLst xmlns:a="http://schemas.openxmlformats.org/drawingml/2006/main">
              <a:ext uri="{FF2B5EF4-FFF2-40B4-BE49-F238E27FC236}">
                <a16:creationId xmlns:a16="http://schemas.microsoft.com/office/drawing/2014/main" id="{64878537-8B09-4D6C-A24D-3ED31EE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9550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asyncio.gather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bounded per-tool work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search + analyze</a:t>
            </a:r>
          </a:p>
        </p:txBody>
      </p:sp>
      <p:sp>
        <p:nvSpPr>
          <p:cNvPr id="53" name="recommend-circle">
            <a:extLst xmlns:a="http://schemas.openxmlformats.org/drawingml/2006/main">
              <a:ext uri="{FF2B5EF4-FFF2-40B4-BE49-F238E27FC236}">
                <a16:creationId xmlns:a16="http://schemas.microsoft.com/office/drawing/2014/main" id="{7D386C9F-175C-450C-BED1-1C1EE414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219200"/>
            <a:ext cx="1504950" cy="1504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DF1"/>
          </a:solidFill>
          <a:ln xmlns:a="http://schemas.openxmlformats.org/drawingml/2006/main" w="16193">
            <a:solidFill>
              <a:srgbClr val="24384C"/>
            </a:solidFill>
            <a:prstDash val="solid"/>
          </a:ln>
        </p:spPr>
      </p:sp>
      <p:sp>
        <p:nvSpPr>
          <p:cNvPr id="54" name="recommend-step">
            <a:extLst xmlns:a="http://schemas.openxmlformats.org/drawingml/2006/main">
              <a:ext uri="{FF2B5EF4-FFF2-40B4-BE49-F238E27FC236}">
                <a16:creationId xmlns:a16="http://schemas.microsoft.com/office/drawing/2014/main" id="{F12C7241-A210-4FDE-B181-47618DDD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3525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84C"/>
          </a:solidFill>
          <a:ln xmlns:a="http://schemas.openxmlformats.org/drawingml/2006/main" w="0">
            <a:solidFill>
              <a:srgbClr val="24384C"/>
            </a:solidFill>
            <a:prstDash val="solid"/>
          </a:ln>
        </p:spPr>
      </p:sp>
      <p:sp>
        <p:nvSpPr>
          <p:cNvPr id="55" name="recommend-step-text">
            <a:extLst xmlns:a="http://schemas.openxmlformats.org/drawingml/2006/main">
              <a:ext uri="{FF2B5EF4-FFF2-40B4-BE49-F238E27FC236}">
                <a16:creationId xmlns:a16="http://schemas.microsoft.com/office/drawing/2014/main" id="{F2F718BF-3748-4A83-AEB2-FCF4DB74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4097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6" name="recommend-title">
            <a:extLst xmlns:a="http://schemas.openxmlformats.org/drawingml/2006/main">
              <a:ext uri="{FF2B5EF4-FFF2-40B4-BE49-F238E27FC236}">
                <a16:creationId xmlns:a16="http://schemas.microsoft.com/office/drawing/2014/main" id="{CC13FF2A-DBD3-4089-8587-48F5BCDA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43075"/>
            <a:ext cx="1028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7" name="recommend-body">
            <a:extLst xmlns:a="http://schemas.openxmlformats.org/drawingml/2006/main">
              <a:ext uri="{FF2B5EF4-FFF2-40B4-BE49-F238E27FC236}">
                <a16:creationId xmlns:a16="http://schemas.microsoft.com/office/drawing/2014/main" id="{86DA6ED6-20AE-4671-9C74-1EEFABED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095500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validated ToolReport[]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neutral fallback</a:t>
            </a:r>
          </a:p>
          <a:p xmlns:a="http://schemas.openxmlformats.org/drawingml/2006/main">
            <a:pPr algn="ctr">
              <a:defRPr sz="788" b="0">
                <a:solidFill>
                  <a:srgbClr val="667085"/>
                </a:solidFill>
              </a:defRPr>
            </a:pPr>
            <a:r>
              <a:rPr sz="788" b="0">
                <a:solidFill>
                  <a:srgbClr val="667085"/>
                </a:solidFill>
              </a:rPr>
              <a:t>on provider failure</a:t>
            </a:r>
          </a:p>
        </p:txBody>
      </p:sp>
      <p:sp>
        <p:nvSpPr>
          <p:cNvPr id="58" name="recommend-title-fix">
            <a:extLst xmlns:a="http://schemas.openxmlformats.org/drawingml/2006/main">
              <a:ext uri="{FF2B5EF4-FFF2-40B4-BE49-F238E27FC236}">
                <a16:creationId xmlns:a16="http://schemas.microsoft.com/office/drawing/2014/main" id="{464B8B6A-BA82-4DE4-8C9A-8DD25EED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0022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4384C"/>
                </a:solidFill>
              </a:defRPr>
            </a:pPr>
            <a:r>
              <a:rPr sz="975" b="1">
                <a:solidFill>
                  <a:srgbClr val="24384C"/>
                </a:solidFill>
              </a:rPr>
              <a:t>Recommend</a:t>
            </a:r>
          </a:p>
        </p:txBody>
      </p:sp>
      <p:sp>
        <p:nvSpPr>
          <p:cNvPr id="59" name="fanout-label">
            <a:extLst xmlns:a="http://schemas.openxmlformats.org/drawingml/2006/main">
              <a:ext uri="{FF2B5EF4-FFF2-40B4-BE49-F238E27FC236}">
                <a16:creationId xmlns:a16="http://schemas.microsoft.com/office/drawing/2014/main" id="{DAEBA156-07FA-4DE6-AADD-71401E3A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432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D05A2A"/>
                </a:solidFill>
              </a:defRPr>
            </a:pPr>
            <a:r>
              <a:rPr sz="788" b="1">
                <a:solidFill>
                  <a:srgbClr val="D05A2A"/>
                </a:solidFill>
              </a:rPr>
              <a:t>parallel tool workers</a:t>
            </a:r>
          </a:p>
        </p:txBody>
      </p:sp>
      <p:sp>
        <p:nvSpPr>
          <p:cNvPr id="60" name="tool-0">
            <a:extLst xmlns:a="http://schemas.openxmlformats.org/drawingml/2006/main">
              <a:ext uri="{FF2B5EF4-FFF2-40B4-BE49-F238E27FC236}">
                <a16:creationId xmlns:a16="http://schemas.microsoft.com/office/drawing/2014/main" id="{859381FD-DE78-4426-9D78-02D9A8E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05A2A"/>
            </a:solidFill>
            <a:prstDash val="solid"/>
          </a:ln>
        </p:spPr>
      </p:sp>
      <p:sp>
        <p:nvSpPr>
          <p:cNvPr id="61" name="tool-0-title">
            <a:extLst xmlns:a="http://schemas.openxmlformats.org/drawingml/2006/main">
              <a:ext uri="{FF2B5EF4-FFF2-40B4-BE49-F238E27FC236}">
                <a16:creationId xmlns:a16="http://schemas.microsoft.com/office/drawing/2014/main" id="{FE3410AF-C8BF-4F7F-9526-8C1A9B2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C2430"/>
                </a:solidFill>
              </a:defRPr>
            </a:pPr>
            <a:r>
              <a:rPr sz="863" b="1">
                <a:solidFill>
                  <a:srgbClr val="1C2430"/>
                </a:solidFill>
              </a:rPr>
              <a:t>tool A</a:t>
            </a:r>
          </a:p>
        </p:txBody>
      </p:sp>
      <p:sp>
        <p:nvSpPr>
          <p:cNvPr id="62" name="tool-0-copy">
            <a:extLst xmlns:a="http://schemas.openxmlformats.org/drawingml/2006/main">
              <a:ext uri="{FF2B5EF4-FFF2-40B4-BE49-F238E27FC236}">
                <a16:creationId xmlns:a16="http://schemas.microsoft.com/office/drawing/2014/main" id="{ED04F68A-BA83-47C0-9308-F50782F1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+ analyze</a:t>
            </a:r>
          </a:p>
        </p:txBody>
      </p:sp>
      <p:sp>
        <p:nvSpPr>
          <p:cNvPr id="63" name="tool-1">
            <a:extLst xmlns:a="http://schemas.openxmlformats.org/drawingml/2006/main">
              <a:ext uri="{FF2B5EF4-FFF2-40B4-BE49-F238E27FC236}">
                <a16:creationId xmlns:a16="http://schemas.microsoft.com/office/drawing/2014/main" id="{14B7C9A1-3655-4933-95D8-6E1EB2F0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05A2A"/>
            </a:solidFill>
            <a:prstDash val="solid"/>
          </a:ln>
        </p:spPr>
      </p:sp>
      <p:sp>
        <p:nvSpPr>
          <p:cNvPr id="64" name="tool-1-title">
            <a:extLst xmlns:a="http://schemas.openxmlformats.org/drawingml/2006/main">
              <a:ext uri="{FF2B5EF4-FFF2-40B4-BE49-F238E27FC236}">
                <a16:creationId xmlns:a16="http://schemas.microsoft.com/office/drawing/2014/main" id="{5E857C58-37F9-44F8-B0DF-015F78A9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C2430"/>
                </a:solidFill>
              </a:defRPr>
            </a:pPr>
            <a:r>
              <a:rPr sz="863" b="1">
                <a:solidFill>
                  <a:srgbClr val="1C2430"/>
                </a:solidFill>
              </a:rPr>
              <a:t>tool B</a:t>
            </a:r>
          </a:p>
        </p:txBody>
      </p:sp>
      <p:sp>
        <p:nvSpPr>
          <p:cNvPr id="65" name="tool-1-copy">
            <a:extLst xmlns:a="http://schemas.openxmlformats.org/drawingml/2006/main">
              <a:ext uri="{FF2B5EF4-FFF2-40B4-BE49-F238E27FC236}">
                <a16:creationId xmlns:a16="http://schemas.microsoft.com/office/drawing/2014/main" id="{45F6906A-789C-493C-81EF-5D084D9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+ analyze</a:t>
            </a:r>
          </a:p>
        </p:txBody>
      </p:sp>
      <p:sp>
        <p:nvSpPr>
          <p:cNvPr id="66" name="tool-2">
            <a:extLst xmlns:a="http://schemas.openxmlformats.org/drawingml/2006/main">
              <a:ext uri="{FF2B5EF4-FFF2-40B4-BE49-F238E27FC236}">
                <a16:creationId xmlns:a16="http://schemas.microsoft.com/office/drawing/2014/main" id="{E14239CC-DA53-4EE9-A5C8-CED39F36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05A2A"/>
            </a:solidFill>
            <a:prstDash val="solid"/>
          </a:ln>
        </p:spPr>
      </p:sp>
      <p:sp>
        <p:nvSpPr>
          <p:cNvPr id="67" name="tool-2-title">
            <a:extLst xmlns:a="http://schemas.openxmlformats.org/drawingml/2006/main">
              <a:ext uri="{FF2B5EF4-FFF2-40B4-BE49-F238E27FC236}">
                <a16:creationId xmlns:a16="http://schemas.microsoft.com/office/drawing/2014/main" id="{040741A6-1775-408D-B8BC-AF131FE2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C2430"/>
                </a:solidFill>
              </a:defRPr>
            </a:pPr>
            <a:r>
              <a:rPr sz="863" b="1">
                <a:solidFill>
                  <a:srgbClr val="1C2430"/>
                </a:solidFill>
              </a:rPr>
              <a:t>tool N</a:t>
            </a:r>
          </a:p>
        </p:txBody>
      </p:sp>
      <p:sp>
        <p:nvSpPr>
          <p:cNvPr id="68" name="tool-2-copy">
            <a:extLst xmlns:a="http://schemas.openxmlformats.org/drawingml/2006/main">
              <a:ext uri="{FF2B5EF4-FFF2-40B4-BE49-F238E27FC236}">
                <a16:creationId xmlns:a16="http://schemas.microsoft.com/office/drawing/2014/main" id="{66787634-ACA9-4DD3-9695-55094DAA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+ analyze</a:t>
            </a:r>
          </a:p>
        </p:txBody>
      </p:sp>
      <p:sp>
        <p:nvSpPr>
          <p:cNvPr id="69" name="tool-report">
            <a:extLst xmlns:a="http://schemas.openxmlformats.org/drawingml/2006/main">
              <a:ext uri="{FF2B5EF4-FFF2-40B4-BE49-F238E27FC236}">
                <a16:creationId xmlns:a16="http://schemas.microsoft.com/office/drawing/2014/main" id="{5B581054-6438-44BC-BB7E-B3C50057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162550"/>
            <a:ext cx="14097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4384C"/>
            </a:solidFill>
            <a:prstDash val="solid"/>
          </a:ln>
        </p:spPr>
      </p:sp>
      <p:sp>
        <p:nvSpPr>
          <p:cNvPr id="70" name="tool-report-title">
            <a:extLst xmlns:a="http://schemas.openxmlformats.org/drawingml/2006/main">
              <a:ext uri="{FF2B5EF4-FFF2-40B4-BE49-F238E27FC236}">
                <a16:creationId xmlns:a16="http://schemas.microsoft.com/office/drawing/2014/main" id="{FEC05AED-5A91-468D-944C-3F7FB878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2578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24384C"/>
                </a:solidFill>
              </a:defRPr>
            </a:pPr>
            <a:r>
              <a:rPr sz="938" b="1">
                <a:solidFill>
                  <a:srgbClr val="24384C"/>
                </a:solidFill>
              </a:rPr>
              <a:t>ToolReport[]</a:t>
            </a:r>
          </a:p>
        </p:txBody>
      </p:sp>
      <p:sp>
        <p:nvSpPr>
          <p:cNvPr id="71" name="tool-report-copy">
            <a:extLst xmlns:a="http://schemas.openxmlformats.org/drawingml/2006/main">
              <a:ext uri="{FF2B5EF4-FFF2-40B4-BE49-F238E27FC236}">
                <a16:creationId xmlns:a16="http://schemas.microsoft.com/office/drawing/2014/main" id="{C7BF6E6C-1847-4ABF-952F-6D5C86D8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48300"/>
            <a:ext cx="1219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53" b="0">
                <a:solidFill>
                  <a:srgbClr val="667085"/>
                </a:solidFill>
              </a:defRPr>
            </a:pPr>
            <a:r>
              <a:rPr sz="653" b="0">
                <a:solidFill>
                  <a:srgbClr val="667085"/>
                </a:solidFill>
              </a:rPr>
              <a:t>unknown IDs rejected</a:t>
            </a:r>
          </a:p>
        </p:txBody>
      </p:sp>
      <p:sp>
        <p:nvSpPr>
          <p:cNvPr id="72" name="public-url-note">
            <a:extLst xmlns:a="http://schemas.openxmlformats.org/drawingml/2006/main">
              <a:ext uri="{FF2B5EF4-FFF2-40B4-BE49-F238E27FC236}">
                <a16:creationId xmlns:a16="http://schemas.microsoft.com/office/drawing/2014/main" id="{9088C41B-ECAC-4D13-AC90-72DCA60F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95825"/>
            <a:ext cx="16954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2F2EF"/>
          </a:solidFill>
          <a:ln xmlns:a="http://schemas.openxmlformats.org/drawingml/2006/main" w="9525">
            <a:solidFill>
              <a:srgbClr val="C9CED6"/>
            </a:solidFill>
            <a:prstDash val="solid"/>
          </a:ln>
        </p:spPr>
      </p:sp>
      <p:sp>
        <p:nvSpPr>
          <p:cNvPr id="73" name="public-url-head">
            <a:extLst xmlns:a="http://schemas.openxmlformats.org/drawingml/2006/main">
              <a:ext uri="{FF2B5EF4-FFF2-40B4-BE49-F238E27FC236}">
                <a16:creationId xmlns:a16="http://schemas.microsoft.com/office/drawing/2014/main" id="{1A1BAFC1-B50A-481D-8FC7-D9954FD6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1012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97EA5"/>
                </a:solidFill>
              </a:defRPr>
            </a:pPr>
            <a:r>
              <a:rPr sz="713" b="1">
                <a:solidFill>
                  <a:srgbClr val="397EA5"/>
                </a:solidFill>
              </a:rPr>
              <a:t>PUBLIC URL GATE</a:t>
            </a:r>
          </a:p>
        </p:txBody>
      </p:sp>
      <p:sp>
        <p:nvSpPr>
          <p:cNvPr id="74" name="public-url-copy">
            <a:extLst xmlns:a="http://schemas.openxmlformats.org/drawingml/2006/main">
              <a:ext uri="{FF2B5EF4-FFF2-40B4-BE49-F238E27FC236}">
                <a16:creationId xmlns:a16="http://schemas.microsoft.com/office/drawing/2014/main" id="{3428B91B-FB86-4342-BE65-3B565D52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67085"/>
                </a:solidFill>
              </a:defRPr>
            </a:pPr>
            <a:r>
              <a:rPr sz="698" b="0">
                <a:solidFill>
                  <a:srgbClr val="667085"/>
                </a:solidFill>
              </a:rPr>
              <a:t>reject local, private, reserved, or credentialed targets</a:t>
            </a:r>
          </a:p>
        </p:txBody>
      </p:sp>
      <p:sp>
        <p:nvSpPr>
          <p:cNvPr id="75" name="partial-note">
            <a:extLst xmlns:a="http://schemas.openxmlformats.org/drawingml/2006/main">
              <a:ext uri="{FF2B5EF4-FFF2-40B4-BE49-F238E27FC236}">
                <a16:creationId xmlns:a16="http://schemas.microsoft.com/office/drawing/2014/main" id="{B7A8F808-9DB9-43C9-ACD3-4AB83BA8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95875"/>
            <a:ext cx="1952625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BE9E1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76" name="partial-head">
            <a:extLst xmlns:a="http://schemas.openxmlformats.org/drawingml/2006/main">
              <a:ext uri="{FF2B5EF4-FFF2-40B4-BE49-F238E27FC236}">
                <a16:creationId xmlns:a16="http://schemas.microsoft.com/office/drawing/2014/main" id="{4A05DB06-3035-4AE6-BE93-4E1F37B5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19700"/>
            <a:ext cx="1676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D05A2A"/>
                </a:solidFill>
              </a:defRPr>
            </a:pPr>
            <a:r>
              <a:rPr sz="713" b="1">
                <a:solidFill>
                  <a:srgbClr val="D05A2A"/>
                </a:solidFill>
              </a:rPr>
              <a:t>DEGRADED RUN</a:t>
            </a:r>
          </a:p>
        </p:txBody>
      </p:sp>
      <p:sp>
        <p:nvSpPr>
          <p:cNvPr id="77" name="partial-copy">
            <a:extLst xmlns:a="http://schemas.openxmlformats.org/drawingml/2006/main">
              <a:ext uri="{FF2B5EF4-FFF2-40B4-BE49-F238E27FC236}">
                <a16:creationId xmlns:a16="http://schemas.microsoft.com/office/drawing/2014/main" id="{54F8AD4D-3A4B-4EB6-930A-7F9E0289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197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67085"/>
                </a:solidFill>
              </a:defRPr>
            </a:pPr>
            <a:r>
              <a:rPr sz="698" b="0">
                <a:solidFill>
                  <a:srgbClr val="667085"/>
                </a:solidFill>
              </a:rPr>
              <a:t>failed tools become warnings; sourced profiles continue</a:t>
            </a:r>
          </a:p>
        </p:txBody>
      </p:sp>
      <p:sp>
        <p:nvSpPr>
          <p:cNvPr id="78" name="research-report">
            <a:extLst xmlns:a="http://schemas.openxmlformats.org/drawingml/2006/main">
              <a:ext uri="{FF2B5EF4-FFF2-40B4-BE49-F238E27FC236}">
                <a16:creationId xmlns:a16="http://schemas.microsoft.com/office/drawing/2014/main" id="{42AD2C90-64BE-4DB8-8B4C-0ECC4E05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1381125"/>
            <a:ext cx="1200150" cy="147637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BE9E1"/>
          </a:solidFill>
          <a:ln xmlns:a="http://schemas.openxmlformats.org/drawingml/2006/main" w="16193">
            <a:solidFill>
              <a:srgbClr val="D05A2A"/>
            </a:solidFill>
            <a:prstDash val="solid"/>
          </a:ln>
        </p:spPr>
      </p:sp>
      <p:sp>
        <p:nvSpPr>
          <p:cNvPr id="79" name="report-type">
            <a:extLst xmlns:a="http://schemas.openxmlformats.org/drawingml/2006/main">
              <a:ext uri="{FF2B5EF4-FFF2-40B4-BE49-F238E27FC236}">
                <a16:creationId xmlns:a16="http://schemas.microsoft.com/office/drawing/2014/main" id="{E4E320C3-0CEE-4480-8E65-684AF078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1533525"/>
            <a:ext cx="933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05A2A"/>
                </a:solidFill>
              </a:defRPr>
            </a:pPr>
            <a:r>
              <a:rPr sz="713" b="1">
                <a:solidFill>
                  <a:srgbClr val="D05A2A"/>
                </a:solidFill>
              </a:rPr>
              <a:t>STRICT OUTPUT</a:t>
            </a:r>
          </a:p>
        </p:txBody>
      </p:sp>
      <p:sp>
        <p:nvSpPr>
          <p:cNvPr id="80" name="report-title">
            <a:extLst xmlns:a="http://schemas.openxmlformats.org/drawingml/2006/main">
              <a:ext uri="{FF2B5EF4-FFF2-40B4-BE49-F238E27FC236}">
                <a16:creationId xmlns:a16="http://schemas.microsoft.com/office/drawing/2014/main" id="{ECB8B01F-A021-40FE-A0A2-789DAAD9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1809750"/>
            <a:ext cx="106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C2430"/>
                </a:solidFill>
              </a:defRPr>
            </a:pPr>
            <a:r>
              <a:rPr sz="1163" b="1">
                <a:solidFill>
                  <a:srgbClr val="1C2430"/>
                </a:solidFill>
              </a:rPr>
              <a:t>Research</a:t>
            </a:r>
          </a:p>
          <a:p xmlns:a="http://schemas.openxmlformats.org/drawingml/2006/main">
            <a:pPr algn="ctr">
              <a:defRPr sz="1163" b="1">
                <a:solidFill>
                  <a:srgbClr val="1C2430"/>
                </a:solidFill>
              </a:defRPr>
            </a:pPr>
            <a:r>
              <a:rPr sz="1163" b="1">
                <a:solidFill>
                  <a:srgbClr val="1C2430"/>
                </a:solidFill>
              </a:rPr>
              <a:t>Report</a:t>
            </a:r>
          </a:p>
        </p:txBody>
      </p:sp>
      <p:sp>
        <p:nvSpPr>
          <p:cNvPr id="81" name="report-copy">
            <a:extLst xmlns:a="http://schemas.openxmlformats.org/drawingml/2006/main">
              <a:ext uri="{FF2B5EF4-FFF2-40B4-BE49-F238E27FC236}">
                <a16:creationId xmlns:a16="http://schemas.microsoft.com/office/drawing/2014/main" id="{44BC8464-5665-429C-8B4C-72E9D461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466975"/>
            <a:ext cx="97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citations serialized</a:t>
            </a:r>
          </a:p>
          <a:p xmlns:a="http://schemas.openxmlformats.org/drawingml/2006/main">
            <a:pPr algn="ctr">
              <a:defRPr sz="713" b="0">
                <a:solidFill>
                  <a:srgbClr val="667085"/>
                </a:solidFill>
              </a:defRPr>
            </a:pPr>
            <a:r>
              <a:rPr sz="713" b="0">
                <a:solidFill>
                  <a:srgbClr val="667085"/>
                </a:solidFill>
              </a:rPr>
              <a:t>scraped bodies excluded</a:t>
            </a:r>
          </a:p>
        </p:txBody>
      </p:sp>
      <p:sp>
        <p:nvSpPr>
          <p:cNvPr id="82" name="renderers-label">
            <a:extLst xmlns:a="http://schemas.openxmlformats.org/drawingml/2006/main">
              <a:ext uri="{FF2B5EF4-FFF2-40B4-BE49-F238E27FC236}">
                <a16:creationId xmlns:a16="http://schemas.microsoft.com/office/drawing/2014/main" id="{326E1B3C-DF5D-460B-ACA4-F4A9FCBC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24375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05A2A"/>
                </a:solidFill>
              </a:defRPr>
            </a:pPr>
            <a:r>
              <a:rPr sz="713" b="1">
                <a:solidFill>
                  <a:srgbClr val="D05A2A"/>
                </a:solidFill>
              </a:rPr>
              <a:t>RENDER AS</a:t>
            </a:r>
          </a:p>
        </p:txBody>
      </p:sp>
      <p:sp>
        <p:nvSpPr>
          <p:cNvPr id="83" name="renderer-0">
            <a:extLst xmlns:a="http://schemas.openxmlformats.org/drawingml/2006/main">
              <a:ext uri="{FF2B5EF4-FFF2-40B4-BE49-F238E27FC236}">
                <a16:creationId xmlns:a16="http://schemas.microsoft.com/office/drawing/2014/main" id="{C0309587-B1E3-40AA-904A-9656CBC4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7625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05A2A"/>
            </a:solidFill>
            <a:prstDash val="solid"/>
          </a:ln>
        </p:spPr>
      </p:sp>
      <p:sp>
        <p:nvSpPr>
          <p:cNvPr id="84" name="renderer-0-text">
            <a:extLst xmlns:a="http://schemas.openxmlformats.org/drawingml/2006/main">
              <a:ext uri="{FF2B5EF4-FFF2-40B4-BE49-F238E27FC236}">
                <a16:creationId xmlns:a16="http://schemas.microsoft.com/office/drawing/2014/main" id="{CA36C92C-F670-432F-94AC-B62E0442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8482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1C2430"/>
                </a:solidFill>
              </a:defRPr>
            </a:pPr>
            <a:r>
              <a:rPr sz="735" b="1">
                <a:solidFill>
                  <a:srgbClr val="1C2430"/>
                </a:solidFill>
              </a:rPr>
              <a:t>terminal</a:t>
            </a:r>
          </a:p>
        </p:txBody>
      </p:sp>
      <p:sp>
        <p:nvSpPr>
          <p:cNvPr id="85" name="renderer-1">
            <a:extLst xmlns:a="http://schemas.openxmlformats.org/drawingml/2006/main">
              <a:ext uri="{FF2B5EF4-FFF2-40B4-BE49-F238E27FC236}">
                <a16:creationId xmlns:a16="http://schemas.microsoft.com/office/drawing/2014/main" id="{BF83FCD8-8144-44A5-93C4-D2116F7E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7625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05A2A"/>
            </a:solidFill>
            <a:prstDash val="solid"/>
          </a:ln>
        </p:spPr>
      </p:sp>
      <p:sp>
        <p:nvSpPr>
          <p:cNvPr id="86" name="renderer-1-text">
            <a:extLst xmlns:a="http://schemas.openxmlformats.org/drawingml/2006/main">
              <a:ext uri="{FF2B5EF4-FFF2-40B4-BE49-F238E27FC236}">
                <a16:creationId xmlns:a16="http://schemas.microsoft.com/office/drawing/2014/main" id="{0B9A4B19-3E50-4DAA-9D3C-EF35862F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8482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1C2430"/>
                </a:solidFill>
              </a:defRPr>
            </a:pPr>
            <a:r>
              <a:rPr sz="735" b="1">
                <a:solidFill>
                  <a:srgbClr val="1C2430"/>
                </a:solidFill>
              </a:rPr>
              <a:t>Markdown</a:t>
            </a:r>
          </a:p>
        </p:txBody>
      </p:sp>
      <p:sp>
        <p:nvSpPr>
          <p:cNvPr id="87" name="renderer-2">
            <a:extLst xmlns:a="http://schemas.openxmlformats.org/drawingml/2006/main">
              <a:ext uri="{FF2B5EF4-FFF2-40B4-BE49-F238E27FC236}">
                <a16:creationId xmlns:a16="http://schemas.microsoft.com/office/drawing/2014/main" id="{5F7C4089-6032-42DD-A1E5-548A9A1B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1816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05A2A"/>
            </a:solidFill>
            <a:prstDash val="solid"/>
          </a:ln>
        </p:spPr>
      </p:sp>
      <p:sp>
        <p:nvSpPr>
          <p:cNvPr id="88" name="renderer-2-text">
            <a:extLst xmlns:a="http://schemas.openxmlformats.org/drawingml/2006/main">
              <a:ext uri="{FF2B5EF4-FFF2-40B4-BE49-F238E27FC236}">
                <a16:creationId xmlns:a16="http://schemas.microsoft.com/office/drawing/2014/main" id="{A041C31B-4A2F-42AD-9F0E-6252E5F7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2673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1C2430"/>
                </a:solidFill>
              </a:defRPr>
            </a:pPr>
            <a:r>
              <a:rPr sz="735" b="1">
                <a:solidFill>
                  <a:srgbClr val="1C2430"/>
                </a:solidFill>
              </a:rPr>
              <a:t>JSON</a:t>
            </a:r>
          </a:p>
        </p:txBody>
      </p:sp>
      <p:sp>
        <p:nvSpPr>
          <p:cNvPr id="89" name="renderer-3">
            <a:extLst xmlns:a="http://schemas.openxmlformats.org/drawingml/2006/main">
              <a:ext uri="{FF2B5EF4-FFF2-40B4-BE49-F238E27FC236}">
                <a16:creationId xmlns:a16="http://schemas.microsoft.com/office/drawing/2014/main" id="{3DF41FC9-D944-400B-B4B5-00B8D652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816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05A2A"/>
            </a:solidFill>
            <a:prstDash val="solid"/>
          </a:ln>
        </p:spPr>
      </p:sp>
      <p:sp>
        <p:nvSpPr>
          <p:cNvPr id="90" name="renderer-3-text">
            <a:extLst xmlns:a="http://schemas.openxmlformats.org/drawingml/2006/main">
              <a:ext uri="{FF2B5EF4-FFF2-40B4-BE49-F238E27FC236}">
                <a16:creationId xmlns:a16="http://schemas.microsoft.com/office/drawing/2014/main" id="{4CB7EA20-43E4-43F8-9E98-EB719007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2673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1C2430"/>
                </a:solidFill>
              </a:defRPr>
            </a:pPr>
            <a:r>
              <a:rPr sz="735" b="1">
                <a:solidFill>
                  <a:srgbClr val="1C2430"/>
                </a:solidFill>
              </a:rPr>
              <a:t>CSV</a:t>
            </a:r>
          </a:p>
        </p:txBody>
      </p:sp>
      <p:sp>
        <p:nvSpPr>
          <p:cNvPr id="91" name="safe-write">
            <a:extLst xmlns:a="http://schemas.openxmlformats.org/drawingml/2006/main">
              <a:ext uri="{FF2B5EF4-FFF2-40B4-BE49-F238E27FC236}">
                <a16:creationId xmlns:a16="http://schemas.microsoft.com/office/drawing/2014/main" id="{1F8DFCF8-0921-4D47-B874-58FB1FB5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676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397EA5"/>
                </a:solidFill>
              </a:defRPr>
            </a:pPr>
            <a:r>
              <a:rPr sz="863" b="1">
                <a:solidFill>
                  <a:srgbClr val="397EA5"/>
                </a:solidFill>
              </a:rPr>
              <a:t>write → replace</a:t>
            </a:r>
          </a:p>
        </p:txBody>
      </p:sp>
      <p:sp>
        <p:nvSpPr>
          <p:cNvPr id="92" name="safe-write-copy">
            <a:extLst xmlns:a="http://schemas.openxmlformats.org/drawingml/2006/main">
              <a:ext uri="{FF2B5EF4-FFF2-40B4-BE49-F238E27FC236}">
                <a16:creationId xmlns:a16="http://schemas.microsoft.com/office/drawing/2014/main" id="{C93B3D90-E8A6-4C66-B872-C8D4B60A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9055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67085"/>
                </a:solidFill>
              </a:defRPr>
            </a:pPr>
            <a:r>
              <a:rPr sz="690" b="0">
                <a:solidFill>
                  <a:srgbClr val="667085"/>
                </a:solidFill>
              </a:rPr>
              <a:t>atomic output boundary</a:t>
            </a:r>
          </a:p>
        </p:txBody>
      </p:sp>
      <p:sp>
        <p:nvSpPr>
          <p:cNvPr id="93" name="caption">
            <a:extLst xmlns:a="http://schemas.openxmlformats.org/drawingml/2006/main">
              <a:ext uri="{FF2B5EF4-FFF2-40B4-BE49-F238E27FC236}">
                <a16:creationId xmlns:a16="http://schemas.microsoft.com/office/drawing/2014/main" id="{8BE09A29-296C-4B1B-A732-0DF37C06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1912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C2430"/>
                </a:solidFill>
              </a:defRPr>
            </a:pPr>
            <a:r>
              <a:rPr sz="975" b="0">
                <a:solidFill>
                  <a:srgbClr val="1C2430"/>
                </a:solidFill>
              </a:rPr>
              <a:t>Provider implementations plug into a single typed state machine; validation and degraded-run behavior remain inside the graph rather than the UI.</a:t>
            </a:r>
          </a:p>
        </p:txBody>
      </p:sp>
      <p:sp>
        <p:nvSpPr>
          <p:cNvPr id="94" name="sources">
            <a:extLst xmlns:a="http://schemas.openxmlformats.org/drawingml/2006/main">
              <a:ext uri="{FF2B5EF4-FFF2-40B4-BE49-F238E27FC236}">
                <a16:creationId xmlns:a16="http://schemas.microsoft.com/office/drawing/2014/main" id="{DD1AF169-DA26-4DDE-9B72-599AAA89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610350"/>
            <a:ext cx="8572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85"/>
                </a:solidFill>
              </a:defRPr>
            </a:pPr>
            <a:r>
              <a:rPr sz="690" b="0">
                <a:solidFill>
                  <a:srgbClr val="667085"/>
                </a:solidFill>
              </a:rPr>
              <a:t>pipeline.py · contracts.py · demo.py · live.py · providers.py · models.py · renderers.py</a:t>
            </a:r>
          </a:p>
        </p:txBody>
      </p:sp>
    </p:spTree>
    <p:extLst>
      <p:ext uri="{BB962C8B-B14F-4D97-AF65-F5344CB8AC3E}">
        <p14:creationId xmlns:p14="http://schemas.microsoft.com/office/powerpoint/2010/main" val="1525223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2026-07-21T17:51:42.4820000Z</dcterms:created>
  <dcterms:modified xsi:type="dcterms:W3CDTF">2026-07-21T17:51:42.4820000Z</dcterms:modified>
</coreProperties>
</file>