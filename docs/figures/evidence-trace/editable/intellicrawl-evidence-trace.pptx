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b8b0f58692448e" /><Relationship Type="http://schemas.openxmlformats.org/officeDocument/2006/relationships/extended-properties" Target="/docProps/app.xml" Id="R24e8f60b948043f3" /><Relationship Type="http://schemas.openxmlformats.org/officeDocument/2006/relationships/officeDocument" Target="/ppt/presentation.xml" Id="R630e6a134b8241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6e566ba32d4828"/>
  </p:sldMasterIdLst>
  <p:notesMasterIdLst>
    <p:notesMasterId xmlns:r="http://schemas.openxmlformats.org/officeDocument/2006/relationships" r:id="Rbd0a7bc4784c483e"/>
  </p:notesMasterIdLst>
  <p:sldIdLst>
    <p:sldId xmlns:r="http://schemas.openxmlformats.org/officeDocument/2006/relationships" id="256" r:id="Rbc5625743a8b40e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9e3318f2164750" /><Relationship Type="http://schemas.openxmlformats.org/officeDocument/2006/relationships/slideMaster" Target="/ppt/slideMasters/slideMaster1.xml" Id="R5e6e566ba32d4828" /><Relationship Type="http://schemas.openxmlformats.org/officeDocument/2006/relationships/notesMaster" Target="/ppt/notesMasters/notesMaster1.xml" Id="Rbd0a7bc4784c483e" /><Relationship Type="http://schemas.openxmlformats.org/officeDocument/2006/relationships/presProps" Target="/ppt/presProps.xml" Id="R33a8f1c3289646c3" /><Relationship Type="http://schemas.openxmlformats.org/officeDocument/2006/relationships/tableStyles" Target="/ppt/tableStyles.xml" Id="R0d00e754a9bc408c" /><Relationship Type="http://schemas.openxmlformats.org/officeDocument/2006/relationships/slide" Target="/ppt/slides/slide1.xml" Id="Rbc5625743a8b40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edce04087047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c85b383cc14564" /><Relationship Type="http://schemas.openxmlformats.org/officeDocument/2006/relationships/notesMaster" Target="/ppt/notesMasters/notesMaster1.xml" Id="R788884cf2b5b46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944ff395a46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114bd35e814ce6" /><Relationship Type="http://schemas.openxmlformats.org/officeDocument/2006/relationships/slideLayout" Target="/ppt/slideLayouts/slideLayout1.xml" Id="Rd9a520d8574d4f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a520d8574d4f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25a7eeb2e4e8e" /><Relationship Type="http://schemas.openxmlformats.org/officeDocument/2006/relationships/notesSlide" Target="/ppt/notesSlides/notesSlide1.xml" Id="Rae42f825d0364a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title">
            <a:extLst xmlns:a="http://schemas.openxmlformats.org/drawingml/2006/main">
              <a:ext uri="{FF2B5EF4-FFF2-40B4-BE49-F238E27FC236}">
                <a16:creationId xmlns:a16="http://schemas.microsoft.com/office/drawing/2014/main" id="{85A491DB-7A16-47B7-AE05-B128E4D6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8600"/>
            <a:ext cx="1135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211D"/>
                </a:solidFill>
              </a:defRPr>
            </a:pPr>
            <a:r>
              <a:rPr sz="2550" b="1">
                <a:solidFill>
                  <a:srgbClr val="24211D"/>
                </a:solidFill>
              </a:rPr>
              <a:t>IntelliCrawl exposes the source behind every normalized field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C8D5E13-C8D2-4934-9862-E75B0A6E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76275"/>
            <a:ext cx="11353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655E"/>
                </a:solidFill>
              </a:defRPr>
            </a:pPr>
            <a:r>
              <a:rPr sz="1200" b="0">
                <a:solidFill>
                  <a:srgbClr val="6B655E"/>
                </a:solidFill>
              </a:rPr>
              <a:t>The dated fixture fans one research question into three parallel profiles, then validates each field-level source tag before export.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8B98FB42-97D9-4C6E-954C-9C8D5EA6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38225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211D"/>
            </a:solidFill>
            <a:prstDash val="solid"/>
          </a:ln>
        </p:spPr>
      </p:sp>
      <p:sp>
        <p:nvSpPr>
          <p:cNvPr id="4" name="question-to-spine">
            <a:extLst xmlns:a="http://schemas.openxmlformats.org/drawingml/2006/main">
              <a:ext uri="{FF2B5EF4-FFF2-40B4-BE49-F238E27FC236}">
                <a16:creationId xmlns:a16="http://schemas.microsoft.com/office/drawing/2014/main" id="{F28C4657-00BF-45C0-AEE1-91F17F6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781175"/>
            <a:ext cx="3714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5" name="fanout-spine">
            <a:extLst xmlns:a="http://schemas.openxmlformats.org/drawingml/2006/main">
              <a:ext uri="{FF2B5EF4-FFF2-40B4-BE49-F238E27FC236}">
                <a16:creationId xmlns:a16="http://schemas.microsoft.com/office/drawing/2014/main" id="{5C846AE7-2E1C-4687-8B38-02BFFCD6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95475"/>
            <a:ext cx="0" cy="266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36453B"/>
            </a:solidFill>
            <a:prstDash val="solid"/>
          </a:ln>
        </p:spPr>
      </p:sp>
      <p:sp>
        <p:nvSpPr>
          <p:cNvPr id="6" name="spine-to-lane-0">
            <a:extLst xmlns:a="http://schemas.openxmlformats.org/drawingml/2006/main">
              <a:ext uri="{FF2B5EF4-FFF2-40B4-BE49-F238E27FC236}">
                <a16:creationId xmlns:a16="http://schemas.microsoft.com/office/drawing/2014/main" id="{1CBC9286-AD21-4A3D-8DF4-93C0F68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1838325"/>
            <a:ext cx="1905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7" name="spine-to-lane-1">
            <a:extLst xmlns:a="http://schemas.openxmlformats.org/drawingml/2006/main">
              <a:ext uri="{FF2B5EF4-FFF2-40B4-BE49-F238E27FC236}">
                <a16:creationId xmlns:a16="http://schemas.microsoft.com/office/drawing/2014/main" id="{B159F6AA-193E-41B2-A1C7-D95173B7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171825"/>
            <a:ext cx="1905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8" name="spine-to-lane-2">
            <a:extLst xmlns:a="http://schemas.openxmlformats.org/drawingml/2006/main">
              <a:ext uri="{FF2B5EF4-FFF2-40B4-BE49-F238E27FC236}">
                <a16:creationId xmlns:a16="http://schemas.microsoft.com/office/drawing/2014/main" id="{AC7D9B9B-939D-4976-AEEE-1E8D678B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505325"/>
            <a:ext cx="1905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9" name="lane-to-report-0">
            <a:extLst xmlns:a="http://schemas.openxmlformats.org/drawingml/2006/main">
              <a:ext uri="{FF2B5EF4-FFF2-40B4-BE49-F238E27FC236}">
                <a16:creationId xmlns:a16="http://schemas.microsoft.com/office/drawing/2014/main" id="{E3D10DDD-84B4-4663-A91D-997A080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943100"/>
            <a:ext cx="3238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10" name="lane-to-report-1">
            <a:extLst xmlns:a="http://schemas.openxmlformats.org/drawingml/2006/main">
              <a:ext uri="{FF2B5EF4-FFF2-40B4-BE49-F238E27FC236}">
                <a16:creationId xmlns:a16="http://schemas.microsoft.com/office/drawing/2014/main" id="{2681069E-3564-47A5-B434-9973A9FE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76600"/>
            <a:ext cx="3238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11" name="lane-to-report-2">
            <a:extLst xmlns:a="http://schemas.openxmlformats.org/drawingml/2006/main">
              <a:ext uri="{FF2B5EF4-FFF2-40B4-BE49-F238E27FC236}">
                <a16:creationId xmlns:a16="http://schemas.microsoft.com/office/drawing/2014/main" id="{0F1F8FC4-12ED-435F-8714-DDDDF1DB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610100"/>
            <a:ext cx="3238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12" name="report-to-exports">
            <a:extLst xmlns:a="http://schemas.openxmlformats.org/drawingml/2006/main">
              <a:ext uri="{FF2B5EF4-FFF2-40B4-BE49-F238E27FC236}">
                <a16:creationId xmlns:a16="http://schemas.microsoft.com/office/drawing/2014/main" id="{EE5C67B0-F9A2-4994-925A-51227FA0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1908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B3A2B"/>
          </a:solidFill>
          <a:ln xmlns:a="http://schemas.openxmlformats.org/drawingml/2006/main" w="0">
            <a:solidFill>
              <a:srgbClr val="9B3A2B"/>
            </a:solidFill>
            <a:prstDash val="solid"/>
          </a:ln>
        </p:spPr>
      </p:sp>
      <p:sp>
        <p:nvSpPr>
          <p:cNvPr id="13" name="input-label">
            <a:extLst xmlns:a="http://schemas.openxmlformats.org/drawingml/2006/main">
              <a:ext uri="{FF2B5EF4-FFF2-40B4-BE49-F238E27FC236}">
                <a16:creationId xmlns:a16="http://schemas.microsoft.com/office/drawing/2014/main" id="{000EDABD-9AE0-4514-AA86-392E9D2B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382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ONE RESEARCH QUESTION</a:t>
            </a:r>
          </a:p>
        </p:txBody>
      </p:sp>
      <p:sp>
        <p:nvSpPr>
          <p:cNvPr id="14" name="query">
            <a:extLst xmlns:a="http://schemas.openxmlformats.org/drawingml/2006/main">
              <a:ext uri="{FF2B5EF4-FFF2-40B4-BE49-F238E27FC236}">
                <a16:creationId xmlns:a16="http://schemas.microsoft.com/office/drawing/2014/main" id="{BEFCBF34-DE8C-4B42-9775-1AB60EF1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57325"/>
            <a:ext cx="209550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E7E4D7"/>
          </a:solidFill>
          <a:ln xmlns:a="http://schemas.openxmlformats.org/drawingml/2006/main" w="11430">
            <a:solidFill>
              <a:srgbClr val="36453B"/>
            </a:solidFill>
            <a:prstDash val="solid"/>
          </a:ln>
        </p:spPr>
      </p:sp>
      <p:sp>
        <p:nvSpPr>
          <p:cNvPr id="15" name="query-text">
            <a:extLst xmlns:a="http://schemas.openxmlformats.org/drawingml/2006/main">
              <a:ext uri="{FF2B5EF4-FFF2-40B4-BE49-F238E27FC236}">
                <a16:creationId xmlns:a16="http://schemas.microsoft.com/office/drawing/2014/main" id="{5EAD1D8F-9A28-43D6-B0A3-141EA373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972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453B"/>
                </a:solidFill>
              </a:defRPr>
            </a:pPr>
            <a:r>
              <a:rPr sz="1275" b="1">
                <a:solidFill>
                  <a:srgbClr val="36453B"/>
                </a:solidFill>
              </a:rPr>
              <a:t>vector databases for production RAG</a:t>
            </a:r>
          </a:p>
        </p:txBody>
      </p:sp>
      <p:sp>
        <p:nvSpPr>
          <p:cNvPr id="16" name="query-date">
            <a:extLst xmlns:a="http://schemas.openxmlformats.org/drawingml/2006/main">
              <a:ext uri="{FF2B5EF4-FFF2-40B4-BE49-F238E27FC236}">
                <a16:creationId xmlns:a16="http://schemas.microsoft.com/office/drawing/2014/main" id="{F5CCCF3B-1DEE-4E68-B23B-ABC2E9C3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655E"/>
                </a:solidFill>
              </a:defRPr>
            </a:pPr>
            <a:r>
              <a:rPr sz="825" b="0">
                <a:solidFill>
                  <a:srgbClr val="6B655E"/>
                </a:solidFill>
              </a:rPr>
              <a:t>dated fixture · 2026-07-11</a:t>
            </a:r>
          </a:p>
        </p:txBody>
      </p:sp>
      <p:sp>
        <p:nvSpPr>
          <p:cNvPr id="17" name="parallel-label">
            <a:extLst xmlns:a="http://schemas.openxmlformats.org/drawingml/2006/main">
              <a:ext uri="{FF2B5EF4-FFF2-40B4-BE49-F238E27FC236}">
                <a16:creationId xmlns:a16="http://schemas.microsoft.com/office/drawing/2014/main" id="{AE1F63CF-FE0C-441A-B5A3-2674E43B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23825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PARALLEL PROFILES WITH LOCAL SOURCE TAGS</a:t>
            </a:r>
          </a:p>
        </p:txBody>
      </p:sp>
      <p:sp>
        <p:nvSpPr>
          <p:cNvPr id="18" name="tool-0">
            <a:extLst xmlns:a="http://schemas.openxmlformats.org/drawingml/2006/main">
              <a:ext uri="{FF2B5EF4-FFF2-40B4-BE49-F238E27FC236}">
                <a16:creationId xmlns:a16="http://schemas.microsoft.com/office/drawing/2014/main" id="{FCB4B0D9-3AE2-43D7-A056-B9F5A890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457325"/>
            <a:ext cx="1200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66B4A"/>
                </a:solidFill>
              </a:defRPr>
            </a:pPr>
            <a:r>
              <a:rPr sz="1350" b="1">
                <a:solidFill>
                  <a:srgbClr val="466B4A"/>
                </a:solidFill>
              </a:rPr>
              <a:t>Weaviate</a:t>
            </a:r>
          </a:p>
        </p:txBody>
      </p:sp>
      <p:sp>
        <p:nvSpPr>
          <p:cNvPr id="19" name="status-0">
            <a:extLst xmlns:a="http://schemas.openxmlformats.org/drawingml/2006/main">
              <a:ext uri="{FF2B5EF4-FFF2-40B4-BE49-F238E27FC236}">
                <a16:creationId xmlns:a16="http://schemas.microsoft.com/office/drawing/2014/main" id="{2D8A37C4-18AA-4652-80A9-A923D6C1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695450"/>
            <a:ext cx="95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655E"/>
                </a:solidFill>
              </a:defRPr>
            </a:pPr>
            <a:r>
              <a:rPr sz="825" b="0">
                <a:solidFill>
                  <a:srgbClr val="6B655E"/>
                </a:solidFill>
              </a:rPr>
              <a:t>complete</a:t>
            </a:r>
          </a:p>
        </p:txBody>
      </p:sp>
      <p:sp>
        <p:nvSpPr>
          <p:cNvPr id="20" name="source-doc-0">
            <a:extLst xmlns:a="http://schemas.openxmlformats.org/drawingml/2006/main">
              <a:ext uri="{FF2B5EF4-FFF2-40B4-BE49-F238E27FC236}">
                <a16:creationId xmlns:a16="http://schemas.microsoft.com/office/drawing/2014/main" id="{FE044190-0394-48E5-B727-6D503B2A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933575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21" name="source-doc-text-0">
            <a:extLst xmlns:a="http://schemas.openxmlformats.org/drawingml/2006/main">
              <a:ext uri="{FF2B5EF4-FFF2-40B4-BE49-F238E27FC236}">
                <a16:creationId xmlns:a16="http://schemas.microsoft.com/office/drawing/2014/main" id="{6DD876BE-D9AE-4B85-A50A-B013D005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0977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S1  docs</a:t>
            </a:r>
          </a:p>
        </p:txBody>
      </p:sp>
      <p:sp>
        <p:nvSpPr>
          <p:cNvPr id="22" name="source-price-0">
            <a:extLst xmlns:a="http://schemas.openxmlformats.org/drawingml/2006/main">
              <a:ext uri="{FF2B5EF4-FFF2-40B4-BE49-F238E27FC236}">
                <a16:creationId xmlns:a16="http://schemas.microsoft.com/office/drawing/2014/main" id="{B58520B7-125A-4ECA-B2AD-E1B17E8E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14575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23" name="source-price-text-0">
            <a:extLst xmlns:a="http://schemas.openxmlformats.org/drawingml/2006/main">
              <a:ext uri="{FF2B5EF4-FFF2-40B4-BE49-F238E27FC236}">
                <a16:creationId xmlns:a16="http://schemas.microsoft.com/office/drawing/2014/main" id="{DD51B30A-F71C-4EAE-AC55-8B276ECD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9077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S2  pricing</a:t>
            </a:r>
          </a:p>
        </p:txBody>
      </p:sp>
      <p:sp>
        <p:nvSpPr>
          <p:cNvPr id="24" name="lane-rule-0">
            <a:extLst xmlns:a="http://schemas.openxmlformats.org/drawingml/2006/main">
              <a:ext uri="{FF2B5EF4-FFF2-40B4-BE49-F238E27FC236}">
                <a16:creationId xmlns:a16="http://schemas.microsoft.com/office/drawing/2014/main" id="{C404C95A-09A1-400D-8697-CEC5BE48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581150"/>
            <a:ext cx="5105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466B4A"/>
            </a:solidFill>
            <a:prstDash val="solid"/>
          </a:ln>
        </p:spPr>
      </p:sp>
      <p:sp>
        <p:nvSpPr>
          <p:cNvPr id="25" name="field-0-0">
            <a:extLst xmlns:a="http://schemas.openxmlformats.org/drawingml/2006/main">
              <a:ext uri="{FF2B5EF4-FFF2-40B4-BE49-F238E27FC236}">
                <a16:creationId xmlns:a16="http://schemas.microsoft.com/office/drawing/2014/main" id="{3A3B2D84-F910-484C-A335-214E7F5D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752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26" name="field-name-0-0">
            <a:extLst xmlns:a="http://schemas.openxmlformats.org/drawingml/2006/main">
              <a:ext uri="{FF2B5EF4-FFF2-40B4-BE49-F238E27FC236}">
                <a16:creationId xmlns:a16="http://schemas.microsoft.com/office/drawing/2014/main" id="{7D00552F-34D7-49FF-9AF2-F42B46DD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57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profile</a:t>
            </a:r>
          </a:p>
        </p:txBody>
      </p:sp>
      <p:sp>
        <p:nvSpPr>
          <p:cNvPr id="27" name="field-source-0-0">
            <a:extLst xmlns:a="http://schemas.openxmlformats.org/drawingml/2006/main">
              <a:ext uri="{FF2B5EF4-FFF2-40B4-BE49-F238E27FC236}">
                <a16:creationId xmlns:a16="http://schemas.microsoft.com/office/drawing/2014/main" id="{E3423096-E8C3-429D-A462-E569A1C1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200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S1</a:t>
            </a:r>
          </a:p>
        </p:txBody>
      </p:sp>
      <p:sp>
        <p:nvSpPr>
          <p:cNvPr id="28" name="field-0-1">
            <a:extLst xmlns:a="http://schemas.openxmlformats.org/drawingml/2006/main">
              <a:ext uri="{FF2B5EF4-FFF2-40B4-BE49-F238E27FC236}">
                <a16:creationId xmlns:a16="http://schemas.microsoft.com/office/drawing/2014/main" id="{40A02BA5-473C-42D2-B506-151B2795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52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29" name="field-name-0-1">
            <a:extLst xmlns:a="http://schemas.openxmlformats.org/drawingml/2006/main">
              <a:ext uri="{FF2B5EF4-FFF2-40B4-BE49-F238E27FC236}">
                <a16:creationId xmlns:a16="http://schemas.microsoft.com/office/drawing/2014/main" id="{AD2AF719-7C95-453F-97DC-EEF090A1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57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price</a:t>
            </a:r>
          </a:p>
        </p:txBody>
      </p:sp>
      <p:sp>
        <p:nvSpPr>
          <p:cNvPr id="30" name="field-source-0-1">
            <a:extLst xmlns:a="http://schemas.openxmlformats.org/drawingml/2006/main">
              <a:ext uri="{FF2B5EF4-FFF2-40B4-BE49-F238E27FC236}">
                <a16:creationId xmlns:a16="http://schemas.microsoft.com/office/drawing/2014/main" id="{1A850C04-23FD-49E0-87C8-781DDE5C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200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S2</a:t>
            </a:r>
          </a:p>
        </p:txBody>
      </p:sp>
      <p:sp>
        <p:nvSpPr>
          <p:cNvPr id="31" name="field-0-2">
            <a:extLst xmlns:a="http://schemas.openxmlformats.org/drawingml/2006/main">
              <a:ext uri="{FF2B5EF4-FFF2-40B4-BE49-F238E27FC236}">
                <a16:creationId xmlns:a16="http://schemas.microsoft.com/office/drawing/2014/main" id="{E4B2D5A9-F348-4290-8877-1C1FF3CF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752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32" name="field-name-0-2">
            <a:extLst xmlns:a="http://schemas.openxmlformats.org/drawingml/2006/main">
              <a:ext uri="{FF2B5EF4-FFF2-40B4-BE49-F238E27FC236}">
                <a16:creationId xmlns:a16="http://schemas.microsoft.com/office/drawing/2014/main" id="{EADCABBE-7E19-4834-AB52-CBFEF850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57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OSS</a:t>
            </a:r>
          </a:p>
        </p:txBody>
      </p:sp>
      <p:sp>
        <p:nvSpPr>
          <p:cNvPr id="33" name="field-source-0-2">
            <a:extLst xmlns:a="http://schemas.openxmlformats.org/drawingml/2006/main">
              <a:ext uri="{FF2B5EF4-FFF2-40B4-BE49-F238E27FC236}">
                <a16:creationId xmlns:a16="http://schemas.microsoft.com/office/drawing/2014/main" id="{08873A0E-A22E-4469-98D3-6C1613EA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200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S1</a:t>
            </a:r>
          </a:p>
        </p:txBody>
      </p:sp>
      <p:sp>
        <p:nvSpPr>
          <p:cNvPr id="34" name="field-0-3">
            <a:extLst xmlns:a="http://schemas.openxmlformats.org/drawingml/2006/main">
              <a:ext uri="{FF2B5EF4-FFF2-40B4-BE49-F238E27FC236}">
                <a16:creationId xmlns:a16="http://schemas.microsoft.com/office/drawing/2014/main" id="{54D6870A-EBC4-4364-A61D-B868AD9A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35" name="field-name-0-3">
            <a:extLst xmlns:a="http://schemas.openxmlformats.org/drawingml/2006/main">
              <a:ext uri="{FF2B5EF4-FFF2-40B4-BE49-F238E27FC236}">
                <a16:creationId xmlns:a16="http://schemas.microsoft.com/office/drawing/2014/main" id="{F3F707C0-1858-4E86-B542-186CB031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857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API</a:t>
            </a:r>
          </a:p>
        </p:txBody>
      </p:sp>
      <p:sp>
        <p:nvSpPr>
          <p:cNvPr id="36" name="field-source-0-3">
            <a:extLst xmlns:a="http://schemas.openxmlformats.org/drawingml/2006/main">
              <a:ext uri="{FF2B5EF4-FFF2-40B4-BE49-F238E27FC236}">
                <a16:creationId xmlns:a16="http://schemas.microsoft.com/office/drawing/2014/main" id="{2FDD91C2-97C7-4834-A65B-03248682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00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S1</a:t>
            </a:r>
          </a:p>
        </p:txBody>
      </p:sp>
      <p:sp>
        <p:nvSpPr>
          <p:cNvPr id="37" name="field-0-4">
            <a:extLst xmlns:a="http://schemas.openxmlformats.org/drawingml/2006/main">
              <a:ext uri="{FF2B5EF4-FFF2-40B4-BE49-F238E27FC236}">
                <a16:creationId xmlns:a16="http://schemas.microsoft.com/office/drawing/2014/main" id="{2F3B2731-18A5-423D-9736-EAE21076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52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38" name="field-name-0-4">
            <a:extLst xmlns:a="http://schemas.openxmlformats.org/drawingml/2006/main">
              <a:ext uri="{FF2B5EF4-FFF2-40B4-BE49-F238E27FC236}">
                <a16:creationId xmlns:a16="http://schemas.microsoft.com/office/drawing/2014/main" id="{182C9F33-5423-4BAC-A885-7C444B0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57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SDKs</a:t>
            </a:r>
          </a:p>
        </p:txBody>
      </p:sp>
      <p:sp>
        <p:nvSpPr>
          <p:cNvPr id="39" name="field-source-0-4">
            <a:extLst xmlns:a="http://schemas.openxmlformats.org/drawingml/2006/main">
              <a:ext uri="{FF2B5EF4-FFF2-40B4-BE49-F238E27FC236}">
                <a16:creationId xmlns:a16="http://schemas.microsoft.com/office/drawing/2014/main" id="{1AB9BBE8-F6DC-45FB-B498-59A98DF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200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S1</a:t>
            </a:r>
          </a:p>
        </p:txBody>
      </p:sp>
      <p:sp>
        <p:nvSpPr>
          <p:cNvPr id="40" name="field-0-5">
            <a:extLst xmlns:a="http://schemas.openxmlformats.org/drawingml/2006/main">
              <a:ext uri="{FF2B5EF4-FFF2-40B4-BE49-F238E27FC236}">
                <a16:creationId xmlns:a16="http://schemas.microsoft.com/office/drawing/2014/main" id="{071DE66D-8566-40F8-A7B4-A0CF64C9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52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466B4A"/>
            </a:solidFill>
            <a:prstDash val="solid"/>
          </a:ln>
        </p:spPr>
      </p:sp>
      <p:sp>
        <p:nvSpPr>
          <p:cNvPr id="41" name="field-name-0-5">
            <a:extLst xmlns:a="http://schemas.openxmlformats.org/drawingml/2006/main">
              <a:ext uri="{FF2B5EF4-FFF2-40B4-BE49-F238E27FC236}">
                <a16:creationId xmlns:a16="http://schemas.microsoft.com/office/drawing/2014/main" id="{F6068AB6-6ACC-40C2-BD07-75868FCC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857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integr.</a:t>
            </a:r>
          </a:p>
        </p:txBody>
      </p:sp>
      <p:sp>
        <p:nvSpPr>
          <p:cNvPr id="42" name="field-source-0-5">
            <a:extLst xmlns:a="http://schemas.openxmlformats.org/drawingml/2006/main">
              <a:ext uri="{FF2B5EF4-FFF2-40B4-BE49-F238E27FC236}">
                <a16:creationId xmlns:a16="http://schemas.microsoft.com/office/drawing/2014/main" id="{B1E402F7-50A5-4FE7-B219-9A69CFCE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00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66B4A"/>
                </a:solidFill>
              </a:defRPr>
            </a:pPr>
            <a:r>
              <a:rPr sz="900" b="1">
                <a:solidFill>
                  <a:srgbClr val="466B4A"/>
                </a:solidFill>
              </a:rPr>
              <a:t>S1</a:t>
            </a:r>
          </a:p>
        </p:txBody>
      </p:sp>
      <p:sp>
        <p:nvSpPr>
          <p:cNvPr id="43" name="validation-0">
            <a:extLst xmlns:a="http://schemas.openxmlformats.org/drawingml/2006/main">
              <a:ext uri="{FF2B5EF4-FFF2-40B4-BE49-F238E27FC236}">
                <a16:creationId xmlns:a16="http://schemas.microsoft.com/office/drawing/2014/main" id="{D150C33F-908C-403E-ABFE-F6EBB7EF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505075"/>
            <a:ext cx="510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6 fields · source IDs validated against this profile’s two retained sources</a:t>
            </a:r>
          </a:p>
        </p:txBody>
      </p:sp>
      <p:sp>
        <p:nvSpPr>
          <p:cNvPr id="44" name="tool-1">
            <a:extLst xmlns:a="http://schemas.openxmlformats.org/drawingml/2006/main">
              <a:ext uri="{FF2B5EF4-FFF2-40B4-BE49-F238E27FC236}">
                <a16:creationId xmlns:a16="http://schemas.microsoft.com/office/drawing/2014/main" id="{117386EB-D26D-47B7-89B8-F4A2187B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90825"/>
            <a:ext cx="1200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5F36"/>
                </a:solidFill>
              </a:defRPr>
            </a:pPr>
            <a:r>
              <a:rPr sz="1350" b="1">
                <a:solidFill>
                  <a:srgbClr val="B85F36"/>
                </a:solidFill>
              </a:rPr>
              <a:t>Pinecone</a:t>
            </a:r>
          </a:p>
        </p:txBody>
      </p:sp>
      <p:sp>
        <p:nvSpPr>
          <p:cNvPr id="45" name="status-1">
            <a:extLst xmlns:a="http://schemas.openxmlformats.org/drawingml/2006/main">
              <a:ext uri="{FF2B5EF4-FFF2-40B4-BE49-F238E27FC236}">
                <a16:creationId xmlns:a16="http://schemas.microsoft.com/office/drawing/2014/main" id="{80927E18-7FDC-4DB2-96DF-80978DD7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28950"/>
            <a:ext cx="95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655E"/>
                </a:solidFill>
              </a:defRPr>
            </a:pPr>
            <a:r>
              <a:rPr sz="825" b="0">
                <a:solidFill>
                  <a:srgbClr val="6B655E"/>
                </a:solidFill>
              </a:rPr>
              <a:t>complete</a:t>
            </a:r>
          </a:p>
        </p:txBody>
      </p:sp>
      <p:sp>
        <p:nvSpPr>
          <p:cNvPr id="46" name="source-doc-1">
            <a:extLst xmlns:a="http://schemas.openxmlformats.org/drawingml/2006/main">
              <a:ext uri="{FF2B5EF4-FFF2-40B4-BE49-F238E27FC236}">
                <a16:creationId xmlns:a16="http://schemas.microsoft.com/office/drawing/2014/main" id="{E56F2C24-8964-4515-8FEF-0CF3AFBF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67075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47" name="source-doc-text-1">
            <a:extLst xmlns:a="http://schemas.openxmlformats.org/drawingml/2006/main">
              <a:ext uri="{FF2B5EF4-FFF2-40B4-BE49-F238E27FC236}">
                <a16:creationId xmlns:a16="http://schemas.microsoft.com/office/drawing/2014/main" id="{CD033F29-325E-4AB0-B27C-6111EEF7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4327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S1  docs</a:t>
            </a:r>
          </a:p>
        </p:txBody>
      </p:sp>
      <p:sp>
        <p:nvSpPr>
          <p:cNvPr id="48" name="source-price-1">
            <a:extLst xmlns:a="http://schemas.openxmlformats.org/drawingml/2006/main">
              <a:ext uri="{FF2B5EF4-FFF2-40B4-BE49-F238E27FC236}">
                <a16:creationId xmlns:a16="http://schemas.microsoft.com/office/drawing/2014/main" id="{43E6AAE3-F2BD-4465-8082-F36B4454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48075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49" name="source-price-text-1">
            <a:extLst xmlns:a="http://schemas.openxmlformats.org/drawingml/2006/main">
              <a:ext uri="{FF2B5EF4-FFF2-40B4-BE49-F238E27FC236}">
                <a16:creationId xmlns:a16="http://schemas.microsoft.com/office/drawing/2014/main" id="{22098DAE-BB36-4E2E-AD38-58AA137A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2427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S2  pricing</a:t>
            </a:r>
          </a:p>
        </p:txBody>
      </p:sp>
      <p:sp>
        <p:nvSpPr>
          <p:cNvPr id="50" name="lane-rule-1">
            <a:extLst xmlns:a="http://schemas.openxmlformats.org/drawingml/2006/main">
              <a:ext uri="{FF2B5EF4-FFF2-40B4-BE49-F238E27FC236}">
                <a16:creationId xmlns:a16="http://schemas.microsoft.com/office/drawing/2014/main" id="{051F8ACD-2E43-4E68-8723-C8B18A9B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914650"/>
            <a:ext cx="5105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85F36"/>
            </a:solidFill>
            <a:prstDash val="solid"/>
          </a:ln>
        </p:spPr>
      </p:sp>
      <p:sp>
        <p:nvSpPr>
          <p:cNvPr id="51" name="field-1-0">
            <a:extLst xmlns:a="http://schemas.openxmlformats.org/drawingml/2006/main">
              <a:ext uri="{FF2B5EF4-FFF2-40B4-BE49-F238E27FC236}">
                <a16:creationId xmlns:a16="http://schemas.microsoft.com/office/drawing/2014/main" id="{430B6D40-8D0A-4426-BB10-23A8CA6F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861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52" name="field-name-1-0">
            <a:extLst xmlns:a="http://schemas.openxmlformats.org/drawingml/2006/main">
              <a:ext uri="{FF2B5EF4-FFF2-40B4-BE49-F238E27FC236}">
                <a16:creationId xmlns:a16="http://schemas.microsoft.com/office/drawing/2014/main" id="{284CC8E6-40AB-4783-908A-6CD909F2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90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profile</a:t>
            </a:r>
          </a:p>
        </p:txBody>
      </p:sp>
      <p:sp>
        <p:nvSpPr>
          <p:cNvPr id="53" name="field-source-1-0">
            <a:extLst xmlns:a="http://schemas.openxmlformats.org/drawingml/2006/main">
              <a:ext uri="{FF2B5EF4-FFF2-40B4-BE49-F238E27FC236}">
                <a16:creationId xmlns:a16="http://schemas.microsoft.com/office/drawing/2014/main" id="{BBFE1C44-EDDA-4D6B-9A8D-088E77C2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5337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S1</a:t>
            </a:r>
          </a:p>
        </p:txBody>
      </p:sp>
      <p:sp>
        <p:nvSpPr>
          <p:cNvPr id="54" name="field-1-1">
            <a:extLst xmlns:a="http://schemas.openxmlformats.org/drawingml/2006/main">
              <a:ext uri="{FF2B5EF4-FFF2-40B4-BE49-F238E27FC236}">
                <a16:creationId xmlns:a16="http://schemas.microsoft.com/office/drawing/2014/main" id="{5B3E4DB4-A20E-47D9-BB40-237C8BC0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861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55" name="field-name-1-1">
            <a:extLst xmlns:a="http://schemas.openxmlformats.org/drawingml/2006/main">
              <a:ext uri="{FF2B5EF4-FFF2-40B4-BE49-F238E27FC236}">
                <a16:creationId xmlns:a16="http://schemas.microsoft.com/office/drawing/2014/main" id="{531D6C2C-92AE-4268-A0EC-0376472A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190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price</a:t>
            </a:r>
          </a:p>
        </p:txBody>
      </p:sp>
      <p:sp>
        <p:nvSpPr>
          <p:cNvPr id="56" name="field-source-1-1">
            <a:extLst xmlns:a="http://schemas.openxmlformats.org/drawingml/2006/main">
              <a:ext uri="{FF2B5EF4-FFF2-40B4-BE49-F238E27FC236}">
                <a16:creationId xmlns:a16="http://schemas.microsoft.com/office/drawing/2014/main" id="{5721E41B-BF53-4C39-BC58-5315A7CC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337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S2</a:t>
            </a:r>
          </a:p>
        </p:txBody>
      </p:sp>
      <p:sp>
        <p:nvSpPr>
          <p:cNvPr id="57" name="field-1-2">
            <a:extLst xmlns:a="http://schemas.openxmlformats.org/drawingml/2006/main">
              <a:ext uri="{FF2B5EF4-FFF2-40B4-BE49-F238E27FC236}">
                <a16:creationId xmlns:a16="http://schemas.microsoft.com/office/drawing/2014/main" id="{C46D1A26-FE03-4095-8E90-EA834BC7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0861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58" name="field-name-1-2">
            <a:extLst xmlns:a="http://schemas.openxmlformats.org/drawingml/2006/main">
              <a:ext uri="{FF2B5EF4-FFF2-40B4-BE49-F238E27FC236}">
                <a16:creationId xmlns:a16="http://schemas.microsoft.com/office/drawing/2014/main" id="{9B4556CD-C064-4920-A8E6-FA99E48E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90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OSS</a:t>
            </a:r>
          </a:p>
        </p:txBody>
      </p:sp>
      <p:sp>
        <p:nvSpPr>
          <p:cNvPr id="59" name="field-source-1-2">
            <a:extLst xmlns:a="http://schemas.openxmlformats.org/drawingml/2006/main">
              <a:ext uri="{FF2B5EF4-FFF2-40B4-BE49-F238E27FC236}">
                <a16:creationId xmlns:a16="http://schemas.microsoft.com/office/drawing/2014/main" id="{B8F18657-68AB-4D52-9913-DF098CE0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5337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S1</a:t>
            </a:r>
          </a:p>
        </p:txBody>
      </p:sp>
      <p:sp>
        <p:nvSpPr>
          <p:cNvPr id="60" name="field-1-3">
            <a:extLst xmlns:a="http://schemas.openxmlformats.org/drawingml/2006/main">
              <a:ext uri="{FF2B5EF4-FFF2-40B4-BE49-F238E27FC236}">
                <a16:creationId xmlns:a16="http://schemas.microsoft.com/office/drawing/2014/main" id="{4BFDE87E-4B89-4090-A1D6-040A84CD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861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61" name="field-name-1-3">
            <a:extLst xmlns:a="http://schemas.openxmlformats.org/drawingml/2006/main">
              <a:ext uri="{FF2B5EF4-FFF2-40B4-BE49-F238E27FC236}">
                <a16:creationId xmlns:a16="http://schemas.microsoft.com/office/drawing/2014/main" id="{D970D7D7-FA4F-46D9-9ADD-D271BF41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190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API</a:t>
            </a:r>
          </a:p>
        </p:txBody>
      </p:sp>
      <p:sp>
        <p:nvSpPr>
          <p:cNvPr id="62" name="field-source-1-3">
            <a:extLst xmlns:a="http://schemas.openxmlformats.org/drawingml/2006/main">
              <a:ext uri="{FF2B5EF4-FFF2-40B4-BE49-F238E27FC236}">
                <a16:creationId xmlns:a16="http://schemas.microsoft.com/office/drawing/2014/main" id="{B59E2D88-89EB-4C42-95EF-3D9C1A2B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337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S1</a:t>
            </a:r>
          </a:p>
        </p:txBody>
      </p:sp>
      <p:sp>
        <p:nvSpPr>
          <p:cNvPr id="63" name="field-1-4">
            <a:extLst xmlns:a="http://schemas.openxmlformats.org/drawingml/2006/main">
              <a:ext uri="{FF2B5EF4-FFF2-40B4-BE49-F238E27FC236}">
                <a16:creationId xmlns:a16="http://schemas.microsoft.com/office/drawing/2014/main" id="{EF5C1B2B-C6E9-464F-9627-BB21F6C6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861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64" name="field-name-1-4">
            <a:extLst xmlns:a="http://schemas.openxmlformats.org/drawingml/2006/main">
              <a:ext uri="{FF2B5EF4-FFF2-40B4-BE49-F238E27FC236}">
                <a16:creationId xmlns:a16="http://schemas.microsoft.com/office/drawing/2014/main" id="{4CBC8221-303C-412E-A50B-446436D1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SDKs</a:t>
            </a:r>
          </a:p>
        </p:txBody>
      </p:sp>
      <p:sp>
        <p:nvSpPr>
          <p:cNvPr id="65" name="field-source-1-4">
            <a:extLst xmlns:a="http://schemas.openxmlformats.org/drawingml/2006/main">
              <a:ext uri="{FF2B5EF4-FFF2-40B4-BE49-F238E27FC236}">
                <a16:creationId xmlns:a16="http://schemas.microsoft.com/office/drawing/2014/main" id="{05CE1EE4-1176-4DAA-BA32-A2F38100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5337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S1</a:t>
            </a:r>
          </a:p>
        </p:txBody>
      </p:sp>
      <p:sp>
        <p:nvSpPr>
          <p:cNvPr id="66" name="field-1-5">
            <a:extLst xmlns:a="http://schemas.openxmlformats.org/drawingml/2006/main">
              <a:ext uri="{FF2B5EF4-FFF2-40B4-BE49-F238E27FC236}">
                <a16:creationId xmlns:a16="http://schemas.microsoft.com/office/drawing/2014/main" id="{799069C6-BDF9-41CA-9BE0-DCB498C8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861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67" name="field-name-1-5">
            <a:extLst xmlns:a="http://schemas.openxmlformats.org/drawingml/2006/main">
              <a:ext uri="{FF2B5EF4-FFF2-40B4-BE49-F238E27FC236}">
                <a16:creationId xmlns:a16="http://schemas.microsoft.com/office/drawing/2014/main" id="{113807FA-64EE-495A-866A-94492AC2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190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integr.</a:t>
            </a:r>
          </a:p>
        </p:txBody>
      </p:sp>
      <p:sp>
        <p:nvSpPr>
          <p:cNvPr id="68" name="field-source-1-5">
            <a:extLst xmlns:a="http://schemas.openxmlformats.org/drawingml/2006/main">
              <a:ext uri="{FF2B5EF4-FFF2-40B4-BE49-F238E27FC236}">
                <a16:creationId xmlns:a16="http://schemas.microsoft.com/office/drawing/2014/main" id="{ADAB6F35-86F7-4A9E-97E5-F704D376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337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85F36"/>
                </a:solidFill>
              </a:defRPr>
            </a:pPr>
            <a:r>
              <a:rPr sz="900" b="1">
                <a:solidFill>
                  <a:srgbClr val="B85F36"/>
                </a:solidFill>
              </a:rPr>
              <a:t>S1</a:t>
            </a:r>
          </a:p>
        </p:txBody>
      </p:sp>
      <p:sp>
        <p:nvSpPr>
          <p:cNvPr id="69" name="validation-1">
            <a:extLst xmlns:a="http://schemas.openxmlformats.org/drawingml/2006/main">
              <a:ext uri="{FF2B5EF4-FFF2-40B4-BE49-F238E27FC236}">
                <a16:creationId xmlns:a16="http://schemas.microsoft.com/office/drawing/2014/main" id="{264D269F-427D-4D36-9463-BCD14CC8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838575"/>
            <a:ext cx="510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6 fields · source IDs validated against this profile’s two retained sources</a:t>
            </a:r>
          </a:p>
        </p:txBody>
      </p:sp>
      <p:sp>
        <p:nvSpPr>
          <p:cNvPr id="70" name="tool-2">
            <a:extLst xmlns:a="http://schemas.openxmlformats.org/drawingml/2006/main">
              <a:ext uri="{FF2B5EF4-FFF2-40B4-BE49-F238E27FC236}">
                <a16:creationId xmlns:a16="http://schemas.microsoft.com/office/drawing/2014/main" id="{6714475D-70A4-4719-918A-F47D7911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24325"/>
            <a:ext cx="1200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C4F70"/>
                </a:solidFill>
              </a:defRPr>
            </a:pPr>
            <a:r>
              <a:rPr sz="1350" b="1">
                <a:solidFill>
                  <a:srgbClr val="6C4F70"/>
                </a:solidFill>
              </a:rPr>
              <a:t>Qdrant</a:t>
            </a:r>
          </a:p>
        </p:txBody>
      </p:sp>
      <p:sp>
        <p:nvSpPr>
          <p:cNvPr id="71" name="status-2">
            <a:extLst xmlns:a="http://schemas.openxmlformats.org/drawingml/2006/main">
              <a:ext uri="{FF2B5EF4-FFF2-40B4-BE49-F238E27FC236}">
                <a16:creationId xmlns:a16="http://schemas.microsoft.com/office/drawing/2014/main" id="{D0654078-CA98-438D-81BE-B592AF72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62450"/>
            <a:ext cx="95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655E"/>
                </a:solidFill>
              </a:defRPr>
            </a:pPr>
            <a:r>
              <a:rPr sz="825" b="0">
                <a:solidFill>
                  <a:srgbClr val="6B655E"/>
                </a:solidFill>
              </a:rPr>
              <a:t>complete</a:t>
            </a:r>
          </a:p>
        </p:txBody>
      </p:sp>
      <p:sp>
        <p:nvSpPr>
          <p:cNvPr id="72" name="source-doc-2">
            <a:extLst xmlns:a="http://schemas.openxmlformats.org/drawingml/2006/main">
              <a:ext uri="{FF2B5EF4-FFF2-40B4-BE49-F238E27FC236}">
                <a16:creationId xmlns:a16="http://schemas.microsoft.com/office/drawing/2014/main" id="{819F7937-5927-402D-9623-B4301B86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600575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73" name="source-doc-text-2">
            <a:extLst xmlns:a="http://schemas.openxmlformats.org/drawingml/2006/main">
              <a:ext uri="{FF2B5EF4-FFF2-40B4-BE49-F238E27FC236}">
                <a16:creationId xmlns:a16="http://schemas.microsoft.com/office/drawing/2014/main" id="{A2E1D899-BC90-426D-B9E0-506CA6CC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7677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S1  docs</a:t>
            </a:r>
          </a:p>
        </p:txBody>
      </p:sp>
      <p:sp>
        <p:nvSpPr>
          <p:cNvPr id="74" name="source-price-2">
            <a:extLst xmlns:a="http://schemas.openxmlformats.org/drawingml/2006/main">
              <a:ext uri="{FF2B5EF4-FFF2-40B4-BE49-F238E27FC236}">
                <a16:creationId xmlns:a16="http://schemas.microsoft.com/office/drawing/2014/main" id="{AA89C3DB-BC6F-4E16-8994-7C1B5372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81575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75" name="source-price-text-2">
            <a:extLst xmlns:a="http://schemas.openxmlformats.org/drawingml/2006/main">
              <a:ext uri="{FF2B5EF4-FFF2-40B4-BE49-F238E27FC236}">
                <a16:creationId xmlns:a16="http://schemas.microsoft.com/office/drawing/2014/main" id="{7E7BDC65-6FE7-4856-9AA1-01AAA07A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57775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S2  pricing</a:t>
            </a:r>
          </a:p>
        </p:txBody>
      </p:sp>
      <p:sp>
        <p:nvSpPr>
          <p:cNvPr id="76" name="lane-rule-2">
            <a:extLst xmlns:a="http://schemas.openxmlformats.org/drawingml/2006/main">
              <a:ext uri="{FF2B5EF4-FFF2-40B4-BE49-F238E27FC236}">
                <a16:creationId xmlns:a16="http://schemas.microsoft.com/office/drawing/2014/main" id="{43DDA174-2E7E-403F-9A1D-BECED3A1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248150"/>
            <a:ext cx="5105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C4F70"/>
            </a:solidFill>
            <a:prstDash val="solid"/>
          </a:ln>
        </p:spPr>
      </p:sp>
      <p:sp>
        <p:nvSpPr>
          <p:cNvPr id="77" name="field-2-0">
            <a:extLst xmlns:a="http://schemas.openxmlformats.org/drawingml/2006/main">
              <a:ext uri="{FF2B5EF4-FFF2-40B4-BE49-F238E27FC236}">
                <a16:creationId xmlns:a16="http://schemas.microsoft.com/office/drawing/2014/main" id="{ACD588B1-E36E-4135-AAB1-9DFCCE90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419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78" name="field-name-2-0">
            <a:extLst xmlns:a="http://schemas.openxmlformats.org/drawingml/2006/main">
              <a:ext uri="{FF2B5EF4-FFF2-40B4-BE49-F238E27FC236}">
                <a16:creationId xmlns:a16="http://schemas.microsoft.com/office/drawing/2014/main" id="{1D374FFA-9A51-4726-9490-29C8153A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24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profile</a:t>
            </a:r>
          </a:p>
        </p:txBody>
      </p:sp>
      <p:sp>
        <p:nvSpPr>
          <p:cNvPr id="79" name="field-source-2-0">
            <a:extLst xmlns:a="http://schemas.openxmlformats.org/drawingml/2006/main">
              <a:ext uri="{FF2B5EF4-FFF2-40B4-BE49-F238E27FC236}">
                <a16:creationId xmlns:a16="http://schemas.microsoft.com/office/drawing/2014/main" id="{1838B262-2260-4751-A2DE-61493C23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867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S1</a:t>
            </a:r>
          </a:p>
        </p:txBody>
      </p:sp>
      <p:sp>
        <p:nvSpPr>
          <p:cNvPr id="80" name="field-2-1">
            <a:extLst xmlns:a="http://schemas.openxmlformats.org/drawingml/2006/main">
              <a:ext uri="{FF2B5EF4-FFF2-40B4-BE49-F238E27FC236}">
                <a16:creationId xmlns:a16="http://schemas.microsoft.com/office/drawing/2014/main" id="{528657E0-1AB1-40AD-AFC0-93854228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419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81" name="field-name-2-1">
            <a:extLst xmlns:a="http://schemas.openxmlformats.org/drawingml/2006/main">
              <a:ext uri="{FF2B5EF4-FFF2-40B4-BE49-F238E27FC236}">
                <a16:creationId xmlns:a16="http://schemas.microsoft.com/office/drawing/2014/main" id="{BBBB4171-2651-4EAD-87E5-60755B45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24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price</a:t>
            </a:r>
          </a:p>
        </p:txBody>
      </p:sp>
      <p:sp>
        <p:nvSpPr>
          <p:cNvPr id="82" name="field-source-2-1">
            <a:extLst xmlns:a="http://schemas.openxmlformats.org/drawingml/2006/main">
              <a:ext uri="{FF2B5EF4-FFF2-40B4-BE49-F238E27FC236}">
                <a16:creationId xmlns:a16="http://schemas.microsoft.com/office/drawing/2014/main" id="{6508F30C-D5A4-4B2D-B909-341A55A5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867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S2</a:t>
            </a:r>
          </a:p>
        </p:txBody>
      </p:sp>
      <p:sp>
        <p:nvSpPr>
          <p:cNvPr id="83" name="field-2-2">
            <a:extLst xmlns:a="http://schemas.openxmlformats.org/drawingml/2006/main">
              <a:ext uri="{FF2B5EF4-FFF2-40B4-BE49-F238E27FC236}">
                <a16:creationId xmlns:a16="http://schemas.microsoft.com/office/drawing/2014/main" id="{749F4216-F2D1-453F-BBDE-3785D1F9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19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84" name="field-name-2-2">
            <a:extLst xmlns:a="http://schemas.openxmlformats.org/drawingml/2006/main">
              <a:ext uri="{FF2B5EF4-FFF2-40B4-BE49-F238E27FC236}">
                <a16:creationId xmlns:a16="http://schemas.microsoft.com/office/drawing/2014/main" id="{9A53ECDE-7CD3-4355-B155-589F568A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524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OSS</a:t>
            </a:r>
          </a:p>
        </p:txBody>
      </p:sp>
      <p:sp>
        <p:nvSpPr>
          <p:cNvPr id="85" name="field-source-2-2">
            <a:extLst xmlns:a="http://schemas.openxmlformats.org/drawingml/2006/main">
              <a:ext uri="{FF2B5EF4-FFF2-40B4-BE49-F238E27FC236}">
                <a16:creationId xmlns:a16="http://schemas.microsoft.com/office/drawing/2014/main" id="{39E107B8-BBE5-402B-A712-8E240CA6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867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S1</a:t>
            </a:r>
          </a:p>
        </p:txBody>
      </p:sp>
      <p:sp>
        <p:nvSpPr>
          <p:cNvPr id="86" name="field-2-3">
            <a:extLst xmlns:a="http://schemas.openxmlformats.org/drawingml/2006/main">
              <a:ext uri="{FF2B5EF4-FFF2-40B4-BE49-F238E27FC236}">
                <a16:creationId xmlns:a16="http://schemas.microsoft.com/office/drawing/2014/main" id="{B0612573-9BF9-435D-AE8A-F751B6CB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19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87" name="field-name-2-3">
            <a:extLst xmlns:a="http://schemas.openxmlformats.org/drawingml/2006/main">
              <a:ext uri="{FF2B5EF4-FFF2-40B4-BE49-F238E27FC236}">
                <a16:creationId xmlns:a16="http://schemas.microsoft.com/office/drawing/2014/main" id="{9720E642-DB81-4A46-B66F-33E86C55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524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API</a:t>
            </a:r>
          </a:p>
        </p:txBody>
      </p:sp>
      <p:sp>
        <p:nvSpPr>
          <p:cNvPr id="88" name="field-source-2-3">
            <a:extLst xmlns:a="http://schemas.openxmlformats.org/drawingml/2006/main">
              <a:ext uri="{FF2B5EF4-FFF2-40B4-BE49-F238E27FC236}">
                <a16:creationId xmlns:a16="http://schemas.microsoft.com/office/drawing/2014/main" id="{105E3FF3-CB57-48DD-86A0-D1335D22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67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S1</a:t>
            </a:r>
          </a:p>
        </p:txBody>
      </p:sp>
      <p:sp>
        <p:nvSpPr>
          <p:cNvPr id="89" name="field-2-4">
            <a:extLst xmlns:a="http://schemas.openxmlformats.org/drawingml/2006/main">
              <a:ext uri="{FF2B5EF4-FFF2-40B4-BE49-F238E27FC236}">
                <a16:creationId xmlns:a16="http://schemas.microsoft.com/office/drawing/2014/main" id="{105981FF-5897-414A-837C-A56C0B29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419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90" name="field-name-2-4">
            <a:extLst xmlns:a="http://schemas.openxmlformats.org/drawingml/2006/main">
              <a:ext uri="{FF2B5EF4-FFF2-40B4-BE49-F238E27FC236}">
                <a16:creationId xmlns:a16="http://schemas.microsoft.com/office/drawing/2014/main" id="{34C6A487-B1A5-4A5F-835B-24D7E498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24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SDKs</a:t>
            </a:r>
          </a:p>
        </p:txBody>
      </p:sp>
      <p:sp>
        <p:nvSpPr>
          <p:cNvPr id="91" name="field-source-2-4">
            <a:extLst xmlns:a="http://schemas.openxmlformats.org/drawingml/2006/main">
              <a:ext uri="{FF2B5EF4-FFF2-40B4-BE49-F238E27FC236}">
                <a16:creationId xmlns:a16="http://schemas.microsoft.com/office/drawing/2014/main" id="{93DDAC05-480B-4265-86C7-8B88418F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867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S1</a:t>
            </a:r>
          </a:p>
        </p:txBody>
      </p:sp>
      <p:sp>
        <p:nvSpPr>
          <p:cNvPr id="92" name="field-2-5">
            <a:extLst xmlns:a="http://schemas.openxmlformats.org/drawingml/2006/main">
              <a:ext uri="{FF2B5EF4-FFF2-40B4-BE49-F238E27FC236}">
                <a16:creationId xmlns:a16="http://schemas.microsoft.com/office/drawing/2014/main" id="{5654015D-AF98-461E-A910-BD1C5805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19600"/>
            <a:ext cx="75247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9525">
            <a:solidFill>
              <a:srgbClr val="6C4F70"/>
            </a:solidFill>
            <a:prstDash val="solid"/>
          </a:ln>
        </p:spPr>
      </p:sp>
      <p:sp>
        <p:nvSpPr>
          <p:cNvPr id="93" name="field-name-2-5">
            <a:extLst xmlns:a="http://schemas.openxmlformats.org/drawingml/2006/main">
              <a:ext uri="{FF2B5EF4-FFF2-40B4-BE49-F238E27FC236}">
                <a16:creationId xmlns:a16="http://schemas.microsoft.com/office/drawing/2014/main" id="{54B7A540-1089-4DAF-8519-0B29E959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5243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integr.</a:t>
            </a:r>
          </a:p>
        </p:txBody>
      </p:sp>
      <p:sp>
        <p:nvSpPr>
          <p:cNvPr id="94" name="field-source-2-5">
            <a:extLst xmlns:a="http://schemas.openxmlformats.org/drawingml/2006/main">
              <a:ext uri="{FF2B5EF4-FFF2-40B4-BE49-F238E27FC236}">
                <a16:creationId xmlns:a16="http://schemas.microsoft.com/office/drawing/2014/main" id="{AA706005-AA2E-4851-9B37-D44FBB41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867275"/>
            <a:ext cx="485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4F70"/>
                </a:solidFill>
              </a:defRPr>
            </a:pPr>
            <a:r>
              <a:rPr sz="900" b="1">
                <a:solidFill>
                  <a:srgbClr val="6C4F70"/>
                </a:solidFill>
              </a:rPr>
              <a:t>S1</a:t>
            </a:r>
          </a:p>
        </p:txBody>
      </p:sp>
      <p:sp>
        <p:nvSpPr>
          <p:cNvPr id="95" name="validation-2">
            <a:extLst xmlns:a="http://schemas.openxmlformats.org/drawingml/2006/main">
              <a:ext uri="{FF2B5EF4-FFF2-40B4-BE49-F238E27FC236}">
                <a16:creationId xmlns:a16="http://schemas.microsoft.com/office/drawing/2014/main" id="{760901AA-9C0E-4281-A8E8-D605E7FF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5172075"/>
            <a:ext cx="510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6 fields · source IDs validated against this profile’s two retained sources</a:t>
            </a:r>
          </a:p>
        </p:txBody>
      </p:sp>
      <p:sp>
        <p:nvSpPr>
          <p:cNvPr id="96" name="report-label">
            <a:extLst xmlns:a="http://schemas.openxmlformats.org/drawingml/2006/main">
              <a:ext uri="{FF2B5EF4-FFF2-40B4-BE49-F238E27FC236}">
                <a16:creationId xmlns:a16="http://schemas.microsoft.com/office/drawing/2014/main" id="{88482165-5BCD-4137-932E-45D0854C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238250"/>
            <a:ext cx="1695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VALIDATED REPORT</a:t>
            </a:r>
          </a:p>
        </p:txBody>
      </p:sp>
      <p:sp>
        <p:nvSpPr>
          <p:cNvPr id="97" name="report">
            <a:extLst xmlns:a="http://schemas.openxmlformats.org/drawingml/2006/main">
              <a:ext uri="{FF2B5EF4-FFF2-40B4-BE49-F238E27FC236}">
                <a16:creationId xmlns:a16="http://schemas.microsoft.com/office/drawing/2014/main" id="{01793EF1-3228-4446-9EA2-D35BF5E4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457325"/>
            <a:ext cx="1123950" cy="3390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36453B"/>
            </a:solidFill>
            <a:prstDash val="solid"/>
          </a:ln>
        </p:spPr>
      </p:sp>
      <p:sp>
        <p:nvSpPr>
          <p:cNvPr id="98" name="report-count">
            <a:extLst xmlns:a="http://schemas.openxmlformats.org/drawingml/2006/main">
              <a:ext uri="{FF2B5EF4-FFF2-40B4-BE49-F238E27FC236}">
                <a16:creationId xmlns:a16="http://schemas.microsoft.com/office/drawing/2014/main" id="{A32DA189-0003-42E4-8096-1C89E954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28775"/>
            <a:ext cx="819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36453B"/>
                </a:solidFill>
              </a:defRPr>
            </a:pPr>
            <a:r>
              <a:rPr sz="2175" b="1">
                <a:solidFill>
                  <a:srgbClr val="36453B"/>
                </a:solidFill>
              </a:rPr>
              <a:t>3</a:t>
            </a:r>
          </a:p>
        </p:txBody>
      </p:sp>
      <p:sp>
        <p:nvSpPr>
          <p:cNvPr id="99" name="report-profiles">
            <a:extLst xmlns:a="http://schemas.openxmlformats.org/drawingml/2006/main">
              <a:ext uri="{FF2B5EF4-FFF2-40B4-BE49-F238E27FC236}">
                <a16:creationId xmlns:a16="http://schemas.microsoft.com/office/drawing/2014/main" id="{18ED12A7-FB83-423C-9C19-EC78C4B4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716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211D"/>
                </a:solidFill>
              </a:defRPr>
            </a:pPr>
            <a:r>
              <a:rPr sz="900" b="1">
                <a:solidFill>
                  <a:srgbClr val="24211D"/>
                </a:solidFill>
              </a:rPr>
              <a:t>complete</a:t>
            </a:r>
          </a:p>
          <a:p xmlns:a="http://schemas.openxmlformats.org/drawingml/2006/main">
            <a:pPr algn="ctr">
              <a:defRPr sz="900" b="1">
                <a:solidFill>
                  <a:srgbClr val="24211D"/>
                </a:solidFill>
              </a:defRPr>
            </a:pPr>
            <a:r>
              <a:rPr sz="900" b="1">
                <a:solidFill>
                  <a:srgbClr val="24211D"/>
                </a:solidFill>
              </a:rPr>
              <a:t>profiles</a:t>
            </a:r>
          </a:p>
        </p:txBody>
      </p:sp>
      <p:sp>
        <p:nvSpPr>
          <p:cNvPr id="100" name="report-rule-1">
            <a:extLst xmlns:a="http://schemas.openxmlformats.org/drawingml/2006/main">
              <a:ext uri="{FF2B5EF4-FFF2-40B4-BE49-F238E27FC236}">
                <a16:creationId xmlns:a16="http://schemas.microsoft.com/office/drawing/2014/main" id="{BCCA4401-5716-4EC6-A488-FF92D9A3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66975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101" name="report-citations">
            <a:extLst xmlns:a="http://schemas.openxmlformats.org/drawingml/2006/main">
              <a:ext uri="{FF2B5EF4-FFF2-40B4-BE49-F238E27FC236}">
                <a16:creationId xmlns:a16="http://schemas.microsoft.com/office/drawing/2014/main" id="{70C20826-D921-4B1E-B24A-D61D1D31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193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6453B"/>
                </a:solidFill>
              </a:defRPr>
            </a:pPr>
            <a:r>
              <a:rPr sz="2025" b="1">
                <a:solidFill>
                  <a:srgbClr val="36453B"/>
                </a:solidFill>
              </a:rPr>
              <a:t>6</a:t>
            </a:r>
          </a:p>
        </p:txBody>
      </p:sp>
      <p:sp>
        <p:nvSpPr>
          <p:cNvPr id="102" name="report-citation-label">
            <a:extLst xmlns:a="http://schemas.openxmlformats.org/drawingml/2006/main">
              <a:ext uri="{FF2B5EF4-FFF2-40B4-BE49-F238E27FC236}">
                <a16:creationId xmlns:a16="http://schemas.microsoft.com/office/drawing/2014/main" id="{8700E7FC-94F7-4B8F-96A3-B41B0977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33700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211D"/>
                </a:solidFill>
              </a:defRPr>
            </a:pPr>
            <a:r>
              <a:rPr sz="900" b="1">
                <a:solidFill>
                  <a:srgbClr val="24211D"/>
                </a:solidFill>
              </a:rPr>
              <a:t>public</a:t>
            </a:r>
          </a:p>
          <a:p xmlns:a="http://schemas.openxmlformats.org/drawingml/2006/main">
            <a:pPr algn="ctr">
              <a:defRPr sz="900" b="1">
                <a:solidFill>
                  <a:srgbClr val="24211D"/>
                </a:solidFill>
              </a:defRPr>
            </a:pPr>
            <a:r>
              <a:rPr sz="900" b="1">
                <a:solidFill>
                  <a:srgbClr val="24211D"/>
                </a:solidFill>
              </a:rPr>
              <a:t>citations</a:t>
            </a:r>
          </a:p>
        </p:txBody>
      </p:sp>
      <p:sp>
        <p:nvSpPr>
          <p:cNvPr id="103" name="report-rule-2">
            <a:extLst xmlns:a="http://schemas.openxmlformats.org/drawingml/2006/main">
              <a:ext uri="{FF2B5EF4-FFF2-40B4-BE49-F238E27FC236}">
                <a16:creationId xmlns:a16="http://schemas.microsoft.com/office/drawing/2014/main" id="{54763CB8-6EF9-4F71-8EB6-45191157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438525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104" name="report-warnings">
            <a:extLst xmlns:a="http://schemas.openxmlformats.org/drawingml/2006/main">
              <a:ext uri="{FF2B5EF4-FFF2-40B4-BE49-F238E27FC236}">
                <a16:creationId xmlns:a16="http://schemas.microsoft.com/office/drawing/2014/main" id="{9AFC557E-E998-43CD-8322-E9562CED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59092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66B4A"/>
                </a:solidFill>
              </a:defRPr>
            </a:pPr>
            <a:r>
              <a:rPr sz="2025" b="1">
                <a:solidFill>
                  <a:srgbClr val="466B4A"/>
                </a:solidFill>
              </a:rPr>
              <a:t>0</a:t>
            </a:r>
          </a:p>
        </p:txBody>
      </p:sp>
      <p:sp>
        <p:nvSpPr>
          <p:cNvPr id="105" name="report-warning-label">
            <a:extLst xmlns:a="http://schemas.openxmlformats.org/drawingml/2006/main">
              <a:ext uri="{FF2B5EF4-FFF2-40B4-BE49-F238E27FC236}">
                <a16:creationId xmlns:a16="http://schemas.microsoft.com/office/drawing/2014/main" id="{FCAB1E44-00A9-4FF5-972E-61DF01FA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24300"/>
            <a:ext cx="819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211D"/>
                </a:solidFill>
              </a:defRPr>
            </a:pPr>
            <a:r>
              <a:rPr sz="900" b="1">
                <a:solidFill>
                  <a:srgbClr val="24211D"/>
                </a:solidFill>
              </a:rPr>
              <a:t>warnings</a:t>
            </a:r>
          </a:p>
        </p:txBody>
      </p:sp>
      <p:sp>
        <p:nvSpPr>
          <p:cNvPr id="106" name="report-note">
            <a:extLst xmlns:a="http://schemas.openxmlformats.org/drawingml/2006/main">
              <a:ext uri="{FF2B5EF4-FFF2-40B4-BE49-F238E27FC236}">
                <a16:creationId xmlns:a16="http://schemas.microsoft.com/office/drawing/2014/main" id="{2281AD0B-D519-442E-8D69-CC7DAA22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3624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B655E"/>
                </a:solidFill>
              </a:defRPr>
            </a:pPr>
            <a:r>
              <a:rPr sz="713" b="0">
                <a:solidFill>
                  <a:srgbClr val="6B655E"/>
                </a:solidFill>
              </a:rPr>
              <a:t>validated</a:t>
            </a:r>
          </a:p>
          <a:p xmlns:a="http://schemas.openxmlformats.org/drawingml/2006/main">
            <a:pPr algn="ctr">
              <a:defRPr sz="713" b="0">
                <a:solidFill>
                  <a:srgbClr val="6B655E"/>
                </a:solidFill>
              </a:defRPr>
            </a:pPr>
            <a:r>
              <a:rPr sz="713" b="0">
                <a:solidFill>
                  <a:srgbClr val="6B655E"/>
                </a:solidFill>
              </a:rPr>
              <a:t>recommendation</a:t>
            </a:r>
          </a:p>
        </p:txBody>
      </p:sp>
      <p:sp>
        <p:nvSpPr>
          <p:cNvPr id="107" name="exports-label">
            <a:extLst xmlns:a="http://schemas.openxmlformats.org/drawingml/2006/main">
              <a:ext uri="{FF2B5EF4-FFF2-40B4-BE49-F238E27FC236}">
                <a16:creationId xmlns:a16="http://schemas.microsoft.com/office/drawing/2014/main" id="{729F00A6-5F05-4930-812A-81F6A328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1238250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9B3A2B"/>
                </a:solidFill>
              </a:defRPr>
            </a:pPr>
            <a:r>
              <a:rPr sz="788" b="1">
                <a:solidFill>
                  <a:srgbClr val="9B3A2B"/>
                </a:solidFill>
              </a:rPr>
              <a:t>FOUR VIEWS</a:t>
            </a:r>
          </a:p>
        </p:txBody>
      </p:sp>
      <p:sp>
        <p:nvSpPr>
          <p:cNvPr id="108" name="export-0">
            <a:extLst xmlns:a="http://schemas.openxmlformats.org/drawingml/2006/main">
              <a:ext uri="{FF2B5EF4-FFF2-40B4-BE49-F238E27FC236}">
                <a16:creationId xmlns:a16="http://schemas.microsoft.com/office/drawing/2014/main" id="{3B52C87F-C18E-4A0F-B235-FD9E731B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1628775"/>
            <a:ext cx="62865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6E9C9"/>
          </a:solidFill>
          <a:ln xmlns:a="http://schemas.openxmlformats.org/drawingml/2006/main" w="9525">
            <a:solidFill>
              <a:srgbClr val="B97916"/>
            </a:solidFill>
            <a:prstDash val="solid"/>
          </a:ln>
        </p:spPr>
      </p:sp>
      <p:sp>
        <p:nvSpPr>
          <p:cNvPr id="109" name="export-label-0">
            <a:extLst xmlns:a="http://schemas.openxmlformats.org/drawingml/2006/main">
              <a:ext uri="{FF2B5EF4-FFF2-40B4-BE49-F238E27FC236}">
                <a16:creationId xmlns:a16="http://schemas.microsoft.com/office/drawing/2014/main" id="{EFDD0C9D-3745-4606-8E56-2D4402F3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80022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97916"/>
                </a:solidFill>
              </a:defRPr>
            </a:pPr>
            <a:r>
              <a:rPr sz="900" b="1">
                <a:solidFill>
                  <a:srgbClr val="B97916"/>
                </a:solidFill>
              </a:rPr>
              <a:t>TBL</a:t>
            </a:r>
          </a:p>
        </p:txBody>
      </p:sp>
      <p:sp>
        <p:nvSpPr>
          <p:cNvPr id="110" name="export-1">
            <a:extLst xmlns:a="http://schemas.openxmlformats.org/drawingml/2006/main">
              <a:ext uri="{FF2B5EF4-FFF2-40B4-BE49-F238E27FC236}">
                <a16:creationId xmlns:a16="http://schemas.microsoft.com/office/drawing/2014/main" id="{81B911FA-60D4-4706-A330-C4E22958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409825"/>
            <a:ext cx="62865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3D9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111" name="export-label-1">
            <a:extLst xmlns:a="http://schemas.openxmlformats.org/drawingml/2006/main">
              <a:ext uri="{FF2B5EF4-FFF2-40B4-BE49-F238E27FC236}">
                <a16:creationId xmlns:a16="http://schemas.microsoft.com/office/drawing/2014/main" id="{B2ACBA17-FE6E-4E97-B2FF-6A2B06F0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5812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36453B"/>
                </a:solidFill>
              </a:defRPr>
            </a:pPr>
            <a:r>
              <a:rPr sz="788" b="1">
                <a:solidFill>
                  <a:srgbClr val="36453B"/>
                </a:solidFill>
              </a:rPr>
              <a:t>MD</a:t>
            </a:r>
          </a:p>
        </p:txBody>
      </p:sp>
      <p:sp>
        <p:nvSpPr>
          <p:cNvPr id="112" name="export-2">
            <a:extLst xmlns:a="http://schemas.openxmlformats.org/drawingml/2006/main">
              <a:ext uri="{FF2B5EF4-FFF2-40B4-BE49-F238E27FC236}">
                <a16:creationId xmlns:a16="http://schemas.microsoft.com/office/drawing/2014/main" id="{8CD4D586-4EBF-4044-B1C3-1F028EC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90875"/>
            <a:ext cx="62865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3D9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113" name="export-label-2">
            <a:extLst xmlns:a="http://schemas.openxmlformats.org/drawingml/2006/main">
              <a:ext uri="{FF2B5EF4-FFF2-40B4-BE49-F238E27FC236}">
                <a16:creationId xmlns:a16="http://schemas.microsoft.com/office/drawing/2014/main" id="{6D859359-3FF2-40E3-8214-96676B64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336232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36453B"/>
                </a:solidFill>
              </a:defRPr>
            </a:pPr>
            <a:r>
              <a:rPr sz="788" b="1">
                <a:solidFill>
                  <a:srgbClr val="36453B"/>
                </a:solidFill>
              </a:rPr>
              <a:t>JSON</a:t>
            </a:r>
          </a:p>
        </p:txBody>
      </p:sp>
      <p:sp>
        <p:nvSpPr>
          <p:cNvPr id="114" name="export-3">
            <a:extLst xmlns:a="http://schemas.openxmlformats.org/drawingml/2006/main">
              <a:ext uri="{FF2B5EF4-FFF2-40B4-BE49-F238E27FC236}">
                <a16:creationId xmlns:a16="http://schemas.microsoft.com/office/drawing/2014/main" id="{32CFADD4-9F09-49B0-8E4C-50DA202D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971925"/>
            <a:ext cx="62865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3D9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115" name="export-label-3">
            <a:extLst xmlns:a="http://schemas.openxmlformats.org/drawingml/2006/main">
              <a:ext uri="{FF2B5EF4-FFF2-40B4-BE49-F238E27FC236}">
                <a16:creationId xmlns:a16="http://schemas.microsoft.com/office/drawing/2014/main" id="{AAFA2849-060C-4E44-B2E6-7843A5DB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1433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36453B"/>
                </a:solidFill>
              </a:defRPr>
            </a:pPr>
            <a:r>
              <a:rPr sz="788" b="1">
                <a:solidFill>
                  <a:srgbClr val="36453B"/>
                </a:solidFill>
              </a:rPr>
              <a:t>CSV</a:t>
            </a:r>
          </a:p>
        </p:txBody>
      </p:sp>
      <p:sp>
        <p:nvSpPr>
          <p:cNvPr id="11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522A2F7-F3D5-4F16-B35D-AA42DFB3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007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4211D"/>
            </a:solidFill>
            <a:prstDash val="solid"/>
          </a:ln>
        </p:spPr>
      </p:sp>
      <p:sp>
        <p:nvSpPr>
          <p:cNvPr id="117" name="failure-label">
            <a:extLst xmlns:a="http://schemas.openxmlformats.org/drawingml/2006/main">
              <a:ext uri="{FF2B5EF4-FFF2-40B4-BE49-F238E27FC236}">
                <a16:creationId xmlns:a16="http://schemas.microsoft.com/office/drawing/2014/main" id="{440DEBA1-3B1B-4961-9A02-5CE912EF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816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FAILURE SEMANTICS</a:t>
            </a:r>
          </a:p>
        </p:txBody>
      </p:sp>
      <p:sp>
        <p:nvSpPr>
          <p:cNvPr id="118" name="failure-copy">
            <a:extLst xmlns:a="http://schemas.openxmlformats.org/drawingml/2006/main">
              <a:ext uri="{FF2B5EF4-FFF2-40B4-BE49-F238E27FC236}">
                <a16:creationId xmlns:a16="http://schemas.microsoft.com/office/drawing/2014/main" id="{4D8995DD-941B-444C-9732-9AC1E736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74357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453B"/>
                </a:solidFill>
              </a:defRPr>
            </a:pPr>
            <a:r>
              <a:rPr sz="1050" b="1">
                <a:solidFill>
                  <a:srgbClr val="36453B"/>
                </a:solidFill>
              </a:rPr>
              <a:t>missing field → partial profile   ·   failed provider → warning   ·   no sourced profile → no report</a:t>
            </a:r>
          </a:p>
        </p:txBody>
      </p:sp>
      <p:sp>
        <p:nvSpPr>
          <p:cNvPr id="119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586D16FD-BA9A-4AC0-A9D5-B8576393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722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EVIDENCE BOUNDARY</a:t>
            </a:r>
          </a:p>
        </p:txBody>
      </p:sp>
      <p:sp>
        <p:nvSpPr>
          <p:cNvPr id="120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4FFF401A-3280-46BB-A28A-799B7A2F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12457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4211D"/>
                </a:solidFill>
              </a:defRPr>
            </a:pPr>
            <a:r>
              <a:rPr sz="1013" b="0">
                <a:solidFill>
                  <a:srgbClr val="24211D"/>
                </a:solidFill>
              </a:rPr>
              <a:t>Complete deterministic fixture—not a live crawl, current market comparison, recommendation-quality study, or factuality evaluation.</a:t>
            </a:r>
          </a:p>
        </p:txBody>
      </p:sp>
      <p:sp>
        <p:nvSpPr>
          <p:cNvPr id="121" name="sources">
            <a:extLst xmlns:a="http://schemas.openxmlformats.org/drawingml/2006/main">
              <a:ext uri="{FF2B5EF4-FFF2-40B4-BE49-F238E27FC236}">
                <a16:creationId xmlns:a16="http://schemas.microsoft.com/office/drawing/2014/main" id="{A8B65906-1762-45AF-967A-B73553E2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91300"/>
            <a:ext cx="11353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B655E"/>
                </a:solidFill>
              </a:defRPr>
            </a:pPr>
            <a:r>
              <a:rPr sz="750" b="0">
                <a:solidFill>
                  <a:srgbClr val="6B655E"/>
                </a:solidFill>
              </a:rPr>
              <a:t>Sources: examples/demo-report.json · src/intellicrawl/pipeline.py · demo.py · renderers.py</a:t>
            </a:r>
          </a:p>
        </p:txBody>
      </p:sp>
    </p:spTree>
    <p:extLst>
      <p:ext uri="{BB962C8B-B14F-4D97-AF65-F5344CB8AC3E}">
        <p14:creationId xmlns:p14="http://schemas.microsoft.com/office/powerpoint/2010/main" val="7348456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2026-07-21T07:17:56.9450000Z</dcterms:created>
  <dcterms:modified xsi:type="dcterms:W3CDTF">2026-07-21T07:17:56.9450000Z</dcterms:modified>
</coreProperties>
</file>