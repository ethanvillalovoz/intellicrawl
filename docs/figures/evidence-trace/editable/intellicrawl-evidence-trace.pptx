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bb75e69f9469d" /><Relationship Type="http://schemas.openxmlformats.org/officeDocument/2006/relationships/extended-properties" Target="/docProps/app.xml" Id="R3342329f115b45f3" /><Relationship Type="http://schemas.openxmlformats.org/officeDocument/2006/relationships/officeDocument" Target="/ppt/presentation.xml" Id="Rb56635b099524b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59a75e36b7460a"/>
  </p:sldMasterIdLst>
  <p:notesMasterIdLst>
    <p:notesMasterId xmlns:r="http://schemas.openxmlformats.org/officeDocument/2006/relationships" r:id="R898fbd25ec4540ae"/>
  </p:notesMasterIdLst>
  <p:sldIdLst>
    <p:sldId xmlns:r="http://schemas.openxmlformats.org/officeDocument/2006/relationships" id="256" r:id="R1dd14a6c2fc34e5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aed4a53f9f443b" /><Relationship Type="http://schemas.openxmlformats.org/officeDocument/2006/relationships/slideMaster" Target="/ppt/slideMasters/slideMaster1.xml" Id="Rae59a75e36b7460a" /><Relationship Type="http://schemas.openxmlformats.org/officeDocument/2006/relationships/notesMaster" Target="/ppt/notesMasters/notesMaster1.xml" Id="R898fbd25ec4540ae" /><Relationship Type="http://schemas.openxmlformats.org/officeDocument/2006/relationships/presProps" Target="/ppt/presProps.xml" Id="Rf599a9974a214b75" /><Relationship Type="http://schemas.openxmlformats.org/officeDocument/2006/relationships/tableStyles" Target="/ppt/tableStyles.xml" Id="R07d9828ea3134e66" /><Relationship Type="http://schemas.openxmlformats.org/officeDocument/2006/relationships/slide" Target="/ppt/slides/slide1.xml" Id="R1dd14a6c2fc34e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ca877fbfae47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9ad76a225042fa" /><Relationship Type="http://schemas.openxmlformats.org/officeDocument/2006/relationships/notesMaster" Target="/ppt/notesMasters/notesMaster1.xml" Id="Rf7c0c7835ead47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da3cbc34414e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46005a0b934ead" /><Relationship Type="http://schemas.openxmlformats.org/officeDocument/2006/relationships/slideLayout" Target="/ppt/slideLayouts/slideLayout1.xml" Id="R2641d32edf1946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41d32edf1946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0ca0fdbd8e436b" /><Relationship Type="http://schemas.openxmlformats.org/officeDocument/2006/relationships/notesSlide" Target="/ppt/notesSlides/notesSlide1.xml" Id="R265c3db3aebf41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title">
            <a:extLst xmlns:a="http://schemas.openxmlformats.org/drawingml/2006/main">
              <a:ext uri="{FF2B5EF4-FFF2-40B4-BE49-F238E27FC236}">
                <a16:creationId xmlns:a16="http://schemas.microsoft.com/office/drawing/2014/main" id="{5849309F-F2D3-4BE9-9278-DE20723E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"/>
            <a:ext cx="1135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4211D"/>
                </a:solidFill>
              </a:defRPr>
            </a:pPr>
            <a:r>
              <a:rPr sz="2325" b="1">
                <a:solidFill>
                  <a:srgbClr val="24211D"/>
                </a:solidFill>
              </a:rPr>
              <a:t>IntelliCrawl runs one typed research graph across replaceable providers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95D8A99-5873-4875-A6CB-14A133959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7225"/>
            <a:ext cx="11353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B655E"/>
                </a:solidFill>
              </a:defRPr>
            </a:pPr>
            <a:r>
              <a:rPr sz="1163" b="0">
                <a:solidFill>
                  <a:srgbClr val="6B655E"/>
                </a:solidFill>
              </a:rPr>
              <a:t>Demo fixtures and live Firecrawl/OpenAI adapters implement the same contracts; validation and failure semantics stay inside the shared LangGraph pipeline.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88993ADB-57B3-4A4A-8EA3-904A1B04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211D"/>
            </a:solidFill>
            <a:prstDash val="solid"/>
          </a:ln>
        </p:spPr>
      </p:sp>
      <p:sp>
        <p:nvSpPr>
          <p:cNvPr id="4" name="provider-label">
            <a:extLst xmlns:a="http://schemas.openxmlformats.org/drawingml/2006/main">
              <a:ext uri="{FF2B5EF4-FFF2-40B4-BE49-F238E27FC236}">
                <a16:creationId xmlns:a16="http://schemas.microsoft.com/office/drawing/2014/main" id="{C38FF0F3-DE15-43C8-9153-4CFB94E5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PROVIDER ASSEMBLIES</a:t>
            </a:r>
          </a:p>
        </p:txBody>
      </p:sp>
      <p:sp>
        <p:nvSpPr>
          <p:cNvPr id="5" name="demo-frame">
            <a:extLst xmlns:a="http://schemas.openxmlformats.org/drawingml/2006/main">
              <a:ext uri="{FF2B5EF4-FFF2-40B4-BE49-F238E27FC236}">
                <a16:creationId xmlns:a16="http://schemas.microsoft.com/office/drawing/2014/main" id="{7D21FDC3-9180-4CC5-B763-62F993F3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66850"/>
            <a:ext cx="2057400" cy="104775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11430">
            <a:solidFill>
              <a:srgbClr val="466B4A"/>
            </a:solidFill>
            <a:prstDash val="solid"/>
          </a:ln>
        </p:spPr>
      </p:sp>
      <p:sp>
        <p:nvSpPr>
          <p:cNvPr id="6" name="demo-title">
            <a:extLst xmlns:a="http://schemas.openxmlformats.org/drawingml/2006/main">
              <a:ext uri="{FF2B5EF4-FFF2-40B4-BE49-F238E27FC236}">
                <a16:creationId xmlns:a16="http://schemas.microsoft.com/office/drawing/2014/main" id="{3F9A5441-EAB3-4814-9D86-9F31F45E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97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66B4A"/>
                </a:solidFill>
              </a:defRPr>
            </a:pPr>
            <a:r>
              <a:rPr sz="825" b="1">
                <a:solidFill>
                  <a:srgbClr val="466B4A"/>
                </a:solidFill>
              </a:rPr>
              <a:t>DEMO · NO KEYS</a:t>
            </a:r>
          </a:p>
        </p:txBody>
      </p:sp>
      <p:sp>
        <p:nvSpPr>
          <p:cNvPr id="7" name="demo-search">
            <a:extLst xmlns:a="http://schemas.openxmlformats.org/drawingml/2006/main">
              <a:ext uri="{FF2B5EF4-FFF2-40B4-BE49-F238E27FC236}">
                <a16:creationId xmlns:a16="http://schemas.microsoft.com/office/drawing/2014/main" id="{A06077B6-0E52-47A5-A29F-90FCB3E8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764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211D"/>
                </a:solidFill>
              </a:defRPr>
            </a:pPr>
            <a:r>
              <a:rPr sz="938" b="1">
                <a:solidFill>
                  <a:srgbClr val="24211D"/>
                </a:solidFill>
              </a:rPr>
              <a:t>DemoSearchProvider</a:t>
            </a:r>
          </a:p>
        </p:txBody>
      </p:sp>
      <p:sp>
        <p:nvSpPr>
          <p:cNvPr id="8" name="demo-analysis">
            <a:extLst xmlns:a="http://schemas.openxmlformats.org/drawingml/2006/main">
              <a:ext uri="{FF2B5EF4-FFF2-40B4-BE49-F238E27FC236}">
                <a16:creationId xmlns:a16="http://schemas.microsoft.com/office/drawing/2014/main" id="{576E7FA9-A9DD-44A6-B3A2-DEC54C2D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240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211D"/>
                </a:solidFill>
              </a:defRPr>
            </a:pPr>
            <a:r>
              <a:rPr sz="938" b="1">
                <a:solidFill>
                  <a:srgbClr val="24211D"/>
                </a:solidFill>
              </a:rPr>
              <a:t>DemoAnalysisProvider</a:t>
            </a:r>
          </a:p>
        </p:txBody>
      </p:sp>
      <p:sp>
        <p:nvSpPr>
          <p:cNvPr id="9" name="demo-note">
            <a:extLst xmlns:a="http://schemas.openxmlformats.org/drawingml/2006/main">
              <a:ext uri="{FF2B5EF4-FFF2-40B4-BE49-F238E27FC236}">
                <a16:creationId xmlns:a16="http://schemas.microsoft.com/office/drawing/2014/main" id="{6AABDB48-F296-4DFB-8F26-50BC377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241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deterministic fixtures</a:t>
            </a:r>
          </a:p>
        </p:txBody>
      </p:sp>
      <p:sp>
        <p:nvSpPr>
          <p:cNvPr id="10" name="live-frame">
            <a:extLst xmlns:a="http://schemas.openxmlformats.org/drawingml/2006/main">
              <a:ext uri="{FF2B5EF4-FFF2-40B4-BE49-F238E27FC236}">
                <a16:creationId xmlns:a16="http://schemas.microsoft.com/office/drawing/2014/main" id="{574C8C82-839C-42B7-AA0B-90743ED7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81300"/>
            <a:ext cx="2057400" cy="158115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11430">
            <a:solidFill>
              <a:srgbClr val="B85F36"/>
            </a:solidFill>
            <a:prstDash val="solid"/>
          </a:ln>
        </p:spPr>
      </p:sp>
      <p:sp>
        <p:nvSpPr>
          <p:cNvPr id="11" name="live-title">
            <a:extLst xmlns:a="http://schemas.openxmlformats.org/drawingml/2006/main">
              <a:ext uri="{FF2B5EF4-FFF2-40B4-BE49-F238E27FC236}">
                <a16:creationId xmlns:a16="http://schemas.microsoft.com/office/drawing/2014/main" id="{237002E4-7BDD-4C35-A112-0468762A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85F36"/>
                </a:solidFill>
              </a:defRPr>
            </a:pPr>
            <a:r>
              <a:rPr sz="825" b="1">
                <a:solidFill>
                  <a:srgbClr val="B85F36"/>
                </a:solidFill>
              </a:rPr>
              <a:t>LIVE · OPTIONAL</a:t>
            </a:r>
          </a:p>
        </p:txBody>
      </p:sp>
      <p:sp>
        <p:nvSpPr>
          <p:cNvPr id="12" name="live-search">
            <a:extLst xmlns:a="http://schemas.openxmlformats.org/drawingml/2006/main">
              <a:ext uri="{FF2B5EF4-FFF2-40B4-BE49-F238E27FC236}">
                <a16:creationId xmlns:a16="http://schemas.microsoft.com/office/drawing/2014/main" id="{DFF015C1-10D6-4150-B505-38DE49A1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08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211D"/>
                </a:solidFill>
              </a:defRPr>
            </a:pPr>
            <a:r>
              <a:rPr sz="938" b="1">
                <a:solidFill>
                  <a:srgbClr val="24211D"/>
                </a:solidFill>
              </a:rPr>
              <a:t>Firecrawl search + scrape</a:t>
            </a:r>
          </a:p>
        </p:txBody>
      </p:sp>
      <p:sp>
        <p:nvSpPr>
          <p:cNvPr id="13" name="live-cache">
            <a:extLst xmlns:a="http://schemas.openxmlformats.org/drawingml/2006/main">
              <a:ext uri="{FF2B5EF4-FFF2-40B4-BE49-F238E27FC236}">
                <a16:creationId xmlns:a16="http://schemas.microsoft.com/office/drawing/2014/main" id="{CC4AE707-7E49-4BDF-BAB0-0BB85513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71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private TTL disk cache</a:t>
            </a:r>
          </a:p>
        </p:txBody>
      </p:sp>
      <p:sp>
        <p:nvSpPr>
          <p:cNvPr id="14" name="live-analysis">
            <a:extLst xmlns:a="http://schemas.openxmlformats.org/drawingml/2006/main">
              <a:ext uri="{FF2B5EF4-FFF2-40B4-BE49-F238E27FC236}">
                <a16:creationId xmlns:a16="http://schemas.microsoft.com/office/drawing/2014/main" id="{2677802F-349C-4AAF-993E-A45BC316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052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4211D"/>
                </a:solidFill>
              </a:defRPr>
            </a:pPr>
            <a:r>
              <a:rPr sz="938" b="1">
                <a:solidFill>
                  <a:srgbClr val="24211D"/>
                </a:solidFill>
              </a:rPr>
              <a:t>OpenAI structured output</a:t>
            </a:r>
          </a:p>
        </p:txBody>
      </p:sp>
      <p:sp>
        <p:nvSpPr>
          <p:cNvPr id="15" name="live-note">
            <a:extLst xmlns:a="http://schemas.openxmlformats.org/drawingml/2006/main">
              <a:ext uri="{FF2B5EF4-FFF2-40B4-BE49-F238E27FC236}">
                <a16:creationId xmlns:a16="http://schemas.microsoft.com/office/drawing/2014/main" id="{48493189-F6B8-46C7-9627-184C5FBF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62400"/>
            <a:ext cx="171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timeouts · bounded concurrency</a:t>
            </a:r>
          </a:p>
        </p:txBody>
      </p:sp>
      <p:sp>
        <p:nvSpPr>
          <p:cNvPr id="16" name="contract-label">
            <a:extLst xmlns:a="http://schemas.openxmlformats.org/drawingml/2006/main">
              <a:ext uri="{FF2B5EF4-FFF2-40B4-BE49-F238E27FC236}">
                <a16:creationId xmlns:a16="http://schemas.microsoft.com/office/drawing/2014/main" id="{3338CD0C-F9B8-4E1B-BB26-7FD44B91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2192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REPLACEABLE INTERFACES</a:t>
            </a:r>
          </a:p>
        </p:txBody>
      </p:sp>
      <p:sp>
        <p:nvSpPr>
          <p:cNvPr id="17" name="contracts-frame">
            <a:extLst xmlns:a="http://schemas.openxmlformats.org/drawingml/2006/main">
              <a:ext uri="{FF2B5EF4-FFF2-40B4-BE49-F238E27FC236}">
                <a16:creationId xmlns:a16="http://schemas.microsoft.com/office/drawing/2014/main" id="{1D562595-7A2F-46C1-B9D6-0BF6E503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95450"/>
            <a:ext cx="1428750" cy="21907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36453B"/>
            </a:solidFill>
            <a:prstDash val="solid"/>
          </a:ln>
        </p:spPr>
      </p:sp>
      <p:sp>
        <p:nvSpPr>
          <p:cNvPr id="18" name="contracts-title">
            <a:extLst xmlns:a="http://schemas.openxmlformats.org/drawingml/2006/main">
              <a:ext uri="{FF2B5EF4-FFF2-40B4-BE49-F238E27FC236}">
                <a16:creationId xmlns:a16="http://schemas.microsoft.com/office/drawing/2014/main" id="{B3C9E77B-B8FC-4D41-BA93-5826E98C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876425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6453B"/>
                </a:solidFill>
              </a:defRPr>
            </a:pPr>
            <a:r>
              <a:rPr sz="1050" b="1">
                <a:solidFill>
                  <a:srgbClr val="36453B"/>
                </a:solidFill>
              </a:rPr>
              <a:t>Provider contracts</a:t>
            </a:r>
          </a:p>
        </p:txBody>
      </p:sp>
      <p:sp>
        <p:nvSpPr>
          <p:cNvPr id="19" name="contracts-rule">
            <a:extLst xmlns:a="http://schemas.openxmlformats.org/drawingml/2006/main">
              <a:ext uri="{FF2B5EF4-FFF2-40B4-BE49-F238E27FC236}">
                <a16:creationId xmlns:a16="http://schemas.microsoft.com/office/drawing/2014/main" id="{0AF850BA-A8E1-4ACB-8B3A-89DD652A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76475"/>
            <a:ext cx="108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20" name="search-contract">
            <a:extLst xmlns:a="http://schemas.openxmlformats.org/drawingml/2006/main">
              <a:ext uri="{FF2B5EF4-FFF2-40B4-BE49-F238E27FC236}">
                <a16:creationId xmlns:a16="http://schemas.microsoft.com/office/drawing/2014/main" id="{7E475705-4705-43E3-A0BA-CC703DAC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4765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24211D"/>
                </a:solidFill>
              </a:defRPr>
            </a:pPr>
            <a:r>
              <a:rPr sz="840" b="1">
                <a:solidFill>
                  <a:srgbClr val="24211D"/>
                </a:solidFill>
              </a:rPr>
              <a:t>SearchProvider</a:t>
            </a:r>
          </a:p>
        </p:txBody>
      </p:sp>
      <p:sp>
        <p:nvSpPr>
          <p:cNvPr id="21" name="search-return">
            <a:extLst xmlns:a="http://schemas.openxmlformats.org/drawingml/2006/main">
              <a:ext uri="{FF2B5EF4-FFF2-40B4-BE49-F238E27FC236}">
                <a16:creationId xmlns:a16="http://schemas.microsoft.com/office/drawing/2014/main" id="{A34B589A-6120-4D19-A0DD-48A43426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733675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6B655E"/>
                </a:solidFill>
              </a:defRPr>
            </a:pPr>
            <a:r>
              <a:rPr sz="690" b="0">
                <a:solidFill>
                  <a:srgbClr val="6B655E"/>
                </a:solidFill>
              </a:rPr>
              <a:t>SourceDocument[]</a:t>
            </a:r>
          </a:p>
        </p:txBody>
      </p:sp>
      <p:sp>
        <p:nvSpPr>
          <p:cNvPr id="22" name="analysis-contract">
            <a:extLst xmlns:a="http://schemas.openxmlformats.org/drawingml/2006/main">
              <a:ext uri="{FF2B5EF4-FFF2-40B4-BE49-F238E27FC236}">
                <a16:creationId xmlns:a16="http://schemas.microsoft.com/office/drawing/2014/main" id="{D01EFBC2-CA56-4389-8B81-0DBDC3A5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057525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24211D"/>
                </a:solidFill>
              </a:defRPr>
            </a:pPr>
            <a:r>
              <a:rPr sz="840" b="1">
                <a:solidFill>
                  <a:srgbClr val="24211D"/>
                </a:solidFill>
              </a:rPr>
              <a:t>AnalysisProvider</a:t>
            </a:r>
          </a:p>
        </p:txBody>
      </p:sp>
      <p:sp>
        <p:nvSpPr>
          <p:cNvPr id="23" name="analysis-return">
            <a:extLst xmlns:a="http://schemas.openxmlformats.org/drawingml/2006/main">
              <a:ext uri="{FF2B5EF4-FFF2-40B4-BE49-F238E27FC236}">
                <a16:creationId xmlns:a16="http://schemas.microsoft.com/office/drawing/2014/main" id="{470EFDA1-2E17-46F9-BF1D-3F42F1DA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314700"/>
            <a:ext cx="1181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6B655E"/>
                </a:solidFill>
              </a:defRPr>
            </a:pPr>
            <a:r>
              <a:rPr sz="690" b="0">
                <a:solidFill>
                  <a:srgbClr val="6B655E"/>
                </a:solidFill>
              </a:rPr>
              <a:t>typed schemas</a:t>
            </a:r>
          </a:p>
        </p:txBody>
      </p:sp>
      <p:sp>
        <p:nvSpPr>
          <p:cNvPr id="24" name="same-graph">
            <a:extLst xmlns:a="http://schemas.openxmlformats.org/drawingml/2006/main">
              <a:ext uri="{FF2B5EF4-FFF2-40B4-BE49-F238E27FC236}">
                <a16:creationId xmlns:a16="http://schemas.microsoft.com/office/drawing/2014/main" id="{8713C2C2-93DC-494E-A927-50D152AA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590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9B3A2B"/>
                </a:solidFill>
              </a:defRPr>
            </a:pPr>
            <a:r>
              <a:rPr sz="735" b="1">
                <a:solidFill>
                  <a:srgbClr val="9B3A2B"/>
                </a:solidFill>
              </a:rPr>
              <a:t>same graph · both modes</a:t>
            </a:r>
          </a:p>
        </p:txBody>
      </p:sp>
      <p:sp>
        <p:nvSpPr>
          <p:cNvPr id="25" name="graph-label">
            <a:extLst xmlns:a="http://schemas.openxmlformats.org/drawingml/2006/main">
              <a:ext uri="{FF2B5EF4-FFF2-40B4-BE49-F238E27FC236}">
                <a16:creationId xmlns:a16="http://schemas.microsoft.com/office/drawing/2014/main" id="{DE063E8A-02E5-4150-AA3C-21DA590A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19200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RESEARCHPIPELINE · LANGGRAPH</a:t>
            </a:r>
          </a:p>
        </p:txBody>
      </p:sp>
      <p:sp>
        <p:nvSpPr>
          <p:cNvPr id="26" name="graph-shell">
            <a:extLst xmlns:a="http://schemas.openxmlformats.org/drawingml/2006/main">
              <a:ext uri="{FF2B5EF4-FFF2-40B4-BE49-F238E27FC236}">
                <a16:creationId xmlns:a16="http://schemas.microsoft.com/office/drawing/2014/main" id="{AB9F3B3E-0B94-454B-89D0-9891F7E8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66850"/>
            <a:ext cx="5381625" cy="3371850"/>
          </a:xfrm>
          <a:prstGeom xmlns:a="http://schemas.openxmlformats.org/drawingml/2006/main" prst="roundRect">
            <a:avLst>
              <a:gd name="adj" fmla="val 282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2383">
            <a:solidFill>
              <a:srgbClr val="36453B"/>
            </a:solidFill>
            <a:prstDash val="solid"/>
          </a:ln>
        </p:spPr>
      </p:sp>
      <p:sp>
        <p:nvSpPr>
          <p:cNvPr id="27" name="discover-frame">
            <a:extLst xmlns:a="http://schemas.openxmlformats.org/drawingml/2006/main">
              <a:ext uri="{FF2B5EF4-FFF2-40B4-BE49-F238E27FC236}">
                <a16:creationId xmlns:a16="http://schemas.microsoft.com/office/drawing/2014/main" id="{67B06E3D-7D30-4A0B-96B8-EF07AAB0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1333500" cy="23431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7E4D7"/>
          </a:solidFill>
          <a:ln xmlns:a="http://schemas.openxmlformats.org/drawingml/2006/main" w="11430">
            <a:solidFill>
              <a:srgbClr val="36453B"/>
            </a:solidFill>
            <a:prstDash val="solid"/>
          </a:ln>
        </p:spPr>
      </p:sp>
      <p:sp>
        <p:nvSpPr>
          <p:cNvPr id="28" name="discover-num">
            <a:extLst xmlns:a="http://schemas.openxmlformats.org/drawingml/2006/main">
              <a:ext uri="{FF2B5EF4-FFF2-40B4-BE49-F238E27FC236}">
                <a16:creationId xmlns:a16="http://schemas.microsoft.com/office/drawing/2014/main" id="{DC8483C7-B1F8-4DF2-921B-AC048E07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476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29" name="discover-num-text">
            <a:extLst xmlns:a="http://schemas.openxmlformats.org/drawingml/2006/main">
              <a:ext uri="{FF2B5EF4-FFF2-40B4-BE49-F238E27FC236}">
                <a16:creationId xmlns:a16="http://schemas.microsoft.com/office/drawing/2014/main" id="{9D247B9F-6CD4-4665-B7B4-FB3E20B2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14525"/>
            <a:ext cx="247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DF7"/>
                </a:solidFill>
              </a:defRPr>
            </a:pPr>
            <a:r>
              <a:rPr sz="750" b="1">
                <a:solidFill>
                  <a:srgbClr val="FFFDF7"/>
                </a:solidFill>
              </a:rPr>
              <a:t>1</a:t>
            </a:r>
          </a:p>
        </p:txBody>
      </p:sp>
      <p:sp>
        <p:nvSpPr>
          <p:cNvPr id="30" name="discover-title">
            <a:extLst xmlns:a="http://schemas.openxmlformats.org/drawingml/2006/main">
              <a:ext uri="{FF2B5EF4-FFF2-40B4-BE49-F238E27FC236}">
                <a16:creationId xmlns:a16="http://schemas.microsoft.com/office/drawing/2014/main" id="{51ED589D-58B6-4312-A69F-0C375348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876425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36453B"/>
                </a:solidFill>
              </a:defRPr>
            </a:pPr>
            <a:r>
              <a:rPr sz="953" b="1">
                <a:solidFill>
                  <a:srgbClr val="36453B"/>
                </a:solidFill>
              </a:rPr>
              <a:t>Discover</a:t>
            </a:r>
          </a:p>
        </p:txBody>
      </p:sp>
      <p:sp>
        <p:nvSpPr>
          <p:cNvPr id="31" name="discover-query">
            <a:extLst xmlns:a="http://schemas.openxmlformats.org/drawingml/2006/main">
              <a:ext uri="{FF2B5EF4-FFF2-40B4-BE49-F238E27FC236}">
                <a16:creationId xmlns:a16="http://schemas.microsoft.com/office/drawing/2014/main" id="{2278DE43-4E9A-41B5-A9FA-E531AE49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1932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24211D"/>
                </a:solidFill>
              </a:defRPr>
            </a:pPr>
            <a:r>
              <a:rPr sz="863" b="1">
                <a:solidFill>
                  <a:srgbClr val="24211D"/>
                </a:solidFill>
              </a:rPr>
              <a:t>normalized query</a:t>
            </a:r>
          </a:p>
        </p:txBody>
      </p:sp>
      <p:sp>
        <p:nvSpPr>
          <p:cNvPr id="32" name="discover-search">
            <a:extLst xmlns:a="http://schemas.openxmlformats.org/drawingml/2006/main">
              <a:ext uri="{FF2B5EF4-FFF2-40B4-BE49-F238E27FC236}">
                <a16:creationId xmlns:a16="http://schemas.microsoft.com/office/drawing/2014/main" id="{AE8C9535-9DE6-4B20-9B05-C8D526EE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106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4211D"/>
                </a:solidFill>
              </a:defRPr>
            </a:pPr>
            <a:r>
              <a:rPr sz="863" b="0">
                <a:solidFill>
                  <a:srgbClr val="24211D"/>
                </a:solidFill>
              </a:rPr>
              <a:t>search comparison</a:t>
            </a:r>
          </a:p>
          <a:p xmlns:a="http://schemas.openxmlformats.org/drawingml/2006/main">
            <a:pPr algn="ctr">
              <a:defRPr sz="863" b="0">
                <a:solidFill>
                  <a:srgbClr val="24211D"/>
                </a:solidFill>
              </a:defRPr>
            </a:pPr>
            <a:r>
              <a:rPr sz="863" b="0">
                <a:solidFill>
                  <a:srgbClr val="24211D"/>
                </a:solidFill>
              </a:rPr>
              <a:t>documents</a:t>
            </a:r>
          </a:p>
        </p:txBody>
      </p:sp>
      <p:sp>
        <p:nvSpPr>
          <p:cNvPr id="33" name="discover-select">
            <a:extLst xmlns:a="http://schemas.openxmlformats.org/drawingml/2006/main">
              <a:ext uri="{FF2B5EF4-FFF2-40B4-BE49-F238E27FC236}">
                <a16:creationId xmlns:a16="http://schemas.microsoft.com/office/drawing/2014/main" id="{0E2F5692-E6BB-4295-ABD0-667543E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8000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6453B"/>
                </a:solidFill>
              </a:defRPr>
            </a:pPr>
            <a:r>
              <a:rPr sz="825" b="1">
                <a:solidFill>
                  <a:srgbClr val="36453B"/>
                </a:solidFill>
              </a:rPr>
              <a:t>select_tools()</a:t>
            </a:r>
          </a:p>
        </p:txBody>
      </p:sp>
      <p:sp>
        <p:nvSpPr>
          <p:cNvPr id="34" name="discover-bound">
            <a:extLst xmlns:a="http://schemas.openxmlformats.org/drawingml/2006/main">
              <a:ext uri="{FF2B5EF4-FFF2-40B4-BE49-F238E27FC236}">
                <a16:creationId xmlns:a16="http://schemas.microsoft.com/office/drawing/2014/main" id="{B6544332-7118-4D05-9B82-C5BCF120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106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B655E"/>
                </a:solidFill>
              </a:defRPr>
            </a:pPr>
            <a:r>
              <a:rPr sz="825" b="0">
                <a:solidFill>
                  <a:srgbClr val="6B655E"/>
                </a:solidFill>
              </a:rPr>
              <a:t>deduplicate</a:t>
            </a:r>
          </a:p>
          <a:p xmlns:a="http://schemas.openxmlformats.org/drawingml/2006/main">
            <a:pPr algn="ctr">
              <a:defRPr sz="825" b="0">
                <a:solidFill>
                  <a:srgbClr val="6B655E"/>
                </a:solidFill>
              </a:defRPr>
            </a:pPr>
            <a:r>
              <a:rPr sz="825" b="0">
                <a:solidFill>
                  <a:srgbClr val="6B655E"/>
                </a:solidFill>
              </a:rPr>
              <a:t>1–6 tools</a:t>
            </a:r>
          </a:p>
        </p:txBody>
      </p:sp>
      <p:sp>
        <p:nvSpPr>
          <p:cNvPr id="35" name="research-frame">
            <a:extLst xmlns:a="http://schemas.openxmlformats.org/drawingml/2006/main">
              <a:ext uri="{FF2B5EF4-FFF2-40B4-BE49-F238E27FC236}">
                <a16:creationId xmlns:a16="http://schemas.microsoft.com/office/drawing/2014/main" id="{3974FEEA-5443-4E9E-981C-7F5030F4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752600"/>
            <a:ext cx="1857375" cy="2343150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11430">
            <a:solidFill>
              <a:srgbClr val="B85F36"/>
            </a:solidFill>
            <a:prstDash val="solid"/>
          </a:ln>
        </p:spPr>
      </p:sp>
      <p:sp>
        <p:nvSpPr>
          <p:cNvPr id="36" name="research-num">
            <a:extLst xmlns:a="http://schemas.openxmlformats.org/drawingml/2006/main">
              <a:ext uri="{FF2B5EF4-FFF2-40B4-BE49-F238E27FC236}">
                <a16:creationId xmlns:a16="http://schemas.microsoft.com/office/drawing/2014/main" id="{67DCC925-B316-4227-B4DE-439A6BF4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866900"/>
            <a:ext cx="2476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5F36"/>
          </a:solidFill>
          <a:ln xmlns:a="http://schemas.openxmlformats.org/drawingml/2006/main" w="0">
            <a:solidFill>
              <a:srgbClr val="B85F36"/>
            </a:solidFill>
            <a:prstDash val="solid"/>
          </a:ln>
        </p:spPr>
      </p:sp>
      <p:sp>
        <p:nvSpPr>
          <p:cNvPr id="37" name="research-num-text">
            <a:extLst xmlns:a="http://schemas.openxmlformats.org/drawingml/2006/main">
              <a:ext uri="{FF2B5EF4-FFF2-40B4-BE49-F238E27FC236}">
                <a16:creationId xmlns:a16="http://schemas.microsoft.com/office/drawing/2014/main" id="{42110677-5232-46EA-98CF-3E825CFA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914525"/>
            <a:ext cx="247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DF7"/>
                </a:solidFill>
              </a:defRPr>
            </a:pPr>
            <a:r>
              <a:rPr sz="750" b="1">
                <a:solidFill>
                  <a:srgbClr val="FFFDF7"/>
                </a:solidFill>
              </a:rPr>
              <a:t>2</a:t>
            </a:r>
          </a:p>
        </p:txBody>
      </p:sp>
      <p:sp>
        <p:nvSpPr>
          <p:cNvPr id="38" name="research-title">
            <a:extLst xmlns:a="http://schemas.openxmlformats.org/drawingml/2006/main">
              <a:ext uri="{FF2B5EF4-FFF2-40B4-BE49-F238E27FC236}">
                <a16:creationId xmlns:a16="http://schemas.microsoft.com/office/drawing/2014/main" id="{AAFA2380-88C5-4D23-B3E4-C408FE41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76425"/>
            <a:ext cx="14001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B85F36"/>
                </a:solidFill>
              </a:defRPr>
            </a:pPr>
            <a:r>
              <a:rPr sz="953" b="1">
                <a:solidFill>
                  <a:srgbClr val="B85F36"/>
                </a:solidFill>
              </a:rPr>
              <a:t>Research</a:t>
            </a:r>
          </a:p>
        </p:txBody>
      </p:sp>
      <p:sp>
        <p:nvSpPr>
          <p:cNvPr id="39" name="research-fanout">
            <a:extLst xmlns:a="http://schemas.openxmlformats.org/drawingml/2006/main">
              <a:ext uri="{FF2B5EF4-FFF2-40B4-BE49-F238E27FC236}">
                <a16:creationId xmlns:a16="http://schemas.microsoft.com/office/drawing/2014/main" id="{F464D44C-AE77-4EE3-BFB7-6398835B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0275"/>
            <a:ext cx="15335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85F36"/>
                </a:solidFill>
              </a:defRPr>
            </a:pPr>
            <a:r>
              <a:rPr sz="825" b="1">
                <a:solidFill>
                  <a:srgbClr val="B85F36"/>
                </a:solidFill>
              </a:rPr>
              <a:t>asyncio.gather</a:t>
            </a:r>
          </a:p>
        </p:txBody>
      </p:sp>
      <p:sp>
        <p:nvSpPr>
          <p:cNvPr id="40" name="worker-0">
            <a:extLst xmlns:a="http://schemas.openxmlformats.org/drawingml/2006/main">
              <a:ext uri="{FF2B5EF4-FFF2-40B4-BE49-F238E27FC236}">
                <a16:creationId xmlns:a16="http://schemas.microsoft.com/office/drawing/2014/main" id="{ACC2BD86-5F87-43E4-964C-91E76E38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24125"/>
            <a:ext cx="1533525" cy="33337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41" name="worker-0-text">
            <a:extLst xmlns:a="http://schemas.openxmlformats.org/drawingml/2006/main">
              <a:ext uri="{FF2B5EF4-FFF2-40B4-BE49-F238E27FC236}">
                <a16:creationId xmlns:a16="http://schemas.microsoft.com/office/drawing/2014/main" id="{4CB7F8EC-4833-49C5-A748-22CD3B63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609850"/>
            <a:ext cx="14001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24211D"/>
                </a:solidFill>
              </a:defRPr>
            </a:pPr>
            <a:r>
              <a:rPr sz="750" b="0">
                <a:solidFill>
                  <a:srgbClr val="24211D"/>
                </a:solidFill>
              </a:rPr>
              <a:t>tool A · search + analyze</a:t>
            </a:r>
          </a:p>
        </p:txBody>
      </p:sp>
      <p:sp>
        <p:nvSpPr>
          <p:cNvPr id="42" name="worker-1">
            <a:extLst xmlns:a="http://schemas.openxmlformats.org/drawingml/2006/main">
              <a:ext uri="{FF2B5EF4-FFF2-40B4-BE49-F238E27FC236}">
                <a16:creationId xmlns:a16="http://schemas.microsoft.com/office/drawing/2014/main" id="{D4CD3ACA-2CC9-44E4-AA8B-4EC87BFE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62275"/>
            <a:ext cx="1533525" cy="33337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43" name="worker-1-text">
            <a:extLst xmlns:a="http://schemas.openxmlformats.org/drawingml/2006/main">
              <a:ext uri="{FF2B5EF4-FFF2-40B4-BE49-F238E27FC236}">
                <a16:creationId xmlns:a16="http://schemas.microsoft.com/office/drawing/2014/main" id="{DC91AD07-126D-4DE5-A729-E2BE71B3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048000"/>
            <a:ext cx="14001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24211D"/>
                </a:solidFill>
              </a:defRPr>
            </a:pPr>
            <a:r>
              <a:rPr sz="750" b="0">
                <a:solidFill>
                  <a:srgbClr val="24211D"/>
                </a:solidFill>
              </a:rPr>
              <a:t>tool B · search + analyze</a:t>
            </a:r>
          </a:p>
        </p:txBody>
      </p:sp>
      <p:sp>
        <p:nvSpPr>
          <p:cNvPr id="44" name="worker-2">
            <a:extLst xmlns:a="http://schemas.openxmlformats.org/drawingml/2006/main">
              <a:ext uri="{FF2B5EF4-FFF2-40B4-BE49-F238E27FC236}">
                <a16:creationId xmlns:a16="http://schemas.microsoft.com/office/drawing/2014/main" id="{83A49C3B-4263-4F9E-82F6-EB8FC75C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00425"/>
            <a:ext cx="1533525" cy="333375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B85F36"/>
            </a:solidFill>
            <a:prstDash val="solid"/>
          </a:ln>
        </p:spPr>
      </p:sp>
      <p:sp>
        <p:nvSpPr>
          <p:cNvPr id="45" name="worker-2-text">
            <a:extLst xmlns:a="http://schemas.openxmlformats.org/drawingml/2006/main">
              <a:ext uri="{FF2B5EF4-FFF2-40B4-BE49-F238E27FC236}">
                <a16:creationId xmlns:a16="http://schemas.microsoft.com/office/drawing/2014/main" id="{B5270C2D-7F2D-4463-9B76-702862AA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486150"/>
            <a:ext cx="14001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24211D"/>
                </a:solidFill>
              </a:defRPr>
            </a:pPr>
            <a:r>
              <a:rPr sz="750" b="0">
                <a:solidFill>
                  <a:srgbClr val="24211D"/>
                </a:solidFill>
              </a:rPr>
              <a:t>tool N · search + analyze</a:t>
            </a:r>
          </a:p>
        </p:txBody>
      </p:sp>
      <p:sp>
        <p:nvSpPr>
          <p:cNvPr id="46" name="research-evidence">
            <a:extLst xmlns:a="http://schemas.openxmlformats.org/drawingml/2006/main">
              <a:ext uri="{FF2B5EF4-FFF2-40B4-BE49-F238E27FC236}">
                <a16:creationId xmlns:a16="http://schemas.microsoft.com/office/drawing/2014/main" id="{369ECE02-1078-4FA8-B211-A4A51F6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43325"/>
            <a:ext cx="1533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20" b="0">
                <a:solidFill>
                  <a:srgbClr val="6B655E"/>
                </a:solidFill>
              </a:defRPr>
            </a:pPr>
            <a:r>
              <a:rPr sz="720" b="0">
                <a:solidFill>
                  <a:srgbClr val="6B655E"/>
                </a:solidFill>
              </a:rPr>
              <a:t>filter unknown IDs</a:t>
            </a:r>
          </a:p>
          <a:p xmlns:a="http://schemas.openxmlformats.org/drawingml/2006/main">
            <a:pPr algn="ctr">
              <a:defRPr sz="720" b="0">
                <a:solidFill>
                  <a:srgbClr val="6B655E"/>
                </a:solidFill>
              </a:defRPr>
            </a:pPr>
            <a:r>
              <a:rPr sz="720" b="0">
                <a:solidFill>
                  <a:srgbClr val="6B655E"/>
                </a:solidFill>
              </a:rPr>
              <a:t>complete or partial</a:t>
            </a:r>
          </a:p>
        </p:txBody>
      </p:sp>
      <p:sp>
        <p:nvSpPr>
          <p:cNvPr id="47" name="recommend-frame">
            <a:extLst xmlns:a="http://schemas.openxmlformats.org/drawingml/2006/main">
              <a:ext uri="{FF2B5EF4-FFF2-40B4-BE49-F238E27FC236}">
                <a16:creationId xmlns:a16="http://schemas.microsoft.com/office/drawing/2014/main" id="{F9E94529-66E3-413C-9E66-DDB0691F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752600"/>
            <a:ext cx="1381125" cy="23431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FE7F0"/>
          </a:solidFill>
          <a:ln xmlns:a="http://schemas.openxmlformats.org/drawingml/2006/main" w="11430">
            <a:solidFill>
              <a:srgbClr val="6C4F70"/>
            </a:solidFill>
            <a:prstDash val="solid"/>
          </a:ln>
        </p:spPr>
      </p:sp>
      <p:sp>
        <p:nvSpPr>
          <p:cNvPr id="48" name="recommend-num">
            <a:extLst xmlns:a="http://schemas.openxmlformats.org/drawingml/2006/main">
              <a:ext uri="{FF2B5EF4-FFF2-40B4-BE49-F238E27FC236}">
                <a16:creationId xmlns:a16="http://schemas.microsoft.com/office/drawing/2014/main" id="{9B6659E7-EB37-4BA6-9853-C122CC03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866900"/>
            <a:ext cx="24765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C4F70"/>
          </a:solidFill>
          <a:ln xmlns:a="http://schemas.openxmlformats.org/drawingml/2006/main" w="0">
            <a:solidFill>
              <a:srgbClr val="6C4F70"/>
            </a:solidFill>
            <a:prstDash val="solid"/>
          </a:ln>
        </p:spPr>
      </p:sp>
      <p:sp>
        <p:nvSpPr>
          <p:cNvPr id="49" name="recommend-num-text">
            <a:extLst xmlns:a="http://schemas.openxmlformats.org/drawingml/2006/main">
              <a:ext uri="{FF2B5EF4-FFF2-40B4-BE49-F238E27FC236}">
                <a16:creationId xmlns:a16="http://schemas.microsoft.com/office/drawing/2014/main" id="{DFEF9B38-496F-4902-BC84-CE61C11D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914525"/>
            <a:ext cx="247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DF7"/>
                </a:solidFill>
              </a:defRPr>
            </a:pPr>
            <a:r>
              <a:rPr sz="750" b="1">
                <a:solidFill>
                  <a:srgbClr val="FFFDF7"/>
                </a:solidFill>
              </a:rPr>
              <a:t>3</a:t>
            </a:r>
          </a:p>
        </p:txBody>
      </p:sp>
      <p:sp>
        <p:nvSpPr>
          <p:cNvPr id="50" name="recommend-title">
            <a:extLst xmlns:a="http://schemas.openxmlformats.org/drawingml/2006/main">
              <a:ext uri="{FF2B5EF4-FFF2-40B4-BE49-F238E27FC236}">
                <a16:creationId xmlns:a16="http://schemas.microsoft.com/office/drawing/2014/main" id="{7A1F95DF-F234-4588-9F32-04E8D6B8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76425"/>
            <a:ext cx="9239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6C4F70"/>
                </a:solidFill>
              </a:defRPr>
            </a:pPr>
            <a:r>
              <a:rPr sz="953" b="1">
                <a:solidFill>
                  <a:srgbClr val="6C4F70"/>
                </a:solidFill>
              </a:rPr>
              <a:t>Recommend</a:t>
            </a:r>
          </a:p>
        </p:txBody>
      </p:sp>
      <p:sp>
        <p:nvSpPr>
          <p:cNvPr id="51" name="recommend-input">
            <a:extLst xmlns:a="http://schemas.openxmlformats.org/drawingml/2006/main">
              <a:ext uri="{FF2B5EF4-FFF2-40B4-BE49-F238E27FC236}">
                <a16:creationId xmlns:a16="http://schemas.microsoft.com/office/drawing/2014/main" id="{20038EC8-A6F2-446A-8F87-B6314A9D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validated</a:t>
            </a:r>
          </a:p>
          <a:p xmlns:a="http://schemas.openxmlformats.org/drawingml/2006/main">
            <a:pPr algn="ctr">
              <a:defRPr sz="825" b="1">
                <a:solidFill>
                  <a:srgbClr val="24211D"/>
                </a:solidFill>
              </a:defRPr>
            </a:pPr>
            <a:r>
              <a:rPr sz="825" b="1">
                <a:solidFill>
                  <a:srgbClr val="24211D"/>
                </a:solidFill>
              </a:rPr>
              <a:t>ToolReport[]</a:t>
            </a:r>
          </a:p>
        </p:txBody>
      </p:sp>
      <p:sp>
        <p:nvSpPr>
          <p:cNvPr id="52" name="recommend-call">
            <a:extLst xmlns:a="http://schemas.openxmlformats.org/drawingml/2006/main">
              <a:ext uri="{FF2B5EF4-FFF2-40B4-BE49-F238E27FC236}">
                <a16:creationId xmlns:a16="http://schemas.microsoft.com/office/drawing/2014/main" id="{5BCDA1D5-8993-4E2A-9FD9-DB8D4AF2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0375"/>
            <a:ext cx="1095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C4F70"/>
                </a:solidFill>
              </a:defRPr>
            </a:pPr>
            <a:r>
              <a:rPr sz="825" b="1">
                <a:solidFill>
                  <a:srgbClr val="6C4F70"/>
                </a:solidFill>
              </a:rPr>
              <a:t>recommend()</a:t>
            </a:r>
          </a:p>
        </p:txBody>
      </p:sp>
      <p:sp>
        <p:nvSpPr>
          <p:cNvPr id="53" name="recommend-fallback">
            <a:extLst xmlns:a="http://schemas.openxmlformats.org/drawingml/2006/main">
              <a:ext uri="{FF2B5EF4-FFF2-40B4-BE49-F238E27FC236}">
                <a16:creationId xmlns:a16="http://schemas.microsoft.com/office/drawing/2014/main" id="{15127D80-C77C-4895-9B76-35A15AF3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33775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neutral fallback</a:t>
            </a:r>
          </a:p>
          <a:p xmlns:a="http://schemas.openxmlformats.org/drawingml/2006/main">
            <a:pPr algn="ctr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+ warning on failure</a:t>
            </a:r>
          </a:p>
        </p:txBody>
      </p:sp>
      <p:sp>
        <p:nvSpPr>
          <p:cNvPr id="54" name="output-label">
            <a:extLst xmlns:a="http://schemas.openxmlformats.org/drawingml/2006/main">
              <a:ext uri="{FF2B5EF4-FFF2-40B4-BE49-F238E27FC236}">
                <a16:creationId xmlns:a16="http://schemas.microsoft.com/office/drawing/2014/main" id="{16390AEC-6727-45B6-A037-E0886759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1866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TYPED OUTPUT</a:t>
            </a:r>
          </a:p>
        </p:txBody>
      </p:sp>
      <p:sp>
        <p:nvSpPr>
          <p:cNvPr id="55" name="report-frame">
            <a:extLst xmlns:a="http://schemas.openxmlformats.org/drawingml/2006/main">
              <a:ext uri="{FF2B5EF4-FFF2-40B4-BE49-F238E27FC236}">
                <a16:creationId xmlns:a16="http://schemas.microsoft.com/office/drawing/2014/main" id="{C5B32544-3F64-454E-95D8-45A848FE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657350"/>
            <a:ext cx="1866900" cy="1666875"/>
          </a:xfrm>
          <a:prstGeom xmlns:a="http://schemas.openxmlformats.org/drawingml/2006/main" prst="roundRect">
            <a:avLst>
              <a:gd name="adj" fmla="val 5143"/>
            </a:avLst>
          </a:prstGeom>
          <a:solidFill xmlns:a="http://schemas.openxmlformats.org/drawingml/2006/main">
            <a:srgbClr val="F6E9C9"/>
          </a:solidFill>
          <a:ln xmlns:a="http://schemas.openxmlformats.org/drawingml/2006/main" w="11430">
            <a:solidFill>
              <a:srgbClr val="B97916"/>
            </a:solidFill>
            <a:prstDash val="solid"/>
          </a:ln>
        </p:spPr>
      </p:sp>
      <p:sp>
        <p:nvSpPr>
          <p:cNvPr id="56" name="report-title">
            <a:extLst xmlns:a="http://schemas.openxmlformats.org/drawingml/2006/main">
              <a:ext uri="{FF2B5EF4-FFF2-40B4-BE49-F238E27FC236}">
                <a16:creationId xmlns:a16="http://schemas.microsoft.com/office/drawing/2014/main" id="{094F9838-ED98-45E3-973A-A7EBE0D5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1847850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97916"/>
                </a:solidFill>
              </a:defRPr>
            </a:pPr>
            <a:r>
              <a:rPr sz="1200" b="1">
                <a:solidFill>
                  <a:srgbClr val="B97916"/>
                </a:solidFill>
              </a:rPr>
              <a:t>ResearchReport</a:t>
            </a:r>
          </a:p>
        </p:txBody>
      </p:sp>
      <p:sp>
        <p:nvSpPr>
          <p:cNvPr id="57" name="report-fields">
            <a:extLst xmlns:a="http://schemas.openxmlformats.org/drawingml/2006/main">
              <a:ext uri="{FF2B5EF4-FFF2-40B4-BE49-F238E27FC236}">
                <a16:creationId xmlns:a16="http://schemas.microsoft.com/office/drawing/2014/main" id="{32C9C189-EB7A-4C08-AE85-C65A39A9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276475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24211D"/>
                </a:solidFill>
              </a:defRPr>
            </a:pPr>
            <a:r>
              <a:rPr sz="825" b="0">
                <a:solidFill>
                  <a:srgbClr val="24211D"/>
                </a:solidFill>
              </a:rPr>
              <a:t>query · snapshot · mode</a:t>
            </a:r>
          </a:p>
          <a:p xmlns:a="http://schemas.openxmlformats.org/drawingml/2006/main">
            <a:pPr algn="ctr">
              <a:defRPr sz="825" b="0">
                <a:solidFill>
                  <a:srgbClr val="24211D"/>
                </a:solidFill>
              </a:defRPr>
            </a:pPr>
            <a:r>
              <a:rPr sz="825" b="0">
                <a:solidFill>
                  <a:srgbClr val="24211D"/>
                </a:solidFill>
              </a:rPr>
              <a:t>ToolReport[] · recommendation</a:t>
            </a:r>
          </a:p>
          <a:p xmlns:a="http://schemas.openxmlformats.org/drawingml/2006/main">
            <a:pPr algn="ctr">
              <a:defRPr sz="825" b="0">
                <a:solidFill>
                  <a:srgbClr val="24211D"/>
                </a:solidFill>
              </a:defRPr>
            </a:pPr>
            <a:r>
              <a:rPr sz="825" b="0">
                <a:solidFill>
                  <a:srgbClr val="24211D"/>
                </a:solidFill>
              </a:rPr>
              <a:t>warnings · complete/partial</a:t>
            </a:r>
          </a:p>
        </p:txBody>
      </p:sp>
      <p:sp>
        <p:nvSpPr>
          <p:cNvPr id="58" name="report-content">
            <a:extLst xmlns:a="http://schemas.openxmlformats.org/drawingml/2006/main">
              <a:ext uri="{FF2B5EF4-FFF2-40B4-BE49-F238E27FC236}">
                <a16:creationId xmlns:a16="http://schemas.microsoft.com/office/drawing/2014/main" id="{29D38D2E-0660-4790-B81D-0C7B4393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97180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citations serialized</a:t>
            </a:r>
          </a:p>
          <a:p xmlns:a="http://schemas.openxmlformats.org/drawingml/2006/main">
            <a:pPr algn="ctr">
              <a:defRPr sz="788" b="0">
                <a:solidFill>
                  <a:srgbClr val="6B655E"/>
                </a:solidFill>
              </a:defRPr>
            </a:pPr>
            <a:r>
              <a:rPr sz="788" b="0">
                <a:solidFill>
                  <a:srgbClr val="6B655E"/>
                </a:solidFill>
              </a:rPr>
              <a:t>scraped bodies excluded</a:t>
            </a:r>
          </a:p>
        </p:txBody>
      </p:sp>
      <p:sp>
        <p:nvSpPr>
          <p:cNvPr id="59" name="render-frame">
            <a:extLst xmlns:a="http://schemas.openxmlformats.org/drawingml/2006/main">
              <a:ext uri="{FF2B5EF4-FFF2-40B4-BE49-F238E27FC236}">
                <a16:creationId xmlns:a16="http://schemas.microsoft.com/office/drawing/2014/main" id="{FC169E0E-653F-4916-9B68-64BD89C0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00450"/>
            <a:ext cx="186690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11430">
            <a:solidFill>
              <a:srgbClr val="36453B"/>
            </a:solidFill>
            <a:prstDash val="solid"/>
          </a:ln>
        </p:spPr>
      </p:sp>
      <p:sp>
        <p:nvSpPr>
          <p:cNvPr id="60" name="render-title">
            <a:extLst xmlns:a="http://schemas.openxmlformats.org/drawingml/2006/main">
              <a:ext uri="{FF2B5EF4-FFF2-40B4-BE49-F238E27FC236}">
                <a16:creationId xmlns:a16="http://schemas.microsoft.com/office/drawing/2014/main" id="{43B6D44F-F86C-4DFF-8817-2D995A35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762375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6453B"/>
                </a:solidFill>
              </a:defRPr>
            </a:pPr>
            <a:r>
              <a:rPr sz="1050" b="1">
                <a:solidFill>
                  <a:srgbClr val="36453B"/>
                </a:solidFill>
              </a:rPr>
              <a:t>Renderers</a:t>
            </a:r>
          </a:p>
        </p:txBody>
      </p:sp>
      <p:sp>
        <p:nvSpPr>
          <p:cNvPr id="61" name="render-types">
            <a:extLst xmlns:a="http://schemas.openxmlformats.org/drawingml/2006/main">
              <a:ext uri="{FF2B5EF4-FFF2-40B4-BE49-F238E27FC236}">
                <a16:creationId xmlns:a16="http://schemas.microsoft.com/office/drawing/2014/main" id="{5794EA31-BB6F-43A8-A9E9-35422F71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405765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24211D"/>
                </a:solidFill>
              </a:defRPr>
            </a:pPr>
            <a:r>
              <a:rPr sz="863" b="0">
                <a:solidFill>
                  <a:srgbClr val="24211D"/>
                </a:solidFill>
              </a:rPr>
              <a:t>terminal · Markdown</a:t>
            </a:r>
          </a:p>
          <a:p xmlns:a="http://schemas.openxmlformats.org/drawingml/2006/main">
            <a:pPr algn="ctr">
              <a:defRPr sz="863" b="0">
                <a:solidFill>
                  <a:srgbClr val="24211D"/>
                </a:solidFill>
              </a:defRPr>
            </a:pPr>
            <a:r>
              <a:rPr sz="863" b="0">
                <a:solidFill>
                  <a:srgbClr val="24211D"/>
                </a:solidFill>
              </a:rPr>
              <a:t>JSON · CSV</a:t>
            </a:r>
          </a:p>
        </p:txBody>
      </p:sp>
      <p:sp>
        <p:nvSpPr>
          <p:cNvPr id="62" name="demo-to-contract">
            <a:extLst xmlns:a="http://schemas.openxmlformats.org/drawingml/2006/main">
              <a:ext uri="{FF2B5EF4-FFF2-40B4-BE49-F238E27FC236}">
                <a16:creationId xmlns:a16="http://schemas.microsoft.com/office/drawing/2014/main" id="{009BC859-3FB1-4512-982A-5CCA5C02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952625"/>
            <a:ext cx="381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66B4A"/>
          </a:solidFill>
          <a:ln xmlns:a="http://schemas.openxmlformats.org/drawingml/2006/main" w="0">
            <a:solidFill>
              <a:srgbClr val="466B4A"/>
            </a:solidFill>
            <a:prstDash val="solid"/>
          </a:ln>
        </p:spPr>
      </p:sp>
      <p:sp>
        <p:nvSpPr>
          <p:cNvPr id="63" name="live-to-contract">
            <a:extLst xmlns:a="http://schemas.openxmlformats.org/drawingml/2006/main">
              <a:ext uri="{FF2B5EF4-FFF2-40B4-BE49-F238E27FC236}">
                <a16:creationId xmlns:a16="http://schemas.microsoft.com/office/drawing/2014/main" id="{CA878AE8-2731-416D-98C1-55A7A233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71875"/>
            <a:ext cx="381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5F36"/>
          </a:solidFill>
          <a:ln xmlns:a="http://schemas.openxmlformats.org/drawingml/2006/main" w="0">
            <a:solidFill>
              <a:srgbClr val="B85F36"/>
            </a:solidFill>
            <a:prstDash val="solid"/>
          </a:ln>
        </p:spPr>
      </p:sp>
      <p:sp>
        <p:nvSpPr>
          <p:cNvPr id="64" name="contract-to-graph">
            <a:extLst xmlns:a="http://schemas.openxmlformats.org/drawingml/2006/main">
              <a:ext uri="{FF2B5EF4-FFF2-40B4-BE49-F238E27FC236}">
                <a16:creationId xmlns:a16="http://schemas.microsoft.com/office/drawing/2014/main" id="{3EBF96FB-EF7D-4CF7-9B05-9CE2B41E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1619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65" name="discover-to-research">
            <a:extLst xmlns:a="http://schemas.openxmlformats.org/drawingml/2006/main">
              <a:ext uri="{FF2B5EF4-FFF2-40B4-BE49-F238E27FC236}">
                <a16:creationId xmlns:a16="http://schemas.microsoft.com/office/drawing/2014/main" id="{AEB6C8E9-787F-496D-AEFD-208BD2C1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9875"/>
            <a:ext cx="2381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66" name="research-to-recommend">
            <a:extLst xmlns:a="http://schemas.openxmlformats.org/drawingml/2006/main">
              <a:ext uri="{FF2B5EF4-FFF2-40B4-BE49-F238E27FC236}">
                <a16:creationId xmlns:a16="http://schemas.microsoft.com/office/drawing/2014/main" id="{D3A87AF3-37F1-4DDD-B683-7D879935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09875"/>
            <a:ext cx="2381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67" name="graph-to-report">
            <a:extLst xmlns:a="http://schemas.openxmlformats.org/drawingml/2006/main">
              <a:ext uri="{FF2B5EF4-FFF2-40B4-BE49-F238E27FC236}">
                <a16:creationId xmlns:a16="http://schemas.microsoft.com/office/drawing/2014/main" id="{9DB21ED9-8E9D-4FB1-90D4-DECFE8BE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33625"/>
            <a:ext cx="3810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6453B"/>
          </a:solidFill>
          <a:ln xmlns:a="http://schemas.openxmlformats.org/drawingml/2006/main" w="0">
            <a:solidFill>
              <a:srgbClr val="36453B"/>
            </a:solidFill>
            <a:prstDash val="solid"/>
          </a:ln>
        </p:spPr>
      </p:sp>
      <p:sp>
        <p:nvSpPr>
          <p:cNvPr id="68" name="report-to-render">
            <a:extLst xmlns:a="http://schemas.openxmlformats.org/drawingml/2006/main">
              <a:ext uri="{FF2B5EF4-FFF2-40B4-BE49-F238E27FC236}">
                <a16:creationId xmlns:a16="http://schemas.microsoft.com/office/drawing/2014/main" id="{441CB5B8-E6A0-4E6E-9AC8-48B4A30A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324225"/>
            <a:ext cx="1143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97916"/>
          </a:solidFill>
          <a:ln xmlns:a="http://schemas.openxmlformats.org/drawingml/2006/main" w="0">
            <a:solidFill>
              <a:srgbClr val="B97916"/>
            </a:solidFill>
            <a:prstDash val="solid"/>
          </a:ln>
        </p:spPr>
      </p:sp>
      <p:sp>
        <p:nvSpPr>
          <p:cNvPr id="69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EB78B1C1-D0BD-435D-A86F-42E7DDDF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124450"/>
            <a:ext cx="1135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4211D"/>
            </a:solidFill>
            <a:prstDash val="solid"/>
          </a:ln>
        </p:spPr>
      </p:sp>
      <p:sp>
        <p:nvSpPr>
          <p:cNvPr id="70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CA31213D-49F3-49C5-97C4-14BC98F6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95900"/>
            <a:ext cx="2333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B3A2B"/>
                </a:solidFill>
              </a:defRPr>
            </a:pPr>
            <a:r>
              <a:rPr sz="900" b="1">
                <a:solidFill>
                  <a:srgbClr val="9B3A2B"/>
                </a:solidFill>
              </a:rPr>
              <a:t>EVIDENCE + FAILURE BOUNDARY</a:t>
            </a:r>
          </a:p>
        </p:txBody>
      </p:sp>
      <p:sp>
        <p:nvSpPr>
          <p:cNvPr id="71" name="boundary-0">
            <a:extLst xmlns:a="http://schemas.openxmlformats.org/drawingml/2006/main">
              <a:ext uri="{FF2B5EF4-FFF2-40B4-BE49-F238E27FC236}">
                <a16:creationId xmlns:a16="http://schemas.microsoft.com/office/drawing/2014/main" id="{F2D9B134-AB33-41B4-A879-6FBC757A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581650"/>
            <a:ext cx="26098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8E3D9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72" name="boundary-head-0">
            <a:extLst xmlns:a="http://schemas.openxmlformats.org/drawingml/2006/main">
              <a:ext uri="{FF2B5EF4-FFF2-40B4-BE49-F238E27FC236}">
                <a16:creationId xmlns:a16="http://schemas.microsoft.com/office/drawing/2014/main" id="{937DE427-D77F-46B6-9EF9-A667DC45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234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6453B"/>
                </a:solidFill>
              </a:defRPr>
            </a:pPr>
            <a:r>
              <a:rPr sz="788" b="1">
                <a:solidFill>
                  <a:srgbClr val="36453B"/>
                </a:solidFill>
              </a:rPr>
              <a:t>PUBLIC URLS</a:t>
            </a:r>
          </a:p>
        </p:txBody>
      </p:sp>
      <p:sp>
        <p:nvSpPr>
          <p:cNvPr id="73" name="boundary-body-0">
            <a:extLst xmlns:a="http://schemas.openxmlformats.org/drawingml/2006/main">
              <a:ext uri="{FF2B5EF4-FFF2-40B4-BE49-F238E27FC236}">
                <a16:creationId xmlns:a16="http://schemas.microsoft.com/office/drawing/2014/main" id="{275A9ABA-8311-4DAA-B7AF-67551350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436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55E"/>
                </a:solidFill>
              </a:defRPr>
            </a:pPr>
            <a:r>
              <a:rPr sz="750" b="0">
                <a:solidFill>
                  <a:srgbClr val="6B655E"/>
                </a:solidFill>
              </a:rPr>
              <a:t>reject local, private, reserved, or credentialed targets</a:t>
            </a:r>
          </a:p>
        </p:txBody>
      </p:sp>
      <p:sp>
        <p:nvSpPr>
          <p:cNvPr id="74" name="boundary-1">
            <a:extLst xmlns:a="http://schemas.openxmlformats.org/drawingml/2006/main">
              <a:ext uri="{FF2B5EF4-FFF2-40B4-BE49-F238E27FC236}">
                <a16:creationId xmlns:a16="http://schemas.microsoft.com/office/drawing/2014/main" id="{BBB9D8EA-8AB6-4F66-B7FB-52F2E748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81650"/>
            <a:ext cx="26098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8EFE4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75" name="boundary-head-1">
            <a:extLst xmlns:a="http://schemas.openxmlformats.org/drawingml/2006/main">
              <a:ext uri="{FF2B5EF4-FFF2-40B4-BE49-F238E27FC236}">
                <a16:creationId xmlns:a16="http://schemas.microsoft.com/office/drawing/2014/main" id="{AA16A4FB-5896-4D6F-A4C1-657CC7AB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715000"/>
            <a:ext cx="234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6453B"/>
                </a:solidFill>
              </a:defRPr>
            </a:pPr>
            <a:r>
              <a:rPr sz="788" b="1">
                <a:solidFill>
                  <a:srgbClr val="36453B"/>
                </a:solidFill>
              </a:rPr>
              <a:t>SOURCE IDS</a:t>
            </a:r>
          </a:p>
        </p:txBody>
      </p:sp>
      <p:sp>
        <p:nvSpPr>
          <p:cNvPr id="76" name="boundary-body-1">
            <a:extLst xmlns:a="http://schemas.openxmlformats.org/drawingml/2006/main">
              <a:ext uri="{FF2B5EF4-FFF2-40B4-BE49-F238E27FC236}">
                <a16:creationId xmlns:a16="http://schemas.microsoft.com/office/drawing/2014/main" id="{1C6F9A50-223B-4506-B615-40F92B0A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9436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55E"/>
                </a:solidFill>
              </a:defRPr>
            </a:pPr>
            <a:r>
              <a:rPr sz="750" b="0">
                <a:solidFill>
                  <a:srgbClr val="6B655E"/>
                </a:solidFill>
              </a:rPr>
              <a:t>Pydantic rejects evidence that names an unknown source</a:t>
            </a:r>
          </a:p>
        </p:txBody>
      </p:sp>
      <p:sp>
        <p:nvSpPr>
          <p:cNvPr id="77" name="boundary-2">
            <a:extLst xmlns:a="http://schemas.openxmlformats.org/drawingml/2006/main">
              <a:ext uri="{FF2B5EF4-FFF2-40B4-BE49-F238E27FC236}">
                <a16:creationId xmlns:a16="http://schemas.microsoft.com/office/drawing/2014/main" id="{E7F540CD-7EA6-4265-AF08-3CB4E4AE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81650"/>
            <a:ext cx="26098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4E3D9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78" name="boundary-head-2">
            <a:extLst xmlns:a="http://schemas.openxmlformats.org/drawingml/2006/main">
              <a:ext uri="{FF2B5EF4-FFF2-40B4-BE49-F238E27FC236}">
                <a16:creationId xmlns:a16="http://schemas.microsoft.com/office/drawing/2014/main" id="{D807C3AE-9CC0-40CD-9F20-D153F2A2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715000"/>
            <a:ext cx="234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B85F36"/>
                </a:solidFill>
              </a:defRPr>
            </a:pPr>
            <a:r>
              <a:rPr sz="788" b="1">
                <a:solidFill>
                  <a:srgbClr val="B85F36"/>
                </a:solidFill>
              </a:rPr>
              <a:t>PARTIAL RUNS</a:t>
            </a:r>
          </a:p>
        </p:txBody>
      </p:sp>
      <p:sp>
        <p:nvSpPr>
          <p:cNvPr id="79" name="boundary-body-2">
            <a:extLst xmlns:a="http://schemas.openxmlformats.org/drawingml/2006/main">
              <a:ext uri="{FF2B5EF4-FFF2-40B4-BE49-F238E27FC236}">
                <a16:creationId xmlns:a16="http://schemas.microsoft.com/office/drawing/2014/main" id="{0007EFB6-57DC-40CB-A4EE-41C568AB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436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55E"/>
                </a:solidFill>
              </a:defRPr>
            </a:pPr>
            <a:r>
              <a:rPr sz="750" b="0">
                <a:solidFill>
                  <a:srgbClr val="6B655E"/>
                </a:solidFill>
              </a:rPr>
              <a:t>failed tools become warnings while sourced profiles continue</a:t>
            </a:r>
          </a:p>
        </p:txBody>
      </p:sp>
      <p:sp>
        <p:nvSpPr>
          <p:cNvPr id="80" name="boundary-3">
            <a:extLst xmlns:a="http://schemas.openxmlformats.org/drawingml/2006/main">
              <a:ext uri="{FF2B5EF4-FFF2-40B4-BE49-F238E27FC236}">
                <a16:creationId xmlns:a16="http://schemas.microsoft.com/office/drawing/2014/main" id="{EE5F0679-719B-412C-9A96-6AD87B48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581650"/>
            <a:ext cx="2609850" cy="7048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8E3D9"/>
          </a:solidFill>
          <a:ln xmlns:a="http://schemas.openxmlformats.org/drawingml/2006/main" w="9525">
            <a:solidFill>
              <a:srgbClr val="C9C0B1"/>
            </a:solidFill>
            <a:prstDash val="solid"/>
          </a:ln>
        </p:spPr>
      </p:sp>
      <p:sp>
        <p:nvSpPr>
          <p:cNvPr id="81" name="boundary-head-3">
            <a:extLst xmlns:a="http://schemas.openxmlformats.org/drawingml/2006/main">
              <a:ext uri="{FF2B5EF4-FFF2-40B4-BE49-F238E27FC236}">
                <a16:creationId xmlns:a16="http://schemas.microsoft.com/office/drawing/2014/main" id="{3CD368FA-FD1D-422F-8D6F-A818EBF4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715000"/>
            <a:ext cx="234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6453B"/>
                </a:solidFill>
              </a:defRPr>
            </a:pPr>
            <a:r>
              <a:rPr sz="788" b="1">
                <a:solidFill>
                  <a:srgbClr val="36453B"/>
                </a:solidFill>
              </a:rPr>
              <a:t>SAFE WRITES</a:t>
            </a:r>
          </a:p>
        </p:txBody>
      </p:sp>
      <p:sp>
        <p:nvSpPr>
          <p:cNvPr id="82" name="boundary-body-3">
            <a:extLst xmlns:a="http://schemas.openxmlformats.org/drawingml/2006/main">
              <a:ext uri="{FF2B5EF4-FFF2-40B4-BE49-F238E27FC236}">
                <a16:creationId xmlns:a16="http://schemas.microsoft.com/office/drawing/2014/main" id="{77B7BF31-785C-4D8A-B81C-36B473A2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94360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55E"/>
                </a:solidFill>
              </a:defRPr>
            </a:pPr>
            <a:r>
              <a:rPr sz="750" b="0">
                <a:solidFill>
                  <a:srgbClr val="6B655E"/>
                </a:solidFill>
              </a:rPr>
              <a:t>outputs use write-then-replace semantics</a:t>
            </a:r>
          </a:p>
        </p:txBody>
      </p:sp>
      <p:sp>
        <p:nvSpPr>
          <p:cNvPr id="83" name="sources">
            <a:extLst xmlns:a="http://schemas.openxmlformats.org/drawingml/2006/main">
              <a:ext uri="{FF2B5EF4-FFF2-40B4-BE49-F238E27FC236}">
                <a16:creationId xmlns:a16="http://schemas.microsoft.com/office/drawing/2014/main" id="{FA05F2AE-FAF7-46F6-80DE-5E14142D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534150"/>
            <a:ext cx="6096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B655E"/>
                </a:solidFill>
              </a:defRPr>
            </a:pPr>
            <a:r>
              <a:rPr sz="713" b="0">
                <a:solidFill>
                  <a:srgbClr val="6B655E"/>
                </a:solidFill>
              </a:rPr>
              <a:t>Sources: pipeline.py · contracts.py · live.py · providers.py · models.py · renderers.py</a:t>
            </a:r>
          </a:p>
        </p:txBody>
      </p:sp>
    </p:spTree>
    <p:extLst>
      <p:ext uri="{BB962C8B-B14F-4D97-AF65-F5344CB8AC3E}">
        <p14:creationId xmlns:p14="http://schemas.microsoft.com/office/powerpoint/2010/main" val="12881085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2026-07-21T07:48:25.7550000Z</dcterms:created>
  <dcterms:modified xsi:type="dcterms:W3CDTF">2026-07-21T07:48:25.7550000Z</dcterms:modified>
</coreProperties>
</file>